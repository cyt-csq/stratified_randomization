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5.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8.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35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 id="2147483730" r:id="rId2"/>
    <p:sldMasterId id="2147483857" r:id="rId3"/>
    <p:sldMasterId id="2147483858" r:id="rId4"/>
    <p:sldMasterId id="2147483800" r:id="rId5"/>
    <p:sldMasterId id="2147483656" r:id="rId6"/>
    <p:sldMasterId id="2147483865" r:id="rId7"/>
    <p:sldMasterId id="2147483830" r:id="rId8"/>
    <p:sldMasterId id="2147483894" r:id="rId9"/>
  </p:sldMasterIdLst>
  <p:notesMasterIdLst>
    <p:notesMasterId r:id="rId34"/>
  </p:notesMasterIdLst>
  <p:handoutMasterIdLst>
    <p:handoutMasterId r:id="rId35"/>
  </p:handoutMasterIdLst>
  <p:sldIdLst>
    <p:sldId id="257" r:id="rId10"/>
    <p:sldId id="258" r:id="rId11"/>
    <p:sldId id="307" r:id="rId12"/>
    <p:sldId id="308" r:id="rId13"/>
    <p:sldId id="263" r:id="rId14"/>
    <p:sldId id="256" r:id="rId15"/>
    <p:sldId id="339" r:id="rId16"/>
    <p:sldId id="334" r:id="rId17"/>
    <p:sldId id="340" r:id="rId18"/>
    <p:sldId id="336" r:id="rId19"/>
    <p:sldId id="337" r:id="rId20"/>
    <p:sldId id="319" r:id="rId21"/>
    <p:sldId id="331" r:id="rId22"/>
    <p:sldId id="329" r:id="rId23"/>
    <p:sldId id="330" r:id="rId24"/>
    <p:sldId id="310" r:id="rId25"/>
    <p:sldId id="309" r:id="rId26"/>
    <p:sldId id="318" r:id="rId27"/>
    <p:sldId id="333" r:id="rId28"/>
    <p:sldId id="297" r:id="rId29"/>
    <p:sldId id="265" r:id="rId30"/>
    <p:sldId id="298" r:id="rId31"/>
    <p:sldId id="262" r:id="rId32"/>
    <p:sldId id="311" r:id="rId33"/>
  </p:sldIdLst>
  <p:sldSz cx="9144000" cy="5143500" type="screen16x9"/>
  <p:notesSz cx="6670675" cy="9875838"/>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0097E6-590D-4C72-9B85-74F111CAB2B5}">
          <p14:sldIdLst>
            <p14:sldId id="257"/>
            <p14:sldId id="258"/>
            <p14:sldId id="307"/>
            <p14:sldId id="308"/>
            <p14:sldId id="263"/>
            <p14:sldId id="256"/>
            <p14:sldId id="339"/>
            <p14:sldId id="334"/>
            <p14:sldId id="340"/>
            <p14:sldId id="336"/>
            <p14:sldId id="337"/>
            <p14:sldId id="319"/>
            <p14:sldId id="331"/>
            <p14:sldId id="329"/>
            <p14:sldId id="330"/>
            <p14:sldId id="310"/>
            <p14:sldId id="309"/>
            <p14:sldId id="318"/>
            <p14:sldId id="333"/>
            <p14:sldId id="297"/>
            <p14:sldId id="265"/>
            <p14:sldId id="298"/>
            <p14:sldId id="262"/>
            <p14:sldId id="311"/>
          </p14:sldIdLst>
        </p14:section>
      </p14:sectionLst>
    </p:ext>
    <p:ext uri="{EFAFB233-063F-42B5-8137-9DF3F51BA10A}">
      <p15:sldGuideLst xmlns:p15="http://schemas.microsoft.com/office/powerpoint/2012/main">
        <p15:guide id="1" orient="horz">
          <p15:clr>
            <a:srgbClr val="A4A3A4"/>
          </p15:clr>
        </p15:guide>
        <p15:guide id="6">
          <p15:clr>
            <a:srgbClr val="A4A3A4"/>
          </p15:clr>
        </p15:guide>
        <p15:guide id="7" pos="5664" userDrawn="1">
          <p15:clr>
            <a:srgbClr val="A4A3A4"/>
          </p15:clr>
        </p15:guide>
      </p15:sldGuideLst>
    </p:ext>
    <p:ext uri="{2D200454-40CA-4A62-9FC3-DE9A4176ACB9}">
      <p15:notesGuideLst xmlns:p15="http://schemas.microsoft.com/office/powerpoint/2012/main">
        <p15:guide id="1" orient="horz" pos="3111">
          <p15:clr>
            <a:srgbClr val="A4A3A4"/>
          </p15:clr>
        </p15:guide>
        <p15:guide id="2" pos="210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CCC706-5C98-DA24-FA20-10593B298778}" name="Chen, Yuting" initials="YC" userId="S::Yuting.Chen@dizalpharma.com::8411f5f7-6687-4b9b-81ec-71a86f6f35aa"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766D"/>
    <a:srgbClr val="5E9AFF"/>
    <a:srgbClr val="00BA38"/>
    <a:srgbClr val="FFFFFF"/>
    <a:srgbClr val="BF1733"/>
    <a:srgbClr val="A0453E"/>
    <a:srgbClr val="527682"/>
    <a:srgbClr val="E6B9B8"/>
    <a:srgbClr val="B9CC95"/>
    <a:srgbClr val="9BE6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67" autoAdjust="0"/>
    <p:restoredTop sz="97297" autoAdjust="0"/>
  </p:normalViewPr>
  <p:slideViewPr>
    <p:cSldViewPr snapToGrid="0" snapToObjects="1" showGuides="1">
      <p:cViewPr varScale="1">
        <p:scale>
          <a:sx n="143" d="100"/>
          <a:sy n="143" d="100"/>
        </p:scale>
        <p:origin x="126" y="192"/>
      </p:cViewPr>
      <p:guideLst>
        <p:guide orient="horz"/>
        <p:guide/>
        <p:guide pos="566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80" d="100"/>
          <a:sy n="80" d="100"/>
        </p:scale>
        <p:origin x="-3990" y="-78"/>
      </p:cViewPr>
      <p:guideLst>
        <p:guide orient="horz" pos="3111"/>
        <p:guide pos="210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ags" Target="tags/tag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handoutMaster" Target="handoutMasters/handoutMaster1.xml"/></Relationships>
</file>

<file path=ppt/comments/modernComment_135_0.xml><?xml version="1.0" encoding="utf-8"?>
<p188:cmLst xmlns:a="http://schemas.openxmlformats.org/drawingml/2006/main" xmlns:r="http://schemas.openxmlformats.org/officeDocument/2006/relationships" xmlns:p188="http://schemas.microsoft.com/office/powerpoint/2018/8/main">
  <p188:cm id="{DB8683DE-1501-4544-BAEA-EF6785458491}" authorId="{6ECCC706-5C98-DA24-FA20-10593B298778}" created="2026-05-29T06:19:39.930">
    <pc:sldMkLst xmlns:pc="http://schemas.microsoft.com/office/powerpoint/2013/main/command">
      <pc:docMk/>
      <pc:sldMk cId="0" sldId="309"/>
    </pc:sldMkLst>
    <p188:txBody>
      <a:bodyPr/>
      <a:lstStyle/>
      <a:p>
        <a:r>
          <a:rPr lang="en-US"/>
          <a:t>主要集中在支持性亚组</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778505" y="0"/>
            <a:ext cx="2890626" cy="493792"/>
          </a:xfrm>
          <a:prstGeom prst="rect">
            <a:avLst/>
          </a:prstGeom>
        </p:spPr>
        <p:txBody>
          <a:bodyPr vert="horz" lIns="91440" tIns="45720" rIns="91440" bIns="45720" rtlCol="0"/>
          <a:lstStyle>
            <a:lvl1pPr algn="r">
              <a:defRPr sz="1200"/>
            </a:lvl1pPr>
          </a:lstStyle>
          <a:p>
            <a:fld id="{3BBED7E8-0829-F34C-B479-A757805E6C1B}" type="datetimeFigureOut">
              <a:rPr lang="en-US" smtClean="0"/>
              <a:pPr/>
              <a:t>6/10/2026</a:t>
            </a:fld>
            <a:endParaRPr lang="en-US"/>
          </a:p>
        </p:txBody>
      </p:sp>
      <p:sp>
        <p:nvSpPr>
          <p:cNvPr id="4" name="Footer Placeholder 3"/>
          <p:cNvSpPr>
            <a:spLocks noGrp="1"/>
          </p:cNvSpPr>
          <p:nvPr>
            <p:ph type="ftr" sz="quarter" idx="2"/>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778505" y="9380332"/>
            <a:ext cx="2890626" cy="493792"/>
          </a:xfrm>
          <a:prstGeom prst="rect">
            <a:avLst/>
          </a:prstGeom>
        </p:spPr>
        <p:txBody>
          <a:bodyPr vert="horz" lIns="91440" tIns="45720" rIns="91440" bIns="45720" rtlCol="0" anchor="b"/>
          <a:lstStyle>
            <a:lvl1pPr algn="r">
              <a:defRPr sz="1200"/>
            </a:lvl1pPr>
          </a:lstStyle>
          <a:p>
            <a:fld id="{053334D3-7666-C24C-995B-669B029DDF20}" type="slidenum">
              <a:rPr lang="en-US" smtClean="0"/>
              <a:pPr/>
              <a:t>‹#›</a:t>
            </a:fld>
            <a:endParaRPr lang="en-US"/>
          </a:p>
        </p:txBody>
      </p:sp>
    </p:spTree>
    <p:extLst>
      <p:ext uri="{BB962C8B-B14F-4D97-AF65-F5344CB8AC3E}">
        <p14:creationId xmlns:p14="http://schemas.microsoft.com/office/powerpoint/2010/main" val="2465314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90626" cy="4937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778505" y="0"/>
            <a:ext cx="2890626" cy="493792"/>
          </a:xfrm>
          <a:prstGeom prst="rect">
            <a:avLst/>
          </a:prstGeom>
        </p:spPr>
        <p:txBody>
          <a:bodyPr vert="horz" lIns="91440" tIns="45720" rIns="91440" bIns="45720" rtlCol="0"/>
          <a:lstStyle>
            <a:lvl1pPr algn="r">
              <a:defRPr sz="1200"/>
            </a:lvl1pPr>
          </a:lstStyle>
          <a:p>
            <a:fld id="{6C7E4F11-7667-5045-A00B-01970EA44BB5}" type="datetimeFigureOut">
              <a:rPr lang="en-US" smtClean="0"/>
              <a:pPr/>
              <a:t>6/10/2026</a:t>
            </a:fld>
            <a:endParaRPr lang="en-US"/>
          </a:p>
        </p:txBody>
      </p:sp>
      <p:sp>
        <p:nvSpPr>
          <p:cNvPr id="4" name="Slide Image Placeholder 3"/>
          <p:cNvSpPr>
            <a:spLocks noGrp="1" noRot="1" noChangeAspect="1"/>
          </p:cNvSpPr>
          <p:nvPr>
            <p:ph type="sldImg" idx="2"/>
          </p:nvPr>
        </p:nvSpPr>
        <p:spPr>
          <a:xfrm>
            <a:off x="46038" y="741363"/>
            <a:ext cx="6578600" cy="3702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67068" y="4691023"/>
            <a:ext cx="5336540" cy="444412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380332"/>
            <a:ext cx="2890626" cy="4937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778505" y="9380332"/>
            <a:ext cx="2890626" cy="493792"/>
          </a:xfrm>
          <a:prstGeom prst="rect">
            <a:avLst/>
          </a:prstGeom>
        </p:spPr>
        <p:txBody>
          <a:bodyPr vert="horz" lIns="91440" tIns="45720" rIns="91440" bIns="45720" rtlCol="0" anchor="b"/>
          <a:lstStyle>
            <a:lvl1pPr algn="r">
              <a:defRPr sz="1200"/>
            </a:lvl1pPr>
          </a:lstStyle>
          <a:p>
            <a:fld id="{FAD751AE-7ABC-314D-AFAD-47B860ED6FFE}" type="slidenum">
              <a:rPr lang="en-US" smtClean="0"/>
              <a:pPr/>
              <a:t>‹#›</a:t>
            </a:fld>
            <a:endParaRPr lang="en-US"/>
          </a:p>
        </p:txBody>
      </p:sp>
    </p:spTree>
    <p:extLst>
      <p:ext uri="{BB962C8B-B14F-4D97-AF65-F5344CB8AC3E}">
        <p14:creationId xmlns:p14="http://schemas.microsoft.com/office/powerpoint/2010/main" val="15624454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3E70-E38A-F5EA-9A96-6733BA434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8393A-1315-38D5-BFB9-D1D63FFFD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C907A-5E66-54B2-580C-E1D3CBA69D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FF4C5-E107-C66A-4272-19F283377D2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82976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64A36-AC30-5984-5578-74B329EAC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45598-A71C-D2C3-B56F-52F268193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AEB9E-125B-D38B-E669-9A66F2BF3D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BDB9D7-62A2-84DC-249E-A2398950CAC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16209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35FE9-D2F4-71EB-484C-ED2559DE3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F7FD6-F620-53F8-16AA-CB406DB399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E97CB-D499-AB03-5AA1-5D55801825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5486F-72A2-E9E1-60BF-D13C1C1B2A3C}"/>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7873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E46E5-1C07-546D-0124-9E54380BA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42645-2664-9386-0E11-0D916301B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8384F-B41B-CCCB-21E1-C8EA09DEAF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5E13F6-D66D-C247-D362-D3BB04C5105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15109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9EDBC-8D03-80A2-5DD3-E0CBDBC2E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AA0D3-EE33-7068-79F3-8B2CD8A72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D8706-6C79-CE7B-012A-94675259A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B18321-FBA9-331B-464F-53F91092265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97827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2.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3.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4.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zal-01">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2" name="Picture 1" descr="Eosinophil_NK_Cell_10K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46797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zal-0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3" name="Picture 2" descr="page_04_AST109_TCell_Cancer_Cell_Lipid_Layer_10K_01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1297786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zal-03">
    <p:spTree>
      <p:nvGrpSpPr>
        <p:cNvPr id="1" name=""/>
        <p:cNvGrpSpPr/>
        <p:nvPr/>
      </p:nvGrpSpPr>
      <p:grpSpPr>
        <a:xfrm>
          <a:off x="0" y="0"/>
          <a:ext cx="0" cy="0"/>
          <a:chOff x="0" y="0"/>
          <a:chExt cx="0" cy="0"/>
        </a:xfrm>
      </p:grpSpPr>
      <p:pic>
        <p:nvPicPr>
          <p:cNvPr id="16" name="Picture 1" descr="Eosinophil_NK_Cell_10K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4679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zal-04">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3" name="Picture 2" descr="page_04_AST109_TCell_Cancer_Cell_Lipid_Layer_10K_01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1297786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zal-05">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2" name="Picture 1" descr="CR_Science image_f1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2821" y="2882826"/>
            <a:ext cx="8850368" cy="2113111"/>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4124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zal-06">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3" name="Picture 2" descr="DNA_Inside_Blood_Vessel_10K_AD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957" y="2882154"/>
            <a:ext cx="8856000" cy="2114455"/>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7670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zal-07">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2" name="Picture 1" descr="CRISPR_technology_for_genome_editing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957" y="2882154"/>
            <a:ext cx="8856000" cy="2114455"/>
          </a:xfrm>
          <a:prstGeom prst="rect">
            <a:avLst/>
          </a:prstGeom>
        </p:spPr>
      </p:pic>
      <p:sp>
        <p:nvSpPr>
          <p:cNvPr id="10"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1"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2"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3"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4"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131962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zal-08">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10" name="Picture Placeholder 13" descr="AZ1383_screen rotate.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9" name="Picture 22"/>
          <p:cNvPicPr>
            <a:picLocks noChangeAspect="1"/>
          </p:cNvPicPr>
          <p:nvPr userDrawn="1"/>
        </p:nvPicPr>
        <p:blipFill>
          <a:blip r:embed="rId3"/>
          <a:srcRect/>
          <a:stretch/>
        </p:blipFill>
        <p:spPr>
          <a:xfrm>
            <a:off x="7557867" y="211213"/>
            <a:ext cx="1122980" cy="437052"/>
          </a:xfrm>
          <a:prstGeom prst="rect">
            <a:avLst/>
          </a:prstGeom>
        </p:spPr>
      </p:pic>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068852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zal-09">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5189"/>
            <a:ext cx="8853082" cy="2113759"/>
          </a:xfrm>
          <a:prstGeom prst="rect">
            <a:avLst/>
          </a:prstGeom>
        </p:spPr>
      </p:pic>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sp>
        <p:nvSpPr>
          <p:cNvPr id="9"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6"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7"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8"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0" name="Picture 22"/>
          <p:cNvPicPr>
            <a:picLocks noChangeAspect="1"/>
          </p:cNvPicPr>
          <p:nvPr userDrawn="1"/>
        </p:nvPicPr>
        <p:blipFill>
          <a:blip r:embed="rId3"/>
          <a:srcRect/>
          <a:stretch/>
        </p:blipFill>
        <p:spPr>
          <a:xfrm>
            <a:off x="7557867" y="211213"/>
            <a:ext cx="1122980" cy="437052"/>
          </a:xfrm>
          <a:prstGeom prst="rect">
            <a:avLst/>
          </a:prstGeom>
        </p:spPr>
      </p:pic>
    </p:spTree>
    <p:extLst>
      <p:ext uri="{BB962C8B-B14F-4D97-AF65-F5344CB8AC3E}">
        <p14:creationId xmlns:p14="http://schemas.microsoft.com/office/powerpoint/2010/main" val="1309790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zal-10">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10" name="Picture Placeholder 23" descr="AZ1388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9" name="Picture 22"/>
          <p:cNvPicPr>
            <a:picLocks noChangeAspect="1"/>
          </p:cNvPicPr>
          <p:nvPr userDrawn="1"/>
        </p:nvPicPr>
        <p:blipFill>
          <a:blip r:embed="rId3"/>
          <a:srcRect/>
          <a:stretch/>
        </p:blipFill>
        <p:spPr>
          <a:xfrm>
            <a:off x="7557867" y="211213"/>
            <a:ext cx="1122980" cy="437052"/>
          </a:xfrm>
          <a:prstGeom prst="rect">
            <a:avLst/>
          </a:prstGeom>
        </p:spPr>
      </p:pic>
      <p:sp>
        <p:nvSpPr>
          <p:cNvPr id="11"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387401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zal-11">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9" name="Picture Placeholder 3" descr="AZ1428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0" name="Picture 22"/>
          <p:cNvPicPr>
            <a:picLocks noChangeAspect="1"/>
          </p:cNvPicPr>
          <p:nvPr userDrawn="1"/>
        </p:nvPicPr>
        <p:blipFill>
          <a:blip r:embed="rId3"/>
          <a:srcRect/>
          <a:stretch/>
        </p:blipFill>
        <p:spPr>
          <a:xfrm>
            <a:off x="7557867" y="211213"/>
            <a:ext cx="1122980" cy="437052"/>
          </a:xfrm>
          <a:prstGeom prst="rect">
            <a:avLst/>
          </a:prstGeom>
        </p:spPr>
      </p:pic>
      <p:sp>
        <p:nvSpPr>
          <p:cNvPr id="11"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4275947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zal-12">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pic>
        <p:nvPicPr>
          <p:cNvPr id="9" name="Picture Placeholder 7" descr="AZ1466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0" name="Picture 22"/>
          <p:cNvPicPr>
            <a:picLocks noChangeAspect="1"/>
          </p:cNvPicPr>
          <p:nvPr userDrawn="1"/>
        </p:nvPicPr>
        <p:blipFill>
          <a:blip r:embed="rId3"/>
          <a:srcRect/>
          <a:stretch/>
        </p:blipFill>
        <p:spPr>
          <a:xfrm>
            <a:off x="7557867" y="211213"/>
            <a:ext cx="1122980" cy="437052"/>
          </a:xfrm>
          <a:prstGeom prst="rect">
            <a:avLst/>
          </a:prstGeom>
        </p:spPr>
      </p:pic>
      <p:sp>
        <p:nvSpPr>
          <p:cNvPr id="11"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528115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zal-13">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2" name="Picture 1" descr="Diabete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050" y="2882947"/>
            <a:ext cx="8856000" cy="2114455"/>
          </a:xfrm>
          <a:prstGeom prst="rect">
            <a:avLst/>
          </a:prstGeom>
        </p:spPr>
      </p:pic>
      <p:pic>
        <p:nvPicPr>
          <p:cNvPr id="9" name="Picture 22"/>
          <p:cNvPicPr>
            <a:picLocks noChangeAspect="1"/>
          </p:cNvPicPr>
          <p:nvPr userDrawn="1"/>
        </p:nvPicPr>
        <p:blipFill>
          <a:blip r:embed="rId3"/>
          <a:srcRect/>
          <a:stretch/>
        </p:blipFill>
        <p:spPr>
          <a:xfrm>
            <a:off x="7557867" y="211213"/>
            <a:ext cx="1122980" cy="437052"/>
          </a:xfrm>
          <a:prstGeom prst="rect">
            <a:avLst/>
          </a:prstGeom>
        </p:spPr>
      </p:pic>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12641371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zal-14">
    <p:spTree>
      <p:nvGrpSpPr>
        <p:cNvPr id="1" name=""/>
        <p:cNvGrpSpPr/>
        <p:nvPr/>
      </p:nvGrpSpPr>
      <p:grpSpPr>
        <a:xfrm>
          <a:off x="0" y="0"/>
          <a:ext cx="0" cy="0"/>
          <a:chOff x="0" y="0"/>
          <a:chExt cx="0" cy="0"/>
        </a:xfrm>
      </p:grpSpPr>
      <p:sp>
        <p:nvSpPr>
          <p:cNvPr id="13"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sp>
        <p:nvSpPr>
          <p:cNvPr id="16" name="Text Placeholder 29"/>
          <p:cNvSpPr>
            <a:spLocks noGrp="1"/>
          </p:cNvSpPr>
          <p:nvPr>
            <p:ph type="body" sz="quarter" idx="11" hasCustomPrompt="1"/>
          </p:nvPr>
        </p:nvSpPr>
        <p:spPr>
          <a:xfrm>
            <a:off x="215999" y="24016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7" name="Text Placeholder 29"/>
          <p:cNvSpPr>
            <a:spLocks noGrp="1"/>
          </p:cNvSpPr>
          <p:nvPr>
            <p:ph type="body" sz="quarter" idx="12" hasCustomPrompt="1"/>
          </p:nvPr>
        </p:nvSpPr>
        <p:spPr>
          <a:xfrm>
            <a:off x="215999" y="26079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8" name="Text Placeholder 29"/>
          <p:cNvSpPr>
            <a:spLocks noGrp="1"/>
          </p:cNvSpPr>
          <p:nvPr>
            <p:ph type="body" sz="quarter" idx="15" hasCustomPrompt="1"/>
          </p:nvPr>
        </p:nvSpPr>
        <p:spPr>
          <a:xfrm>
            <a:off x="7128000" y="24016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9" name="Text Placeholder 29"/>
          <p:cNvSpPr>
            <a:spLocks noGrp="1"/>
          </p:cNvSpPr>
          <p:nvPr>
            <p:ph type="body" sz="quarter" idx="13" hasCustomPrompt="1"/>
          </p:nvPr>
        </p:nvSpPr>
        <p:spPr>
          <a:xfrm>
            <a:off x="7128000" y="26079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0" name="Picture 9" descr="TLR9_Endosome_and_Receptor_RGB LR.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3741"/>
            <a:ext cx="8856000" cy="2114455"/>
          </a:xfrm>
          <a:prstGeom prst="rect">
            <a:avLst/>
          </a:prstGeom>
        </p:spPr>
      </p:pic>
      <p:pic>
        <p:nvPicPr>
          <p:cNvPr id="9" name="Picture 22"/>
          <p:cNvPicPr>
            <a:picLocks noChangeAspect="1"/>
          </p:cNvPicPr>
          <p:nvPr userDrawn="1"/>
        </p:nvPicPr>
        <p:blipFill>
          <a:blip r:embed="rId3"/>
          <a:srcRect/>
          <a:stretch/>
        </p:blipFill>
        <p:spPr>
          <a:xfrm>
            <a:off x="7557867" y="211213"/>
            <a:ext cx="1122980" cy="437052"/>
          </a:xfrm>
          <a:prstGeom prst="rect">
            <a:avLst/>
          </a:prstGeom>
        </p:spPr>
      </p:pic>
      <p:sp>
        <p:nvSpPr>
          <p:cNvPr id="11"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792299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zal-15">
    <p:spTree>
      <p:nvGrpSpPr>
        <p:cNvPr id="1" name=""/>
        <p:cNvGrpSpPr/>
        <p:nvPr/>
      </p:nvGrpSpPr>
      <p:grpSpPr>
        <a:xfrm>
          <a:off x="0" y="0"/>
          <a:ext cx="0" cy="0"/>
          <a:chOff x="0" y="0"/>
          <a:chExt cx="0" cy="0"/>
        </a:xfrm>
      </p:grpSpPr>
      <p:sp>
        <p:nvSpPr>
          <p:cNvPr id="8" name="Title 8"/>
          <p:cNvSpPr>
            <a:spLocks noGrp="1"/>
          </p:cNvSpPr>
          <p:nvPr>
            <p:ph type="title" hasCustomPrompt="1"/>
          </p:nvPr>
        </p:nvSpPr>
        <p:spPr>
          <a:xfrm>
            <a:off x="216001" y="1081682"/>
            <a:ext cx="6822759" cy="504000"/>
          </a:xfrm>
          <a:prstGeom prst="rect">
            <a:avLst/>
          </a:prstGeom>
        </p:spPr>
        <p:txBody>
          <a:bodyPr vert="horz"/>
          <a:lstStyle>
            <a:lvl1pPr algn="l">
              <a:lnSpc>
                <a:spcPct val="90000"/>
              </a:lnSpc>
              <a:defRPr sz="2800" b="1" baseline="0">
                <a:solidFill>
                  <a:srgbClr val="BF1733"/>
                </a:solidFill>
                <a:latin typeface="Arial" pitchFamily="34" charset="0"/>
                <a:cs typeface="Arial" pitchFamily="34" charset="0"/>
              </a:defRPr>
            </a:lvl1pPr>
          </a:lstStyle>
          <a:p>
            <a:r>
              <a:rPr lang="en-GB" noProof="0" dirty="0"/>
              <a:t>Click to add presentation title</a:t>
            </a:r>
          </a:p>
        </p:txBody>
      </p:sp>
      <p:sp>
        <p:nvSpPr>
          <p:cNvPr id="9" name="Text Placeholder 29"/>
          <p:cNvSpPr>
            <a:spLocks noGrp="1"/>
          </p:cNvSpPr>
          <p:nvPr>
            <p:ph type="body" sz="quarter" idx="11" hasCustomPrompt="1"/>
          </p:nvPr>
        </p:nvSpPr>
        <p:spPr>
          <a:xfrm>
            <a:off x="215999" y="4459050"/>
            <a:ext cx="6480000" cy="190800"/>
          </a:xfrm>
          <a:prstGeom prst="rect">
            <a:avLst/>
          </a:prstGeom>
        </p:spPr>
        <p:txBody>
          <a:bodyPr vert="horz"/>
          <a:lstStyle>
            <a:lvl1pPr marL="0" indent="0">
              <a:lnSpc>
                <a:spcPts val="1100"/>
              </a:lnSpc>
              <a:spcBef>
                <a:spcPts val="0"/>
              </a:spcBef>
              <a:buNone/>
              <a:defRPr sz="1400" b="1">
                <a:solidFill>
                  <a:schemeClr val="tx1"/>
                </a:solidFill>
                <a:latin typeface="Arial" pitchFamily="34" charset="0"/>
                <a:cs typeface="Arial" pitchFamily="34" charset="0"/>
              </a:defRPr>
            </a:lvl1pPr>
          </a:lstStyle>
          <a:p>
            <a:pPr lvl="0"/>
            <a:r>
              <a:rPr lang="en-GB" noProof="0" dirty="0"/>
              <a:t>Click to add speaker title</a:t>
            </a:r>
          </a:p>
        </p:txBody>
      </p:sp>
      <p:sp>
        <p:nvSpPr>
          <p:cNvPr id="13" name="Text Placeholder 29"/>
          <p:cNvSpPr>
            <a:spLocks noGrp="1"/>
          </p:cNvSpPr>
          <p:nvPr>
            <p:ph type="body" sz="quarter" idx="12" hasCustomPrompt="1"/>
          </p:nvPr>
        </p:nvSpPr>
        <p:spPr>
          <a:xfrm>
            <a:off x="215999" y="4665300"/>
            <a:ext cx="6480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Click to add event title</a:t>
            </a:r>
          </a:p>
        </p:txBody>
      </p:sp>
      <p:sp>
        <p:nvSpPr>
          <p:cNvPr id="16" name="Text Placeholder 29"/>
          <p:cNvSpPr>
            <a:spLocks noGrp="1"/>
          </p:cNvSpPr>
          <p:nvPr>
            <p:ph type="body" sz="quarter" idx="15" hasCustomPrompt="1"/>
          </p:nvPr>
        </p:nvSpPr>
        <p:spPr>
          <a:xfrm>
            <a:off x="7128000" y="4459050"/>
            <a:ext cx="1872000" cy="190800"/>
          </a:xfrm>
          <a:prstGeom prst="rect">
            <a:avLst/>
          </a:prstGeom>
        </p:spPr>
        <p:txBody>
          <a:bodyPr vert="horz"/>
          <a:lstStyle>
            <a:lvl1pPr marL="0" indent="0">
              <a:lnSpc>
                <a:spcPts val="1100"/>
              </a:lnSpc>
              <a:spcBef>
                <a:spcPts val="0"/>
              </a:spcBef>
              <a:buNone/>
              <a:defRPr sz="1200" baseline="0">
                <a:solidFill>
                  <a:schemeClr val="tx1"/>
                </a:solidFill>
                <a:latin typeface="Arial" pitchFamily="34" charset="0"/>
                <a:cs typeface="Arial" pitchFamily="34" charset="0"/>
              </a:defRPr>
            </a:lvl1pPr>
          </a:lstStyle>
          <a:p>
            <a:pPr lvl="0"/>
            <a:r>
              <a:rPr lang="en-GB" noProof="0" dirty="0"/>
              <a:t>Confidential statement</a:t>
            </a:r>
          </a:p>
        </p:txBody>
      </p:sp>
      <p:sp>
        <p:nvSpPr>
          <p:cNvPr id="17" name="Text Placeholder 29"/>
          <p:cNvSpPr>
            <a:spLocks noGrp="1"/>
          </p:cNvSpPr>
          <p:nvPr>
            <p:ph type="body" sz="quarter" idx="13" hasCustomPrompt="1"/>
          </p:nvPr>
        </p:nvSpPr>
        <p:spPr>
          <a:xfrm>
            <a:off x="7128000" y="4665300"/>
            <a:ext cx="1872000" cy="190800"/>
          </a:xfrm>
          <a:prstGeom prst="rect">
            <a:avLst/>
          </a:prstGeom>
        </p:spPr>
        <p:txBody>
          <a:bodyPr vert="horz"/>
          <a:lstStyle>
            <a:lvl1pPr marL="0" indent="0">
              <a:lnSpc>
                <a:spcPts val="1100"/>
              </a:lnSpc>
              <a:spcBef>
                <a:spcPts val="0"/>
              </a:spcBef>
              <a:buNone/>
              <a:defRPr sz="1200">
                <a:solidFill>
                  <a:schemeClr val="tx1"/>
                </a:solidFill>
                <a:latin typeface="Arial" pitchFamily="34" charset="0"/>
                <a:cs typeface="Arial" pitchFamily="34" charset="0"/>
              </a:defRPr>
            </a:lvl1pPr>
          </a:lstStyle>
          <a:p>
            <a:pPr lvl="0"/>
            <a:r>
              <a:rPr lang="en-GB" noProof="0" dirty="0"/>
              <a:t>00 Month Year</a:t>
            </a:r>
          </a:p>
        </p:txBody>
      </p:sp>
      <p:pic>
        <p:nvPicPr>
          <p:cNvPr id="10" name="Picture 22"/>
          <p:cNvPicPr>
            <a:picLocks noChangeAspect="1"/>
          </p:cNvPicPr>
          <p:nvPr userDrawn="1"/>
        </p:nvPicPr>
        <p:blipFill>
          <a:blip r:embed="rId2"/>
          <a:srcRect/>
          <a:stretch/>
        </p:blipFill>
        <p:spPr>
          <a:xfrm>
            <a:off x="7557867" y="211213"/>
            <a:ext cx="1122980" cy="437052"/>
          </a:xfrm>
          <a:prstGeom prst="rect">
            <a:avLst/>
          </a:prstGeom>
        </p:spPr>
      </p:pic>
      <p:sp>
        <p:nvSpPr>
          <p:cNvPr id="11" name="Slide Number Placeholder 5"/>
          <p:cNvSpPr>
            <a:spLocks noGrp="1"/>
          </p:cNvSpPr>
          <p:nvPr>
            <p:ph type="sldNum" sz="quarter" idx="4"/>
          </p:nvPr>
        </p:nvSpPr>
        <p:spPr>
          <a:xfrm>
            <a:off x="216001" y="4927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625363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zal-16">
    <p:spTree>
      <p:nvGrpSpPr>
        <p:cNvPr id="1" name=""/>
        <p:cNvGrpSpPr/>
        <p:nvPr/>
      </p:nvGrpSpPr>
      <p:grpSpPr>
        <a:xfrm>
          <a:off x="0" y="0"/>
          <a:ext cx="0" cy="0"/>
          <a:chOff x="0" y="0"/>
          <a:chExt cx="0" cy="0"/>
        </a:xfrm>
      </p:grpSpPr>
      <p:pic>
        <p:nvPicPr>
          <p:cNvPr id="7" name="Picture 6" descr="Eosinophil_NK_Cell_10K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6"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5"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1048682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zal-17">
    <p:spTree>
      <p:nvGrpSpPr>
        <p:cNvPr id="1" name=""/>
        <p:cNvGrpSpPr/>
        <p:nvPr/>
      </p:nvGrpSpPr>
      <p:grpSpPr>
        <a:xfrm>
          <a:off x="0" y="0"/>
          <a:ext cx="0" cy="0"/>
          <a:chOff x="0" y="0"/>
          <a:chExt cx="0" cy="0"/>
        </a:xfrm>
      </p:grpSpPr>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pic>
        <p:nvPicPr>
          <p:cNvPr id="5" name="Picture 4" descr="page_04_AST109_TCell_Cancer_Cell_Lipid_Layer_10K_01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463" y="2882154"/>
            <a:ext cx="8856000" cy="2114455"/>
          </a:xfrm>
          <a:prstGeom prst="rect">
            <a:avLst/>
          </a:prstGeom>
        </p:spPr>
      </p:pic>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3500593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zal-18">
    <p:spTree>
      <p:nvGrpSpPr>
        <p:cNvPr id="1" name=""/>
        <p:cNvGrpSpPr/>
        <p:nvPr/>
      </p:nvGrpSpPr>
      <p:grpSpPr>
        <a:xfrm>
          <a:off x="0" y="0"/>
          <a:ext cx="0" cy="0"/>
          <a:chOff x="0" y="0"/>
          <a:chExt cx="0" cy="0"/>
        </a:xfrm>
      </p:grpSpPr>
      <p:pic>
        <p:nvPicPr>
          <p:cNvPr id="6" name="Picture 5" descr="CR_Science image_f1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2821" y="2882826"/>
            <a:ext cx="8850368" cy="2113111"/>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19774253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zal-19">
    <p:spTree>
      <p:nvGrpSpPr>
        <p:cNvPr id="1" name=""/>
        <p:cNvGrpSpPr/>
        <p:nvPr/>
      </p:nvGrpSpPr>
      <p:grpSpPr>
        <a:xfrm>
          <a:off x="0" y="0"/>
          <a:ext cx="0" cy="0"/>
          <a:chOff x="0" y="0"/>
          <a:chExt cx="0" cy="0"/>
        </a:xfrm>
      </p:grpSpPr>
      <p:pic>
        <p:nvPicPr>
          <p:cNvPr id="5" name="Picture 4" descr="DNA_Inside_Blood_Vessel_10K_AD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957" y="2882154"/>
            <a:ext cx="8856000" cy="2114455"/>
          </a:xfrm>
          <a:prstGeom prst="rect">
            <a:avLst/>
          </a:prstGeom>
        </p:spPr>
      </p:pic>
      <p:sp>
        <p:nvSpPr>
          <p:cNvPr id="6"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pic>
        <p:nvPicPr>
          <p:cNvPr id="4"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873502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Dizal-20">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97A7065-E033-4E63-82D4-A517514B1336}"/>
              </a:ext>
            </a:extLst>
          </p:cNvPr>
          <p:cNvPicPr>
            <a:picLocks noChangeAspect="1"/>
          </p:cNvPicPr>
          <p:nvPr userDrawn="1"/>
        </p:nvPicPr>
        <p:blipFill>
          <a:blip r:embed="rId2"/>
          <a:srcRect/>
          <a:stretch/>
        </p:blipFill>
        <p:spPr>
          <a:xfrm>
            <a:off x="144780" y="2900539"/>
            <a:ext cx="8854440" cy="2104165"/>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2427871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Dizal-21">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16C72A7C-89C5-42E5-A631-E353BA92A3F9}"/>
              </a:ext>
            </a:extLst>
          </p:cNvPr>
          <p:cNvPicPr>
            <a:picLocks noChangeAspect="1"/>
          </p:cNvPicPr>
          <p:nvPr userDrawn="1"/>
        </p:nvPicPr>
        <p:blipFill>
          <a:blip r:embed="rId2"/>
          <a:srcRect l="17" r="17"/>
          <a:stretch/>
        </p:blipFill>
        <p:spPr>
          <a:xfrm>
            <a:off x="144463" y="2894520"/>
            <a:ext cx="8855074" cy="2104980"/>
          </a:xfrm>
          <a:custGeom>
            <a:avLst/>
            <a:gdLst>
              <a:gd name="connsiteX0" fmla="*/ 0 w 8855074"/>
              <a:gd name="connsiteY0" fmla="*/ 0 h 2104980"/>
              <a:gd name="connsiteX1" fmla="*/ 8855074 w 8855074"/>
              <a:gd name="connsiteY1" fmla="*/ 0 h 2104980"/>
              <a:gd name="connsiteX2" fmla="*/ 8855074 w 8855074"/>
              <a:gd name="connsiteY2" fmla="*/ 2104980 h 2104980"/>
              <a:gd name="connsiteX3" fmla="*/ 0 w 8855074"/>
              <a:gd name="connsiteY3" fmla="*/ 2104980 h 2104980"/>
            </a:gdLst>
            <a:ahLst/>
            <a:cxnLst>
              <a:cxn ang="0">
                <a:pos x="connsiteX0" y="connsiteY0"/>
              </a:cxn>
              <a:cxn ang="0">
                <a:pos x="connsiteX1" y="connsiteY1"/>
              </a:cxn>
              <a:cxn ang="0">
                <a:pos x="connsiteX2" y="connsiteY2"/>
              </a:cxn>
              <a:cxn ang="0">
                <a:pos x="connsiteX3" y="connsiteY3"/>
              </a:cxn>
            </a:cxnLst>
            <a:rect l="l" t="t" r="r" b="b"/>
            <a:pathLst>
              <a:path w="8855074" h="2104980">
                <a:moveTo>
                  <a:pt x="0" y="0"/>
                </a:moveTo>
                <a:lnTo>
                  <a:pt x="8855074" y="0"/>
                </a:lnTo>
                <a:lnTo>
                  <a:pt x="8855074" y="2104980"/>
                </a:lnTo>
                <a:lnTo>
                  <a:pt x="0" y="2104980"/>
                </a:lnTo>
                <a:close/>
              </a:path>
            </a:pathLst>
          </a:cu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891593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Dizal-22">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3CA7804-C1A2-41BF-8A72-36E2C8F80A1A}"/>
              </a:ext>
            </a:extLst>
          </p:cNvPr>
          <p:cNvPicPr>
            <a:picLocks noChangeAspect="1"/>
          </p:cNvPicPr>
          <p:nvPr userDrawn="1"/>
        </p:nvPicPr>
        <p:blipFill>
          <a:blip r:embed="rId2"/>
          <a:srcRect/>
          <a:stretch/>
        </p:blipFill>
        <p:spPr>
          <a:xfrm>
            <a:off x="143256" y="2898014"/>
            <a:ext cx="8857488" cy="2109216"/>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449623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Dizal-23">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287F885-48E6-48AE-9008-5EB6766686C4}"/>
              </a:ext>
            </a:extLst>
          </p:cNvPr>
          <p:cNvPicPr>
            <a:picLocks noChangeAspect="1"/>
          </p:cNvPicPr>
          <p:nvPr userDrawn="1"/>
        </p:nvPicPr>
        <p:blipFill>
          <a:blip r:embed="rId2"/>
          <a:srcRect/>
          <a:stretch/>
        </p:blipFill>
        <p:spPr>
          <a:xfrm>
            <a:off x="144780" y="2897651"/>
            <a:ext cx="8854440" cy="2109942"/>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pic>
        <p:nvPicPr>
          <p:cNvPr id="5"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
        <p:nvSpPr>
          <p:cNvPr id="9" name="Slide Number Placeholder 5">
            <a:extLst>
              <a:ext uri="{FF2B5EF4-FFF2-40B4-BE49-F238E27FC236}">
                <a16:creationId xmlns:a16="http://schemas.microsoft.com/office/drawing/2014/main" id="{45732845-2C00-4272-997F-EE42AA88E7A3}"/>
              </a:ext>
            </a:extLst>
          </p:cNvPr>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55853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Dizal-24">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02FEFEC3-2A12-4B6B-9031-70E91AE063CC}"/>
              </a:ext>
            </a:extLst>
          </p:cNvPr>
          <p:cNvPicPr>
            <a:picLocks noChangeAspect="1"/>
          </p:cNvPicPr>
          <p:nvPr userDrawn="1"/>
        </p:nvPicPr>
        <p:blipFill>
          <a:blip r:embed="rId2"/>
          <a:srcRect l="10" r="10"/>
          <a:stretch/>
        </p:blipFill>
        <p:spPr>
          <a:xfrm>
            <a:off x="144463" y="2894520"/>
            <a:ext cx="8855074" cy="2114234"/>
          </a:xfrm>
          <a:custGeom>
            <a:avLst/>
            <a:gdLst>
              <a:gd name="connsiteX0" fmla="*/ 0 w 8855074"/>
              <a:gd name="connsiteY0" fmla="*/ 0 h 2114234"/>
              <a:gd name="connsiteX1" fmla="*/ 8855074 w 8855074"/>
              <a:gd name="connsiteY1" fmla="*/ 0 h 2114234"/>
              <a:gd name="connsiteX2" fmla="*/ 8855074 w 8855074"/>
              <a:gd name="connsiteY2" fmla="*/ 2114234 h 2114234"/>
              <a:gd name="connsiteX3" fmla="*/ 0 w 8855074"/>
              <a:gd name="connsiteY3" fmla="*/ 2114234 h 2114234"/>
            </a:gdLst>
            <a:ahLst/>
            <a:cxnLst>
              <a:cxn ang="0">
                <a:pos x="connsiteX0" y="connsiteY0"/>
              </a:cxn>
              <a:cxn ang="0">
                <a:pos x="connsiteX1" y="connsiteY1"/>
              </a:cxn>
              <a:cxn ang="0">
                <a:pos x="connsiteX2" y="connsiteY2"/>
              </a:cxn>
              <a:cxn ang="0">
                <a:pos x="connsiteX3" y="connsiteY3"/>
              </a:cxn>
            </a:cxnLst>
            <a:rect l="l" t="t" r="r" b="b"/>
            <a:pathLst>
              <a:path w="8855074" h="2114234">
                <a:moveTo>
                  <a:pt x="0" y="0"/>
                </a:moveTo>
                <a:lnTo>
                  <a:pt x="8855074" y="0"/>
                </a:lnTo>
                <a:lnTo>
                  <a:pt x="8855074" y="2114234"/>
                </a:lnTo>
                <a:lnTo>
                  <a:pt x="0" y="2114234"/>
                </a:lnTo>
                <a:close/>
              </a:path>
            </a:pathLst>
          </a:custGeom>
        </p:spPr>
      </p:pic>
      <p:sp>
        <p:nvSpPr>
          <p:cNvPr id="6"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9846372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zal-25">
    <p:spTree>
      <p:nvGrpSpPr>
        <p:cNvPr id="1" name=""/>
        <p:cNvGrpSpPr/>
        <p:nvPr/>
      </p:nvGrpSpPr>
      <p:grpSpPr>
        <a:xfrm>
          <a:off x="0" y="0"/>
          <a:ext cx="0" cy="0"/>
          <a:chOff x="0" y="0"/>
          <a:chExt cx="0" cy="0"/>
        </a:xfrm>
      </p:grpSpPr>
      <p:pic>
        <p:nvPicPr>
          <p:cNvPr id="6" name="Picture Placeholder 7" descr="AZ1466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1820075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zal-26">
    <p:spTree>
      <p:nvGrpSpPr>
        <p:cNvPr id="1" name=""/>
        <p:cNvGrpSpPr/>
        <p:nvPr/>
      </p:nvGrpSpPr>
      <p:grpSpPr>
        <a:xfrm>
          <a:off x="0" y="0"/>
          <a:ext cx="0" cy="0"/>
          <a:chOff x="0" y="0"/>
          <a:chExt cx="0" cy="0"/>
        </a:xfrm>
      </p:grpSpPr>
      <p:pic>
        <p:nvPicPr>
          <p:cNvPr id="4" name="Picture 3" descr="Diabetes.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050" y="2882947"/>
            <a:ext cx="8856000" cy="2114455"/>
          </a:xfrm>
          <a:prstGeom prst="rect">
            <a:avLst/>
          </a:prstGeom>
        </p:spPr>
      </p:pic>
      <p:sp>
        <p:nvSpPr>
          <p:cNvPr id="6"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2150167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zal-01--27">
    <p:spTree>
      <p:nvGrpSpPr>
        <p:cNvPr id="1" name=""/>
        <p:cNvGrpSpPr/>
        <p:nvPr/>
      </p:nvGrpSpPr>
      <p:grpSpPr>
        <a:xfrm>
          <a:off x="0" y="0"/>
          <a:ext cx="0" cy="0"/>
          <a:chOff x="0" y="0"/>
          <a:chExt cx="0" cy="0"/>
        </a:xfrm>
      </p:grpSpPr>
      <p:pic>
        <p:nvPicPr>
          <p:cNvPr id="6" name="Picture 5" descr="TLR9_Endosome_and_Receptor_RGB LR.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0" y="2883741"/>
            <a:ext cx="8856000" cy="2114455"/>
          </a:xfrm>
          <a:prstGeom prst="rect">
            <a:avLst/>
          </a:prstGeom>
        </p:spPr>
      </p:pic>
      <p:sp>
        <p:nvSpPr>
          <p:cNvPr id="4"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2034777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zal-28">
    <p:spTree>
      <p:nvGrpSpPr>
        <p:cNvPr id="1" name=""/>
        <p:cNvGrpSpPr/>
        <p:nvPr/>
      </p:nvGrpSpPr>
      <p:grpSpPr>
        <a:xfrm>
          <a:off x="0" y="0"/>
          <a:ext cx="0" cy="0"/>
          <a:chOff x="0" y="0"/>
          <a:chExt cx="0" cy="0"/>
        </a:xfrm>
      </p:grpSpPr>
      <p:pic>
        <p:nvPicPr>
          <p:cNvPr id="5" name="Picture Placeholder 13" descr="AZ1486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4001" y="2884851"/>
            <a:ext cx="8855075" cy="2114234"/>
          </a:xfrm>
          <a:prstGeom prst="rect">
            <a:avLst/>
          </a:prstGeom>
        </p:spPr>
      </p:pic>
      <p:sp>
        <p:nvSpPr>
          <p:cNvPr id="6"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21387859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zal-29">
    <p:spTree>
      <p:nvGrpSpPr>
        <p:cNvPr id="1" name=""/>
        <p:cNvGrpSpPr/>
        <p:nvPr/>
      </p:nvGrpSpPr>
      <p:grpSpPr>
        <a:xfrm>
          <a:off x="0" y="0"/>
          <a:ext cx="0" cy="0"/>
          <a:chOff x="0" y="0"/>
          <a:chExt cx="0" cy="0"/>
        </a:xfrm>
      </p:grpSpPr>
      <p:pic>
        <p:nvPicPr>
          <p:cNvPr id="6" name="Picture 5" descr="Deepal_P_Shot_2-024_Ret_screen.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8544" y="2886122"/>
            <a:ext cx="8856000" cy="2114455"/>
          </a:xfrm>
          <a:prstGeom prst="rect">
            <a:avLst/>
          </a:prstGeom>
        </p:spPr>
      </p:pic>
      <p:sp>
        <p:nvSpPr>
          <p:cNvPr id="5"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rgbClr val="BF1733"/>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3317524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fidentiality notice">
    <p:bg>
      <p:bgPr>
        <a:solidFill>
          <a:srgbClr val="BF1733"/>
        </a:solidFill>
        <a:effectLst/>
      </p:bgPr>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B124ADF6-CBF7-497C-A193-B475AF389E5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2088743" y="4052352"/>
            <a:ext cx="4649321" cy="8754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AZ_SYMBOL_RGB.jpg">
            <a:extLst>
              <a:ext uri="{FF2B5EF4-FFF2-40B4-BE49-F238E27FC236}">
                <a16:creationId xmlns:a16="http://schemas.microsoft.com/office/drawing/2014/main" id="{AA4C90F7-8005-434D-BBBB-1591A37D19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6478636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fidentiality statement">
    <p:bg>
      <p:bgPr>
        <a:solidFill>
          <a:srgbClr val="BF1733"/>
        </a:solidFill>
        <a:effectLst/>
      </p:bgPr>
    </p:bg>
    <p:spTree>
      <p:nvGrpSpPr>
        <p:cNvPr id="1" name=""/>
        <p:cNvGrpSpPr/>
        <p:nvPr/>
      </p:nvGrpSpPr>
      <p:grpSpPr>
        <a:xfrm>
          <a:off x="0" y="0"/>
          <a:ext cx="0" cy="0"/>
          <a:chOff x="0" y="0"/>
          <a:chExt cx="0" cy="0"/>
        </a:xfrm>
      </p:grpSpPr>
      <p:pic>
        <p:nvPicPr>
          <p:cNvPr id="5" name="Picture 3" descr="AZ_SYMBOL_RGB.jpg">
            <a:extLst>
              <a:ext uri="{FF2B5EF4-FFF2-40B4-BE49-F238E27FC236}">
                <a16:creationId xmlns:a16="http://schemas.microsoft.com/office/drawing/2014/main" id="{59A9656C-DB2C-4B58-96F0-FBE582C24E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pic>
        <p:nvPicPr>
          <p:cNvPr id="9" name="Picture 8">
            <a:extLst>
              <a:ext uri="{FF2B5EF4-FFF2-40B4-BE49-F238E27FC236}">
                <a16:creationId xmlns:a16="http://schemas.microsoft.com/office/drawing/2014/main" id="{4665BCEC-FC01-40B2-B224-AC7FF4D30E48}"/>
              </a:ext>
            </a:extLst>
          </p:cNvPr>
          <p:cNvPicPr>
            <a:picLocks noChangeAspect="1"/>
          </p:cNvPicPr>
          <p:nvPr userDrawn="1"/>
        </p:nvPicPr>
        <p:blipFill>
          <a:blip r:embed="rId3"/>
          <a:stretch>
            <a:fillRect/>
          </a:stretch>
        </p:blipFill>
        <p:spPr>
          <a:xfrm>
            <a:off x="707988" y="625287"/>
            <a:ext cx="7692210" cy="2673726"/>
          </a:xfrm>
          <a:prstGeom prst="rect">
            <a:avLst/>
          </a:prstGeom>
        </p:spPr>
      </p:pic>
    </p:spTree>
    <p:extLst>
      <p:ext uri="{BB962C8B-B14F-4D97-AF65-F5344CB8AC3E}">
        <p14:creationId xmlns:p14="http://schemas.microsoft.com/office/powerpoint/2010/main" val="41780022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zal-30">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rgbClr val="BF1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3" descr="AZ_SYMBOL_RGB.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42348151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zal-31">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rgbClr val="55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3" descr="AZ_SYMBOL_RGB.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10872682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zal-32">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rgbClr val="F29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3" descr="AZ_SYMBOL_RGB.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35394026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zal-33">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rgbClr val="B9C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3" descr="AZ_SYMBOL_RGB.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13080467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zal-34">
    <p:spTree>
      <p:nvGrpSpPr>
        <p:cNvPr id="1" name=""/>
        <p:cNvGrpSpPr/>
        <p:nvPr/>
      </p:nvGrpSpPr>
      <p:grpSpPr>
        <a:xfrm>
          <a:off x="0" y="0"/>
          <a:ext cx="0" cy="0"/>
          <a:chOff x="0" y="0"/>
          <a:chExt cx="0" cy="0"/>
        </a:xfrm>
      </p:grpSpPr>
      <p:sp>
        <p:nvSpPr>
          <p:cNvPr id="5" name="Rectangle 4"/>
          <p:cNvSpPr/>
          <p:nvPr userDrawn="1"/>
        </p:nvSpPr>
        <p:spPr>
          <a:xfrm>
            <a:off x="144000" y="144000"/>
            <a:ext cx="8856000" cy="4860000"/>
          </a:xfrm>
          <a:prstGeom prst="rect">
            <a:avLst/>
          </a:prstGeom>
          <a:solidFill>
            <a:srgbClr val="9BE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13" name="Title 8"/>
          <p:cNvSpPr>
            <a:spLocks noGrp="1"/>
          </p:cNvSpPr>
          <p:nvPr>
            <p:ph type="title" hasCustomPrompt="1"/>
          </p:nvPr>
        </p:nvSpPr>
        <p:spPr>
          <a:xfrm>
            <a:off x="237600" y="144000"/>
            <a:ext cx="8280000" cy="504000"/>
          </a:xfrm>
          <a:prstGeom prst="rect">
            <a:avLst/>
          </a:prstGeom>
        </p:spPr>
        <p:txBody>
          <a:bodyPr vert="horz"/>
          <a:lstStyle>
            <a:lvl1pPr algn="l">
              <a:defRPr sz="2400" b="1" baseline="0">
                <a:solidFill>
                  <a:schemeClr val="bg1"/>
                </a:solidFill>
                <a:latin typeface="Arial" pitchFamily="34" charset="0"/>
                <a:cs typeface="Arial" pitchFamily="34" charset="0"/>
              </a:defRPr>
            </a:lvl1pPr>
          </a:lstStyle>
          <a:p>
            <a:r>
              <a:rPr lang="en-GB" noProof="0" dirty="0"/>
              <a:t>Click to add divider title</a:t>
            </a:r>
          </a:p>
        </p:txBody>
      </p:sp>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3" descr="AZ_SYMBOL_RGB.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00198" y="4351807"/>
            <a:ext cx="387107" cy="504433"/>
          </a:xfrm>
          <a:prstGeom prst="rect">
            <a:avLst/>
          </a:prstGeom>
        </p:spPr>
      </p:pic>
    </p:spTree>
    <p:extLst>
      <p:ext uri="{BB962C8B-B14F-4D97-AF65-F5344CB8AC3E}">
        <p14:creationId xmlns:p14="http://schemas.microsoft.com/office/powerpoint/2010/main" val="22011376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zal-35">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Text Placeholder 3"/>
          <p:cNvSpPr>
            <a:spLocks noGrp="1"/>
          </p:cNvSpPr>
          <p:nvPr>
            <p:ph type="body" sz="quarter" idx="11" hasCustomPrompt="1"/>
          </p:nvPr>
        </p:nvSpPr>
        <p:spPr>
          <a:xfrm>
            <a:off x="237061"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GB" noProof="0" dirty="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1085139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zal-3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C00000"/>
                </a:solidFill>
                <a:latin typeface="Arial" pitchFamily="34" charset="0"/>
                <a:cs typeface="Arial" pitchFamily="34" charset="0"/>
              </a:defRPr>
            </a:lvl1pPr>
          </a:lstStyle>
          <a:p>
            <a:r>
              <a:rPr lang="en-GB" noProof="0" dirty="0"/>
              <a:t>Click to add navigation 1 title</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279252"/>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24" name="Text Placeholder 2"/>
          <p:cNvSpPr>
            <a:spLocks noGrp="1"/>
          </p:cNvSpPr>
          <p:nvPr>
            <p:ph type="body" sz="quarter" idx="43"/>
          </p:nvPr>
        </p:nvSpPr>
        <p:spPr>
          <a:xfrm>
            <a:off x="1046699" y="1390816"/>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6" name="Text Placeholder 49"/>
          <p:cNvSpPr>
            <a:spLocks noGrp="1"/>
          </p:cNvSpPr>
          <p:nvPr>
            <p:ph type="body" sz="quarter" idx="44" hasCustomPrompt="1"/>
          </p:nvPr>
        </p:nvSpPr>
        <p:spPr>
          <a:xfrm>
            <a:off x="330200" y="127417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1</a:t>
            </a:r>
          </a:p>
        </p:txBody>
      </p:sp>
    </p:spTree>
    <p:extLst>
      <p:ext uri="{BB962C8B-B14F-4D97-AF65-F5344CB8AC3E}">
        <p14:creationId xmlns:p14="http://schemas.microsoft.com/office/powerpoint/2010/main" val="14398423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zal-37">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80296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6699" y="191453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21323380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zal-38">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44" name="Table Placeholder 29"/>
          <p:cNvSpPr>
            <a:spLocks noGrp="1"/>
          </p:cNvSpPr>
          <p:nvPr>
            <p:ph type="tbl" sz="quarter" idx="42"/>
          </p:nvPr>
        </p:nvSpPr>
        <p:spPr>
          <a:xfrm>
            <a:off x="987429" y="23120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5" name="Text Placeholder 2"/>
          <p:cNvSpPr>
            <a:spLocks noGrp="1"/>
          </p:cNvSpPr>
          <p:nvPr>
            <p:ph type="body" sz="quarter" idx="43"/>
          </p:nvPr>
        </p:nvSpPr>
        <p:spPr>
          <a:xfrm>
            <a:off x="1046699" y="24235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539051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zal-39">
    <p:spTree>
      <p:nvGrpSpPr>
        <p:cNvPr id="1" name=""/>
        <p:cNvGrpSpPr/>
        <p:nvPr/>
      </p:nvGrpSpPr>
      <p:grpSpPr>
        <a:xfrm>
          <a:off x="0" y="0"/>
          <a:ext cx="0" cy="0"/>
          <a:chOff x="0" y="0"/>
          <a:chExt cx="0" cy="0"/>
        </a:xfrm>
      </p:grpSpPr>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078618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zal-40">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8044" y="33231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7314" y="34346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4" hasCustomPrompt="1"/>
          </p:nvPr>
        </p:nvSpPr>
        <p:spPr>
          <a:xfrm>
            <a:off x="330815" y="3323475"/>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5</a:t>
            </a:r>
          </a:p>
        </p:txBody>
      </p:sp>
    </p:spTree>
    <p:extLst>
      <p:ext uri="{BB962C8B-B14F-4D97-AF65-F5344CB8AC3E}">
        <p14:creationId xmlns:p14="http://schemas.microsoft.com/office/powerpoint/2010/main" val="15357508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zal-4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5</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39"/>
          </p:nvPr>
        </p:nvSpPr>
        <p:spPr>
          <a:xfrm>
            <a:off x="987429" y="384563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0"/>
          </p:nvPr>
        </p:nvSpPr>
        <p:spPr>
          <a:xfrm>
            <a:off x="1046699" y="395720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1" hasCustomPrompt="1"/>
          </p:nvPr>
        </p:nvSpPr>
        <p:spPr>
          <a:xfrm>
            <a:off x="330200" y="3845988"/>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6</a:t>
            </a:r>
          </a:p>
        </p:txBody>
      </p:sp>
    </p:spTree>
    <p:extLst>
      <p:ext uri="{BB962C8B-B14F-4D97-AF65-F5344CB8AC3E}">
        <p14:creationId xmlns:p14="http://schemas.microsoft.com/office/powerpoint/2010/main" val="3175979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zal-42">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0833829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zal-43">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rgbClr val="BF1733"/>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dirty="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9816710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zal-44">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14022274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zal-45">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0"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5991623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zal-46">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2" name="Content Placeholder 2"/>
          <p:cNvSpPr>
            <a:spLocks noGrp="1"/>
          </p:cNvSpPr>
          <p:nvPr>
            <p:ph idx="13" hasCustomPrompt="1"/>
          </p:nvPr>
        </p:nvSpPr>
        <p:spPr>
          <a:xfrm>
            <a:off x="237062"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2227695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zal-47">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Tree>
    <p:extLst>
      <p:ext uri="{BB962C8B-B14F-4D97-AF65-F5344CB8AC3E}">
        <p14:creationId xmlns:p14="http://schemas.microsoft.com/office/powerpoint/2010/main" val="3545193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zal-48">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16278668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zal-49">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0058625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zal-50">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1"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6241074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zal-51">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8646515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zal-5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4"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2378332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zal-53">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26253021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zal-54">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47613884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zal-55">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164284130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zal-56">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8347558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zal-57">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0693860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zal-58">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7" y="1233071"/>
            <a:ext cx="8766174" cy="3172500"/>
          </a:xfrm>
          <a:prstGeom prst="rect">
            <a:avLst/>
          </a:prstGeom>
        </p:spPr>
        <p:txBody>
          <a:bodyPr/>
          <a:lstStyle>
            <a:lvl1pPr marL="269875" indent="-269875">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0" indent="-135000">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content title</a:t>
            </a:r>
          </a:p>
        </p:txBody>
      </p:sp>
    </p:spTree>
    <p:extLst>
      <p:ext uri="{BB962C8B-B14F-4D97-AF65-F5344CB8AC3E}">
        <p14:creationId xmlns:p14="http://schemas.microsoft.com/office/powerpoint/2010/main" val="41940719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3551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02651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zal-35">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Text Placeholder 3"/>
          <p:cNvSpPr>
            <a:spLocks noGrp="1"/>
          </p:cNvSpPr>
          <p:nvPr>
            <p:ph type="body" sz="quarter" idx="11" hasCustomPrompt="1"/>
          </p:nvPr>
        </p:nvSpPr>
        <p:spPr>
          <a:xfrm>
            <a:off x="237061"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GB" noProof="0" dirty="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3130588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zal-36">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C00000"/>
                </a:solidFill>
                <a:latin typeface="Arial" pitchFamily="34" charset="0"/>
                <a:cs typeface="Arial" pitchFamily="34" charset="0"/>
              </a:defRPr>
            </a:lvl1pPr>
          </a:lstStyle>
          <a:p>
            <a:r>
              <a:rPr lang="en-GB" noProof="0" dirty="0"/>
              <a:t>Click to add navigation 1 title</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279252"/>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24" name="Text Placeholder 2"/>
          <p:cNvSpPr>
            <a:spLocks noGrp="1"/>
          </p:cNvSpPr>
          <p:nvPr>
            <p:ph type="body" sz="quarter" idx="43"/>
          </p:nvPr>
        </p:nvSpPr>
        <p:spPr>
          <a:xfrm>
            <a:off x="1046699" y="1390816"/>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6" name="Text Placeholder 49"/>
          <p:cNvSpPr>
            <a:spLocks noGrp="1"/>
          </p:cNvSpPr>
          <p:nvPr>
            <p:ph type="body" sz="quarter" idx="44" hasCustomPrompt="1"/>
          </p:nvPr>
        </p:nvSpPr>
        <p:spPr>
          <a:xfrm>
            <a:off x="330200" y="127417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1</a:t>
            </a:r>
          </a:p>
        </p:txBody>
      </p:sp>
    </p:spTree>
    <p:extLst>
      <p:ext uri="{BB962C8B-B14F-4D97-AF65-F5344CB8AC3E}">
        <p14:creationId xmlns:p14="http://schemas.microsoft.com/office/powerpoint/2010/main" val="2824149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zal-37">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80296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6699" y="191453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164165214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zal-38">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44" name="Table Placeholder 29"/>
          <p:cNvSpPr>
            <a:spLocks noGrp="1"/>
          </p:cNvSpPr>
          <p:nvPr>
            <p:ph type="tbl" sz="quarter" idx="42"/>
          </p:nvPr>
        </p:nvSpPr>
        <p:spPr>
          <a:xfrm>
            <a:off x="987429" y="23120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5" name="Text Placeholder 2"/>
          <p:cNvSpPr>
            <a:spLocks noGrp="1"/>
          </p:cNvSpPr>
          <p:nvPr>
            <p:ph type="body" sz="quarter" idx="43"/>
          </p:nvPr>
        </p:nvSpPr>
        <p:spPr>
          <a:xfrm>
            <a:off x="1046699" y="24235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329529573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zal-39">
    <p:spTree>
      <p:nvGrpSpPr>
        <p:cNvPr id="1" name=""/>
        <p:cNvGrpSpPr/>
        <p:nvPr/>
      </p:nvGrpSpPr>
      <p:grpSpPr>
        <a:xfrm>
          <a:off x="0" y="0"/>
          <a:ext cx="0" cy="0"/>
          <a:chOff x="0" y="0"/>
          <a:chExt cx="0" cy="0"/>
        </a:xfrm>
      </p:grpSpPr>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73385058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zal-40">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8044" y="33231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7314" y="34346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4" hasCustomPrompt="1"/>
          </p:nvPr>
        </p:nvSpPr>
        <p:spPr>
          <a:xfrm>
            <a:off x="330815" y="3323475"/>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5</a:t>
            </a:r>
          </a:p>
        </p:txBody>
      </p:sp>
    </p:spTree>
    <p:extLst>
      <p:ext uri="{BB962C8B-B14F-4D97-AF65-F5344CB8AC3E}">
        <p14:creationId xmlns:p14="http://schemas.microsoft.com/office/powerpoint/2010/main" val="279576511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zal-4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5</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39"/>
          </p:nvPr>
        </p:nvSpPr>
        <p:spPr>
          <a:xfrm>
            <a:off x="987429" y="384563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0"/>
          </p:nvPr>
        </p:nvSpPr>
        <p:spPr>
          <a:xfrm>
            <a:off x="1046699" y="395720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1" hasCustomPrompt="1"/>
          </p:nvPr>
        </p:nvSpPr>
        <p:spPr>
          <a:xfrm>
            <a:off x="330200" y="3845988"/>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6</a:t>
            </a:r>
          </a:p>
        </p:txBody>
      </p:sp>
    </p:spTree>
    <p:extLst>
      <p:ext uri="{BB962C8B-B14F-4D97-AF65-F5344CB8AC3E}">
        <p14:creationId xmlns:p14="http://schemas.microsoft.com/office/powerpoint/2010/main" val="21797694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zal-42">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2289840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zal-43">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rgbClr val="BF1733"/>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dirty="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3246225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zal-44">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84356468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zal-45">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0"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307048800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zal-46">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2" name="Content Placeholder 2"/>
          <p:cNvSpPr>
            <a:spLocks noGrp="1"/>
          </p:cNvSpPr>
          <p:nvPr>
            <p:ph idx="13" hasCustomPrompt="1"/>
          </p:nvPr>
        </p:nvSpPr>
        <p:spPr>
          <a:xfrm>
            <a:off x="237062"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49213435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zal-47">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Tree>
    <p:extLst>
      <p:ext uri="{BB962C8B-B14F-4D97-AF65-F5344CB8AC3E}">
        <p14:creationId xmlns:p14="http://schemas.microsoft.com/office/powerpoint/2010/main" val="19250314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zal-48">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0237852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zal-49">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22316353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zal-50">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1"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404774208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zal-51">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414819073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zal-5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4"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16140436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zal-53">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18494443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zal-54">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13931234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zal-55">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13880409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zal-56">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5327090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zal-57">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132491011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zal-58">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7" y="1233071"/>
            <a:ext cx="8766174" cy="3172500"/>
          </a:xfrm>
          <a:prstGeom prst="rect">
            <a:avLst/>
          </a:prstGeom>
        </p:spPr>
        <p:txBody>
          <a:bodyPr/>
          <a:lstStyle>
            <a:lvl1pPr marL="269875" indent="-269875">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0" indent="-135000">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content title</a:t>
            </a:r>
          </a:p>
        </p:txBody>
      </p:sp>
    </p:spTree>
    <p:extLst>
      <p:ext uri="{BB962C8B-B14F-4D97-AF65-F5344CB8AC3E}">
        <p14:creationId xmlns:p14="http://schemas.microsoft.com/office/powerpoint/2010/main" val="375768519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291291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zal-59">
    <p:spTree>
      <p:nvGrpSpPr>
        <p:cNvPr id="1" name=""/>
        <p:cNvGrpSpPr/>
        <p:nvPr/>
      </p:nvGrpSpPr>
      <p:grpSpPr>
        <a:xfrm>
          <a:off x="0" y="0"/>
          <a:ext cx="0" cy="0"/>
          <a:chOff x="0" y="0"/>
          <a:chExt cx="0" cy="0"/>
        </a:xfrm>
      </p:grpSpPr>
      <p:sp>
        <p:nvSpPr>
          <p:cNvPr id="15" name="Title 8"/>
          <p:cNvSpPr>
            <a:spLocks noGrp="1"/>
          </p:cNvSpPr>
          <p:nvPr>
            <p:ph type="title" hasCustomPrompt="1"/>
          </p:nvPr>
        </p:nvSpPr>
        <p:spPr>
          <a:xfrm>
            <a:off x="23760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Text Placeholder 3"/>
          <p:cNvSpPr>
            <a:spLocks noGrp="1"/>
          </p:cNvSpPr>
          <p:nvPr>
            <p:ph type="body" sz="quarter" idx="11" hasCustomPrompt="1"/>
          </p:nvPr>
        </p:nvSpPr>
        <p:spPr>
          <a:xfrm>
            <a:off x="237061" y="1164512"/>
            <a:ext cx="7023713" cy="3172141"/>
          </a:xfrm>
          <a:prstGeom prst="rect">
            <a:avLst/>
          </a:prstGeom>
        </p:spPr>
        <p:txBody>
          <a:bodyPr vert="horz"/>
          <a:lstStyle>
            <a:lvl1pPr marL="0" indent="0">
              <a:spcBef>
                <a:spcPts val="0"/>
              </a:spcBef>
              <a:buNone/>
              <a:defRPr sz="2400" baseline="0">
                <a:solidFill>
                  <a:schemeClr val="tx1"/>
                </a:solidFill>
                <a:latin typeface="Arial" pitchFamily="34" charset="0"/>
                <a:cs typeface="Arial" pitchFamily="34" charset="0"/>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GB" noProof="0" dirty="0"/>
              <a:t>Click to add introduction text</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257443829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zal-60">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C00000"/>
                </a:solidFill>
                <a:latin typeface="Arial" pitchFamily="34" charset="0"/>
                <a:cs typeface="Arial" pitchFamily="34" charset="0"/>
              </a:defRPr>
            </a:lvl1pPr>
          </a:lstStyle>
          <a:p>
            <a:r>
              <a:rPr lang="en-GB" noProof="0" dirty="0"/>
              <a:t>Click to add navigation 1 title</a:t>
            </a:r>
          </a:p>
        </p:txBody>
      </p:sp>
      <p:sp>
        <p:nvSpPr>
          <p:cNvPr id="64"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5"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66"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2</a:t>
            </a:r>
          </a:p>
        </p:txBody>
      </p:sp>
      <p:sp>
        <p:nvSpPr>
          <p:cNvPr id="67"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68"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69"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C4CACD"/>
                </a:solidFill>
                <a:effectLst/>
                <a:uLnTx/>
                <a:uFillTx/>
                <a:latin typeface="Arial" pitchFamily="34" charset="0"/>
                <a:cs typeface="Arial" pitchFamily="34" charset="0"/>
              </a:rPr>
              <a:t>3</a:t>
            </a:r>
          </a:p>
        </p:txBody>
      </p:sp>
      <p:sp>
        <p:nvSpPr>
          <p:cNvPr id="70"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1"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2"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4</a:t>
            </a:r>
          </a:p>
        </p:txBody>
      </p:sp>
      <p:sp>
        <p:nvSpPr>
          <p:cNvPr id="73"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4"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a:ln>
                <a:noFill/>
              </a:ln>
              <a:solidFill>
                <a:srgbClr val="C4CACD"/>
              </a:solidFill>
              <a:effectLst/>
              <a:uLnTx/>
              <a:uFillTx/>
              <a:latin typeface="Arial" pitchFamily="34" charset="0"/>
              <a:cs typeface="Arial" pitchFamily="34" charset="0"/>
            </a:endParaRPr>
          </a:p>
        </p:txBody>
      </p:sp>
      <p:sp>
        <p:nvSpPr>
          <p:cNvPr id="75"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5</a:t>
            </a:r>
          </a:p>
        </p:txBody>
      </p:sp>
      <p:sp>
        <p:nvSpPr>
          <p:cNvPr id="76"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00" b="0"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77"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marL="0" marR="0" lvl="0" indent="0" defTabSz="914400" eaLnBrk="1" fontAlgn="auto" latinLnBrk="0" hangingPunct="1">
              <a:lnSpc>
                <a:spcPct val="6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C4CACD"/>
              </a:solidFill>
              <a:effectLst/>
              <a:uLnTx/>
              <a:uFillTx/>
              <a:latin typeface="Arial" pitchFamily="34" charset="0"/>
              <a:cs typeface="Arial" pitchFamily="34" charset="0"/>
            </a:endParaRPr>
          </a:p>
        </p:txBody>
      </p:sp>
      <p:sp>
        <p:nvSpPr>
          <p:cNvPr id="78"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800" b="1" i="0" u="none" strike="noStrike" kern="0" cap="none" spc="0" normalizeH="0" baseline="0" noProof="0">
                <a:ln>
                  <a:noFill/>
                </a:ln>
                <a:solidFill>
                  <a:srgbClr val="C4CACD"/>
                </a:solidFill>
                <a:effectLst/>
                <a:uLnTx/>
                <a:uFillTx/>
                <a:latin typeface="Arial" pitchFamily="34" charset="0"/>
                <a:cs typeface="Arial" pitchFamily="34" charset="0"/>
              </a:rPr>
              <a:t>6</a:t>
            </a:r>
          </a:p>
        </p:txBody>
      </p:sp>
      <p:sp>
        <p:nvSpPr>
          <p:cNvPr id="23"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279252"/>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24" name="Text Placeholder 2"/>
          <p:cNvSpPr>
            <a:spLocks noGrp="1"/>
          </p:cNvSpPr>
          <p:nvPr>
            <p:ph type="body" sz="quarter" idx="43"/>
          </p:nvPr>
        </p:nvSpPr>
        <p:spPr>
          <a:xfrm>
            <a:off x="1046699" y="1390816"/>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6" name="Text Placeholder 49"/>
          <p:cNvSpPr>
            <a:spLocks noGrp="1"/>
          </p:cNvSpPr>
          <p:nvPr>
            <p:ph type="body" sz="quarter" idx="44" hasCustomPrompt="1"/>
          </p:nvPr>
        </p:nvSpPr>
        <p:spPr>
          <a:xfrm>
            <a:off x="330200" y="127417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1</a:t>
            </a:r>
          </a:p>
        </p:txBody>
      </p:sp>
    </p:spTree>
    <p:extLst>
      <p:ext uri="{BB962C8B-B14F-4D97-AF65-F5344CB8AC3E}">
        <p14:creationId xmlns:p14="http://schemas.microsoft.com/office/powerpoint/2010/main" val="1753608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zal-61">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2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7429" y="180296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6699" y="191453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29979517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izal-62">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3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44" name="Table Placeholder 29"/>
          <p:cNvSpPr>
            <a:spLocks noGrp="1"/>
          </p:cNvSpPr>
          <p:nvPr>
            <p:ph type="tbl" sz="quarter" idx="42"/>
          </p:nvPr>
        </p:nvSpPr>
        <p:spPr>
          <a:xfrm>
            <a:off x="987429" y="23120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5" name="Text Placeholder 2"/>
          <p:cNvSpPr>
            <a:spLocks noGrp="1"/>
          </p:cNvSpPr>
          <p:nvPr>
            <p:ph type="body" sz="quarter" idx="43"/>
          </p:nvPr>
        </p:nvSpPr>
        <p:spPr>
          <a:xfrm>
            <a:off x="1046699" y="24235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Tree>
    <p:extLst>
      <p:ext uri="{BB962C8B-B14F-4D97-AF65-F5344CB8AC3E}">
        <p14:creationId xmlns:p14="http://schemas.microsoft.com/office/powerpoint/2010/main" val="398170465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zal-63">
    <p:spTree>
      <p:nvGrpSpPr>
        <p:cNvPr id="1" name=""/>
        <p:cNvGrpSpPr/>
        <p:nvPr/>
      </p:nvGrpSpPr>
      <p:grpSpPr>
        <a:xfrm>
          <a:off x="0" y="0"/>
          <a:ext cx="0" cy="0"/>
          <a:chOff x="0" y="0"/>
          <a:chExt cx="0" cy="0"/>
        </a:xfrm>
      </p:grpSpPr>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4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5</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20642155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Dizal-64">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5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40" name="Table Placeholder 29"/>
          <p:cNvSpPr>
            <a:spLocks noGrp="1"/>
          </p:cNvSpPr>
          <p:nvPr>
            <p:ph type="tbl" sz="quarter" idx="39"/>
          </p:nvPr>
        </p:nvSpPr>
        <p:spPr>
          <a:xfrm>
            <a:off x="987429" y="3846875"/>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41" name="Text Placeholder 2"/>
          <p:cNvSpPr>
            <a:spLocks noGrp="1"/>
          </p:cNvSpPr>
          <p:nvPr>
            <p:ph type="body" sz="quarter" idx="40"/>
          </p:nvPr>
        </p:nvSpPr>
        <p:spPr>
          <a:xfrm>
            <a:off x="1046699" y="3958439"/>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a:p>
        </p:txBody>
      </p:sp>
      <p:sp>
        <p:nvSpPr>
          <p:cNvPr id="42" name="Text Placeholder 49"/>
          <p:cNvSpPr>
            <a:spLocks noGrp="1"/>
          </p:cNvSpPr>
          <p:nvPr>
            <p:ph type="body" sz="quarter" idx="41" hasCustomPrompt="1"/>
          </p:nvPr>
        </p:nvSpPr>
        <p:spPr>
          <a:xfrm>
            <a:off x="330200" y="3847226"/>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6</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42"/>
          </p:nvPr>
        </p:nvSpPr>
        <p:spPr>
          <a:xfrm>
            <a:off x="988044" y="3323124"/>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3"/>
          </p:nvPr>
        </p:nvSpPr>
        <p:spPr>
          <a:xfrm>
            <a:off x="1047314" y="3434688"/>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4" hasCustomPrompt="1"/>
          </p:nvPr>
        </p:nvSpPr>
        <p:spPr>
          <a:xfrm>
            <a:off x="330815" y="3323475"/>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5</a:t>
            </a:r>
          </a:p>
        </p:txBody>
      </p:sp>
    </p:spTree>
    <p:extLst>
      <p:ext uri="{BB962C8B-B14F-4D97-AF65-F5344CB8AC3E}">
        <p14:creationId xmlns:p14="http://schemas.microsoft.com/office/powerpoint/2010/main" val="107029706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izal-65">
    <p:spTree>
      <p:nvGrpSpPr>
        <p:cNvPr id="1" name=""/>
        <p:cNvGrpSpPr/>
        <p:nvPr/>
      </p:nvGrpSpPr>
      <p:grpSpPr>
        <a:xfrm>
          <a:off x="0" y="0"/>
          <a:ext cx="0" cy="0"/>
          <a:chOff x="0" y="0"/>
          <a:chExt cx="0" cy="0"/>
        </a:xfrm>
      </p:grpSpPr>
      <p:sp>
        <p:nvSpPr>
          <p:cNvPr id="32" name="Title 8"/>
          <p:cNvSpPr>
            <a:spLocks noGrp="1"/>
          </p:cNvSpPr>
          <p:nvPr>
            <p:ph type="title" hasCustomPrompt="1"/>
          </p:nvPr>
        </p:nvSpPr>
        <p:spPr>
          <a:xfrm>
            <a:off x="237061" y="144000"/>
            <a:ext cx="8280000"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navigation 6 title</a:t>
            </a:r>
          </a:p>
        </p:txBody>
      </p:sp>
      <p:sp>
        <p:nvSpPr>
          <p:cNvPr id="23" name="Table Placeholder 29"/>
          <p:cNvSpPr>
            <a:spLocks noGrp="1"/>
          </p:cNvSpPr>
          <p:nvPr>
            <p:ph type="tbl" sz="quarter" idx="15"/>
          </p:nvPr>
        </p:nvSpPr>
        <p:spPr>
          <a:xfrm>
            <a:off x="987429" y="1298350"/>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4" name="Text Placeholder 2"/>
          <p:cNvSpPr>
            <a:spLocks noGrp="1"/>
          </p:cNvSpPr>
          <p:nvPr>
            <p:ph type="body" sz="quarter" idx="14"/>
          </p:nvPr>
        </p:nvSpPr>
        <p:spPr>
          <a:xfrm>
            <a:off x="1046699" y="1409914"/>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5" name="Text Placeholder 49"/>
          <p:cNvSpPr>
            <a:spLocks noGrp="1"/>
          </p:cNvSpPr>
          <p:nvPr>
            <p:ph type="body" sz="quarter" idx="26" hasCustomPrompt="1"/>
          </p:nvPr>
        </p:nvSpPr>
        <p:spPr>
          <a:xfrm>
            <a:off x="330200" y="1298700"/>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a:t>1</a:t>
            </a:r>
          </a:p>
        </p:txBody>
      </p:sp>
      <p:sp>
        <p:nvSpPr>
          <p:cNvPr id="26" name="Table Placeholder 29"/>
          <p:cNvSpPr>
            <a:spLocks noGrp="1"/>
          </p:cNvSpPr>
          <p:nvPr>
            <p:ph type="tbl" sz="quarter" idx="27"/>
          </p:nvPr>
        </p:nvSpPr>
        <p:spPr>
          <a:xfrm>
            <a:off x="987429" y="180261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28" name="Text Placeholder 2"/>
          <p:cNvSpPr>
            <a:spLocks noGrp="1"/>
          </p:cNvSpPr>
          <p:nvPr>
            <p:ph type="body" sz="quarter" idx="28"/>
          </p:nvPr>
        </p:nvSpPr>
        <p:spPr>
          <a:xfrm>
            <a:off x="1046699" y="1914181"/>
            <a:ext cx="5718173" cy="295649"/>
          </a:xfrm>
          <a:prstGeom prst="rect">
            <a:avLst/>
          </a:prstGeom>
        </p:spPr>
        <p:txBody>
          <a:bodyPr vert="horz"/>
          <a:lstStyle>
            <a:lvl1pPr marL="0" indent="0">
              <a:lnSpc>
                <a:spcPct val="60000"/>
              </a:lnSpc>
              <a:buNone/>
              <a:defRPr sz="1600" b="1" baseline="0">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29" name="Text Placeholder 49"/>
          <p:cNvSpPr>
            <a:spLocks noGrp="1"/>
          </p:cNvSpPr>
          <p:nvPr>
            <p:ph type="body" sz="quarter" idx="29" hasCustomPrompt="1"/>
          </p:nvPr>
        </p:nvSpPr>
        <p:spPr>
          <a:xfrm>
            <a:off x="330200" y="1802967"/>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2</a:t>
            </a:r>
          </a:p>
        </p:txBody>
      </p:sp>
      <p:sp>
        <p:nvSpPr>
          <p:cNvPr id="30" name="Table Placeholder 29"/>
          <p:cNvSpPr>
            <a:spLocks noGrp="1"/>
          </p:cNvSpPr>
          <p:nvPr>
            <p:ph type="tbl" sz="quarter" idx="30"/>
          </p:nvPr>
        </p:nvSpPr>
        <p:spPr>
          <a:xfrm>
            <a:off x="987429" y="2311673"/>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1" name="Text Placeholder 2"/>
          <p:cNvSpPr>
            <a:spLocks noGrp="1"/>
          </p:cNvSpPr>
          <p:nvPr>
            <p:ph type="body" sz="quarter" idx="31"/>
          </p:nvPr>
        </p:nvSpPr>
        <p:spPr>
          <a:xfrm>
            <a:off x="1046699" y="2423237"/>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3" name="Text Placeholder 49"/>
          <p:cNvSpPr>
            <a:spLocks noGrp="1"/>
          </p:cNvSpPr>
          <p:nvPr>
            <p:ph type="body" sz="quarter" idx="32" hasCustomPrompt="1"/>
          </p:nvPr>
        </p:nvSpPr>
        <p:spPr>
          <a:xfrm>
            <a:off x="330200" y="2312024"/>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3</a:t>
            </a:r>
          </a:p>
        </p:txBody>
      </p:sp>
      <p:sp>
        <p:nvSpPr>
          <p:cNvPr id="34" name="Table Placeholder 29"/>
          <p:cNvSpPr>
            <a:spLocks noGrp="1"/>
          </p:cNvSpPr>
          <p:nvPr>
            <p:ph type="tbl" sz="quarter" idx="33"/>
          </p:nvPr>
        </p:nvSpPr>
        <p:spPr>
          <a:xfrm>
            <a:off x="987429" y="2822381"/>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35" name="Text Placeholder 2"/>
          <p:cNvSpPr>
            <a:spLocks noGrp="1"/>
          </p:cNvSpPr>
          <p:nvPr>
            <p:ph type="body" sz="quarter" idx="34"/>
          </p:nvPr>
        </p:nvSpPr>
        <p:spPr>
          <a:xfrm>
            <a:off x="1046699" y="2933945"/>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6" name="Text Placeholder 49"/>
          <p:cNvSpPr>
            <a:spLocks noGrp="1"/>
          </p:cNvSpPr>
          <p:nvPr>
            <p:ph type="body" sz="quarter" idx="35" hasCustomPrompt="1"/>
          </p:nvPr>
        </p:nvSpPr>
        <p:spPr>
          <a:xfrm>
            <a:off x="330200" y="2822732"/>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4</a:t>
            </a:r>
          </a:p>
        </p:txBody>
      </p:sp>
      <p:sp>
        <p:nvSpPr>
          <p:cNvPr id="37" name="Table Placeholder 29"/>
          <p:cNvSpPr>
            <a:spLocks noGrp="1"/>
          </p:cNvSpPr>
          <p:nvPr>
            <p:ph type="tbl" sz="quarter" idx="36"/>
          </p:nvPr>
        </p:nvSpPr>
        <p:spPr>
          <a:xfrm>
            <a:off x="987429" y="3330659"/>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a:p>
        </p:txBody>
      </p:sp>
      <p:sp>
        <p:nvSpPr>
          <p:cNvPr id="38" name="Text Placeholder 2"/>
          <p:cNvSpPr>
            <a:spLocks noGrp="1"/>
          </p:cNvSpPr>
          <p:nvPr>
            <p:ph type="body" sz="quarter" idx="37"/>
          </p:nvPr>
        </p:nvSpPr>
        <p:spPr>
          <a:xfrm>
            <a:off x="1046699" y="3442222"/>
            <a:ext cx="5718173" cy="295649"/>
          </a:xfrm>
          <a:prstGeom prst="rect">
            <a:avLst/>
          </a:prstGeom>
        </p:spPr>
        <p:txBody>
          <a:bodyPr vert="horz"/>
          <a:lstStyle>
            <a:lvl1pPr marL="0" indent="0">
              <a:lnSpc>
                <a:spcPct val="60000"/>
              </a:lnSpc>
              <a:buNone/>
              <a:defRPr sz="1600" b="1">
                <a:solidFill>
                  <a:srgbClr val="C4CACD"/>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39" name="Text Placeholder 49"/>
          <p:cNvSpPr>
            <a:spLocks noGrp="1"/>
          </p:cNvSpPr>
          <p:nvPr>
            <p:ph type="body" sz="quarter" idx="38" hasCustomPrompt="1"/>
          </p:nvPr>
        </p:nvSpPr>
        <p:spPr>
          <a:xfrm>
            <a:off x="330200" y="3331009"/>
            <a:ext cx="540000" cy="405000"/>
          </a:xfrm>
          <a:prstGeom prst="rect">
            <a:avLst/>
          </a:prstGeom>
          <a:solidFill>
            <a:srgbClr val="BF1733"/>
          </a:solidFill>
          <a:ln w="19050" cmpd="sng">
            <a:noFill/>
          </a:ln>
        </p:spPr>
        <p:txBody>
          <a:bodyPr vert="horz" anchor="ctr"/>
          <a:lstStyle>
            <a:lvl1pPr marL="0" indent="0" algn="ctr">
              <a:lnSpc>
                <a:spcPct val="90000"/>
              </a:lnSpc>
              <a:spcBef>
                <a:spcPts val="0"/>
              </a:spcBef>
              <a:buNone/>
              <a:defRPr sz="1800" b="1">
                <a:solidFill>
                  <a:srgbClr val="C4CACD"/>
                </a:solidFill>
                <a:latin typeface="Arial" pitchFamily="34" charset="0"/>
                <a:cs typeface="Arial" pitchFamily="34" charset="0"/>
              </a:defRPr>
            </a:lvl1pPr>
          </a:lstStyle>
          <a:p>
            <a:pPr lvl="0"/>
            <a:r>
              <a:rPr lang="en-GB" noProof="0" dirty="0"/>
              <a:t>5</a:t>
            </a:r>
          </a:p>
        </p:txBody>
      </p:sp>
      <p:sp>
        <p:nvSpPr>
          <p:cNvPr id="2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22" name="Table Placeholder 29"/>
          <p:cNvSpPr>
            <a:spLocks noGrp="1"/>
          </p:cNvSpPr>
          <p:nvPr>
            <p:ph type="tbl" sz="quarter" idx="39"/>
          </p:nvPr>
        </p:nvSpPr>
        <p:spPr>
          <a:xfrm>
            <a:off x="987429" y="3845637"/>
            <a:ext cx="5976000" cy="405000"/>
          </a:xfrm>
          <a:prstGeom prst="rect">
            <a:avLst/>
          </a:prstGeom>
          <a:solidFill>
            <a:srgbClr val="D8DCDE"/>
          </a:solidFill>
        </p:spPr>
        <p:txBody>
          <a:bodyPr vert="horz"/>
          <a:lstStyle>
            <a:lvl1pPr marL="0" indent="0">
              <a:buNone/>
              <a:defRPr sz="100">
                <a:latin typeface="Arial" pitchFamily="34" charset="0"/>
                <a:cs typeface="Arial" pitchFamily="34" charset="0"/>
              </a:defRPr>
            </a:lvl1pPr>
          </a:lstStyle>
          <a:p>
            <a:endParaRPr lang="en-GB" noProof="0" dirty="0"/>
          </a:p>
        </p:txBody>
      </p:sp>
      <p:sp>
        <p:nvSpPr>
          <p:cNvPr id="43" name="Text Placeholder 2"/>
          <p:cNvSpPr>
            <a:spLocks noGrp="1"/>
          </p:cNvSpPr>
          <p:nvPr>
            <p:ph type="body" sz="quarter" idx="40"/>
          </p:nvPr>
        </p:nvSpPr>
        <p:spPr>
          <a:xfrm>
            <a:off x="1046699" y="3957201"/>
            <a:ext cx="5718173" cy="295649"/>
          </a:xfrm>
          <a:prstGeom prst="rect">
            <a:avLst/>
          </a:prstGeom>
        </p:spPr>
        <p:txBody>
          <a:bodyPr vert="horz"/>
          <a:lstStyle>
            <a:lvl1pPr marL="0" indent="0">
              <a:lnSpc>
                <a:spcPct val="60000"/>
              </a:lnSpc>
              <a:buNone/>
              <a:defRPr sz="1600" b="1">
                <a:solidFill>
                  <a:srgbClr val="BF1733"/>
                </a:solidFill>
                <a:latin typeface="Arial" pitchFamily="34" charset="0"/>
                <a:cs typeface="Arial" pitchFamily="34" charset="0"/>
              </a:defRPr>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endParaRPr lang="en-GB" noProof="0" dirty="0"/>
          </a:p>
        </p:txBody>
      </p:sp>
      <p:sp>
        <p:nvSpPr>
          <p:cNvPr id="44" name="Text Placeholder 49"/>
          <p:cNvSpPr>
            <a:spLocks noGrp="1"/>
          </p:cNvSpPr>
          <p:nvPr>
            <p:ph type="body" sz="quarter" idx="41" hasCustomPrompt="1"/>
          </p:nvPr>
        </p:nvSpPr>
        <p:spPr>
          <a:xfrm>
            <a:off x="330200" y="3845988"/>
            <a:ext cx="540000" cy="405000"/>
          </a:xfrm>
          <a:prstGeom prst="rect">
            <a:avLst/>
          </a:prstGeom>
          <a:solidFill>
            <a:srgbClr val="D8DCDE"/>
          </a:solidFill>
          <a:ln w="19050" cmpd="sng">
            <a:noFill/>
          </a:ln>
        </p:spPr>
        <p:txBody>
          <a:bodyPr vert="horz" anchor="ctr"/>
          <a:lstStyle>
            <a:lvl1pPr marL="0" indent="0" algn="ctr">
              <a:lnSpc>
                <a:spcPct val="90000"/>
              </a:lnSpc>
              <a:spcBef>
                <a:spcPts val="0"/>
              </a:spcBef>
              <a:buNone/>
              <a:defRPr sz="1800" b="1">
                <a:solidFill>
                  <a:srgbClr val="BF1733"/>
                </a:solidFill>
                <a:latin typeface="Arial" pitchFamily="34" charset="0"/>
                <a:cs typeface="Arial" pitchFamily="34" charset="0"/>
              </a:defRPr>
            </a:lvl1pPr>
          </a:lstStyle>
          <a:p>
            <a:pPr lvl="0"/>
            <a:r>
              <a:rPr lang="en-GB" noProof="0" dirty="0"/>
              <a:t>6</a:t>
            </a:r>
          </a:p>
        </p:txBody>
      </p:sp>
    </p:spTree>
    <p:extLst>
      <p:ext uri="{BB962C8B-B14F-4D97-AF65-F5344CB8AC3E}">
        <p14:creationId xmlns:p14="http://schemas.microsoft.com/office/powerpoint/2010/main" val="368826292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izal-66">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a:lnSpc>
                <a:spcPct val="100000"/>
              </a:lnSpc>
              <a:defRPr sz="2400" b="1" baseline="0">
                <a:solidFill>
                  <a:srgbClr val="BF1733"/>
                </a:solidFill>
                <a:latin typeface="Arial" pitchFamily="34" charset="0"/>
                <a:cs typeface="Arial" pitchFamily="34" charset="0"/>
              </a:defRPr>
            </a:lvl1pPr>
          </a:lstStyle>
          <a:p>
            <a:r>
              <a:rPr lang="en-GB" noProof="0" dirty="0"/>
              <a:t>Click to add title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90703248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izal-67">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Subtitle 2"/>
          <p:cNvSpPr>
            <a:spLocks noGrp="1"/>
          </p:cNvSpPr>
          <p:nvPr>
            <p:ph type="subTitle" idx="10" hasCustomPrompt="1"/>
          </p:nvPr>
        </p:nvSpPr>
        <p:spPr>
          <a:xfrm>
            <a:off x="237061" y="526851"/>
            <a:ext cx="8765651" cy="324000"/>
          </a:xfrm>
          <a:prstGeom prst="rect">
            <a:avLst/>
          </a:prstGeom>
        </p:spPr>
        <p:txBody>
          <a:bodyPr/>
          <a:lstStyle>
            <a:lvl1pPr marL="0" indent="0" algn="l">
              <a:lnSpc>
                <a:spcPct val="100000"/>
              </a:lnSpc>
              <a:spcBef>
                <a:spcPts val="0"/>
              </a:spcBef>
              <a:buNone/>
              <a:defRPr sz="2400">
                <a:solidFill>
                  <a:srgbClr val="BF1733"/>
                </a:solidFill>
                <a:latin typeface="Arial" pitchFamily="34" charset="0"/>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dirty="0"/>
              <a:t>Click to add subtitle</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Content Placeholder 2"/>
          <p:cNvSpPr>
            <a:spLocks noGrp="1"/>
          </p:cNvSpPr>
          <p:nvPr>
            <p:ph idx="16" hasCustomPrompt="1"/>
          </p:nvPr>
        </p:nvSpPr>
        <p:spPr>
          <a:xfrm>
            <a:off x="237600" y="1234440"/>
            <a:ext cx="705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343340121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izal-68">
    <p:spTree>
      <p:nvGrpSpPr>
        <p:cNvPr id="1" name=""/>
        <p:cNvGrpSpPr/>
        <p:nvPr/>
      </p:nvGrpSpPr>
      <p:grpSpPr>
        <a:xfrm>
          <a:off x="0" y="0"/>
          <a:ext cx="0" cy="0"/>
          <a:chOff x="0" y="0"/>
          <a:chExt cx="0" cy="0"/>
        </a:xfrm>
      </p:grpSpPr>
      <p:sp>
        <p:nvSpPr>
          <p:cNvPr id="5"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altLang="zh-CN" noProof="0" dirty="0"/>
              <a:t>Click to add title</a:t>
            </a:r>
            <a:endParaRPr lang="en-GB" noProof="0" dirty="0"/>
          </a:p>
        </p:txBody>
      </p:sp>
      <p:sp>
        <p:nvSpPr>
          <p:cNvPr id="6" name="Text Placeholder 3"/>
          <p:cNvSpPr>
            <a:spLocks noGrp="1"/>
          </p:cNvSpPr>
          <p:nvPr>
            <p:ph type="body" sz="quarter" idx="11"/>
          </p:nvPr>
        </p:nvSpPr>
        <p:spPr>
          <a:xfrm>
            <a:off x="237600" y="1237097"/>
            <a:ext cx="705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Tree>
    <p:extLst>
      <p:ext uri="{BB962C8B-B14F-4D97-AF65-F5344CB8AC3E}">
        <p14:creationId xmlns:p14="http://schemas.microsoft.com/office/powerpoint/2010/main" val="33593436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izal-69">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236537" y="1237098"/>
            <a:ext cx="7056000" cy="1620000"/>
          </a:xfrm>
          <a:prstGeom prst="rect">
            <a:avLst/>
          </a:prstGeom>
        </p:spPr>
        <p:txBody>
          <a:bodyPr vert="horz"/>
          <a:lstStyle>
            <a:lvl1pPr marL="0" marR="0" indent="0" algn="l" defTabSz="685800" rtl="0" eaLnBrk="1" fontAlgn="base" latinLnBrk="0" hangingPunct="1">
              <a:lnSpc>
                <a:spcPct val="100000"/>
              </a:lnSpc>
              <a:spcBef>
                <a:spcPct val="0"/>
              </a:spcBef>
              <a:spcAft>
                <a:spcPct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5" hasCustomPrompt="1"/>
          </p:nvPr>
        </p:nvSpPr>
        <p:spPr>
          <a:xfrm>
            <a:off x="237600" y="2905963"/>
            <a:ext cx="7056000" cy="1444752"/>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353382199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izal-70">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2" name="Content Placeholder 2"/>
          <p:cNvSpPr>
            <a:spLocks noGrp="1"/>
          </p:cNvSpPr>
          <p:nvPr>
            <p:ph idx="13" hasCustomPrompt="1"/>
          </p:nvPr>
        </p:nvSpPr>
        <p:spPr>
          <a:xfrm>
            <a:off x="237062"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3" name="Content Placeholder 2"/>
          <p:cNvSpPr>
            <a:spLocks noGrp="1"/>
          </p:cNvSpPr>
          <p:nvPr>
            <p:ph idx="17" hasCustomPrompt="1"/>
          </p:nvPr>
        </p:nvSpPr>
        <p:spPr>
          <a:xfrm>
            <a:off x="4680000" y="2905963"/>
            <a:ext cx="4086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55612616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izal-71">
    <p:spTree>
      <p:nvGrpSpPr>
        <p:cNvPr id="1" name=""/>
        <p:cNvGrpSpPr/>
        <p:nvPr/>
      </p:nvGrpSpPr>
      <p:grpSpPr>
        <a:xfrm>
          <a:off x="0" y="0"/>
          <a:ext cx="0" cy="0"/>
          <a:chOff x="0" y="0"/>
          <a:chExt cx="0" cy="0"/>
        </a:xfrm>
      </p:grpSpPr>
      <p:sp>
        <p:nvSpPr>
          <p:cNvPr id="9" name="Content Placeholder 2"/>
          <p:cNvSpPr>
            <a:spLocks noGrp="1"/>
          </p:cNvSpPr>
          <p:nvPr>
            <p:ph idx="14"/>
          </p:nvPr>
        </p:nvSpPr>
        <p:spPr>
          <a:xfrm>
            <a:off x="237600" y="1237099"/>
            <a:ext cx="7056000" cy="1620000"/>
          </a:xfrm>
          <a:prstGeom prst="rect">
            <a:avLst/>
          </a:prstGeom>
        </p:spPr>
        <p:txBody>
          <a:bodyPr/>
          <a:lstStyle>
            <a:lvl1pPr marL="0" indent="0">
              <a:lnSpc>
                <a:spcPct val="100000"/>
              </a:lnSpc>
              <a:spcBef>
                <a:spcPts val="0"/>
              </a:spcBef>
              <a:buClr>
                <a:srgbClr val="830051"/>
              </a:buClr>
              <a:buFont typeface="Arial" pitchFamily="34" charset="0"/>
              <a:buNone/>
              <a:defRPr sz="1800">
                <a:solidFill>
                  <a:schemeClr val="tx1"/>
                </a:solidFill>
                <a:latin typeface="Arial" pitchFamily="34" charset="0"/>
                <a:cs typeface="Arial" pitchFamily="34" charset="0"/>
              </a:defRPr>
            </a:lvl1pPr>
            <a:lvl2pPr marL="405000" indent="-135000">
              <a:lnSpc>
                <a:spcPct val="100000"/>
              </a:lnSpc>
              <a:spcBef>
                <a:spcPts val="0"/>
              </a:spcBef>
              <a:buNone/>
              <a:defRPr sz="135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8" hasCustomPrompt="1"/>
          </p:nvPr>
        </p:nvSpPr>
        <p:spPr>
          <a:xfrm>
            <a:off x="237600" y="2903515"/>
            <a:ext cx="2664000" cy="1444752"/>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5" name="Content Placeholder 2"/>
          <p:cNvSpPr>
            <a:spLocks noGrp="1"/>
          </p:cNvSpPr>
          <p:nvPr>
            <p:ph idx="16" hasCustomPrompt="1"/>
          </p:nvPr>
        </p:nvSpPr>
        <p:spPr>
          <a:xfrm>
            <a:off x="3250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
        <p:nvSpPr>
          <p:cNvPr id="16" name="Content Placeholder 2"/>
          <p:cNvSpPr>
            <a:spLocks noGrp="1"/>
          </p:cNvSpPr>
          <p:nvPr>
            <p:ph idx="17" hasCustomPrompt="1"/>
          </p:nvPr>
        </p:nvSpPr>
        <p:spPr>
          <a:xfrm>
            <a:off x="6274223" y="2908267"/>
            <a:ext cx="2664000" cy="1440000"/>
          </a:xfrm>
          <a:prstGeom prst="rect">
            <a:avLst/>
          </a:prstGeom>
        </p:spPr>
        <p:txBody>
          <a:bodyPr/>
          <a:lstStyle>
            <a:lvl1pPr marL="135000" indent="-135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405000" indent="-135000">
              <a:lnSpc>
                <a:spcPct val="100000"/>
              </a:lnSpc>
              <a:spcBef>
                <a:spcPts val="0"/>
              </a:spcBef>
              <a:defRPr sz="14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p:txBody>
      </p:sp>
    </p:spTree>
    <p:extLst>
      <p:ext uri="{BB962C8B-B14F-4D97-AF65-F5344CB8AC3E}">
        <p14:creationId xmlns:p14="http://schemas.microsoft.com/office/powerpoint/2010/main" val="308598884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zal-72">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4" name="Text Placeholder 3"/>
          <p:cNvSpPr>
            <a:spLocks noGrp="1"/>
          </p:cNvSpPr>
          <p:nvPr>
            <p:ph type="body" sz="quarter" idx="12"/>
          </p:nvPr>
        </p:nvSpPr>
        <p:spPr>
          <a:xfrm>
            <a:off x="4680000" y="1237098"/>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251144977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izal-73">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9"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5"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291395197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Dizal-74">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237099"/>
            <a:ext cx="4086000" cy="1620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0"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1"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8" name="Content Placeholder 2"/>
          <p:cNvSpPr>
            <a:spLocks noGrp="1"/>
          </p:cNvSpPr>
          <p:nvPr>
            <p:ph idx="17" hasCustomPrompt="1"/>
          </p:nvPr>
        </p:nvSpPr>
        <p:spPr>
          <a:xfrm>
            <a:off x="4678499" y="2725591"/>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9" name="Content Placeholder 2"/>
          <p:cNvSpPr>
            <a:spLocks noGrp="1"/>
          </p:cNvSpPr>
          <p:nvPr>
            <p:ph idx="16" hasCustomPrompt="1"/>
          </p:nvPr>
        </p:nvSpPr>
        <p:spPr>
          <a:xfrm>
            <a:off x="4680000" y="1234440"/>
            <a:ext cx="4086000" cy="1371600"/>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348238680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izal-75">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6" name="Content Placeholder 2"/>
          <p:cNvSpPr>
            <a:spLocks noGrp="1"/>
          </p:cNvSpPr>
          <p:nvPr>
            <p:ph idx="16" hasCustomPrompt="1"/>
          </p:nvPr>
        </p:nvSpPr>
        <p:spPr>
          <a:xfrm>
            <a:off x="237061"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1" name="Content Placeholder 2"/>
          <p:cNvSpPr>
            <a:spLocks noGrp="1"/>
          </p:cNvSpPr>
          <p:nvPr>
            <p:ph idx="17" hasCustomPrompt="1"/>
          </p:nvPr>
        </p:nvSpPr>
        <p:spPr>
          <a:xfrm>
            <a:off x="4680000" y="1234440"/>
            <a:ext cx="4086000" cy="1618488"/>
          </a:xfrm>
          <a:prstGeom prst="rect">
            <a:avLst/>
          </a:prstGeom>
        </p:spPr>
        <p:txBody>
          <a:bodyPr/>
          <a:lstStyle>
            <a:lvl1pPr marL="180000" indent="-180000">
              <a:lnSpc>
                <a:spcPct val="100000"/>
              </a:lnSpc>
              <a:spcBef>
                <a:spcPts val="0"/>
              </a:spcBef>
              <a:buClr>
                <a:srgbClr val="830051"/>
              </a:buClr>
              <a:buFont typeface="Arial" pitchFamily="34" charset="0"/>
              <a:buChar char="•"/>
              <a:defRPr sz="1800">
                <a:solidFill>
                  <a:schemeClr val="tx1"/>
                </a:solidFill>
                <a:latin typeface="Arial" pitchFamily="34" charset="0"/>
                <a:cs typeface="Arial" pitchFamily="34" charset="0"/>
              </a:defRPr>
            </a:lvl1pPr>
            <a:lvl2pPr marL="540000" indent="-180000">
              <a:lnSpc>
                <a:spcPct val="100000"/>
              </a:lnSpc>
              <a:spcBef>
                <a:spcPts val="0"/>
              </a:spcBef>
              <a:defRPr sz="18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122708212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izal-76">
    <p:spTree>
      <p:nvGrpSpPr>
        <p:cNvPr id="1" name=""/>
        <p:cNvGrpSpPr/>
        <p:nvPr/>
      </p:nvGrpSpPr>
      <p:grpSpPr>
        <a:xfrm>
          <a:off x="0" y="0"/>
          <a:ext cx="0" cy="0"/>
          <a:chOff x="0" y="0"/>
          <a:chExt cx="0" cy="0"/>
        </a:xfrm>
      </p:grpSpPr>
      <p:sp>
        <p:nvSpPr>
          <p:cNvPr id="7" name="Text Placeholder 3"/>
          <p:cNvSpPr>
            <a:spLocks noGrp="1"/>
          </p:cNvSpPr>
          <p:nvPr>
            <p:ph type="body" sz="quarter" idx="11"/>
          </p:nvPr>
        </p:nvSpPr>
        <p:spPr>
          <a:xfrm>
            <a:off x="2376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8" name="Text Placeholder 3"/>
          <p:cNvSpPr>
            <a:spLocks noGrp="1"/>
          </p:cNvSpPr>
          <p:nvPr>
            <p:ph type="body" sz="quarter" idx="12"/>
          </p:nvPr>
        </p:nvSpPr>
        <p:spPr>
          <a:xfrm>
            <a:off x="6264000" y="1337391"/>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a:t>Click to edit Master text styles</a:t>
            </a:r>
          </a:p>
        </p:txBody>
      </p:sp>
      <p:sp>
        <p:nvSpPr>
          <p:cNvPr id="13" name="Text Placeholder 3"/>
          <p:cNvSpPr>
            <a:spLocks noGrp="1"/>
          </p:cNvSpPr>
          <p:nvPr>
            <p:ph type="body" sz="quarter" idx="13"/>
          </p:nvPr>
        </p:nvSpPr>
        <p:spPr>
          <a:xfrm>
            <a:off x="3240000" y="1329335"/>
            <a:ext cx="2664000" cy="702000"/>
          </a:xfrm>
          <a:prstGeom prst="rect">
            <a:avLst/>
          </a:prstGeom>
        </p:spPr>
        <p:txBody>
          <a:bodyPr vert="horz"/>
          <a:lstStyle>
            <a:lvl1pPr marL="0" indent="0" algn="l">
              <a:spcBef>
                <a:spcPts val="0"/>
              </a:spcBef>
              <a:buNone/>
              <a:defRPr sz="1200" b="1"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4"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
        <p:nvSpPr>
          <p:cNvPr id="11" name="Content Placeholder 2"/>
          <p:cNvSpPr>
            <a:spLocks noGrp="1"/>
          </p:cNvSpPr>
          <p:nvPr>
            <p:ph idx="17" hasCustomPrompt="1"/>
          </p:nvPr>
        </p:nvSpPr>
        <p:spPr>
          <a:xfrm>
            <a:off x="237600"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6" name="Content Placeholder 2"/>
          <p:cNvSpPr>
            <a:spLocks noGrp="1"/>
          </p:cNvSpPr>
          <p:nvPr>
            <p:ph idx="18" hasCustomPrompt="1"/>
          </p:nvPr>
        </p:nvSpPr>
        <p:spPr>
          <a:xfrm>
            <a:off x="3250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17" name="Content Placeholder 2"/>
          <p:cNvSpPr>
            <a:spLocks noGrp="1"/>
          </p:cNvSpPr>
          <p:nvPr>
            <p:ph idx="19" hasCustomPrompt="1"/>
          </p:nvPr>
        </p:nvSpPr>
        <p:spPr>
          <a:xfrm>
            <a:off x="6274223" y="2072820"/>
            <a:ext cx="2664000" cy="2015968"/>
          </a:xfrm>
          <a:prstGeom prst="rect">
            <a:avLst/>
          </a:prstGeom>
        </p:spPr>
        <p:txBody>
          <a:bodyPr/>
          <a:lstStyle>
            <a:lvl1pPr marL="180000" indent="-180000">
              <a:lnSpc>
                <a:spcPct val="100000"/>
              </a:lnSpc>
              <a:spcBef>
                <a:spcPts val="0"/>
              </a:spcBef>
              <a:buClr>
                <a:schemeClr val="tx2"/>
              </a:buClr>
              <a:buFont typeface="Arial" pitchFamily="34" charset="0"/>
              <a:buChar char="•"/>
              <a:defRPr sz="1400">
                <a:solidFill>
                  <a:schemeClr val="tx1"/>
                </a:solidFill>
                <a:latin typeface="Arial" pitchFamily="34" charset="0"/>
                <a:cs typeface="Arial" pitchFamily="34" charset="0"/>
              </a:defRPr>
            </a:lvl1pPr>
            <a:lvl2pPr marL="540000" indent="-180000">
              <a:lnSpc>
                <a:spcPct val="100000"/>
              </a:lnSpc>
              <a:spcBef>
                <a:spcPts val="0"/>
              </a:spcBef>
              <a:defRPr sz="1400" baseline="0">
                <a:solidFill>
                  <a:schemeClr val="tx1"/>
                </a:solidFill>
                <a:latin typeface="Arial" pitchFamily="34" charset="0"/>
                <a:cs typeface="Arial" pitchFamily="34" charset="0"/>
              </a:defRPr>
            </a:lvl2pPr>
            <a:lvl3pPr>
              <a:defRPr sz="1400" baseline="0">
                <a:latin typeface="Arial" pitchFamily="34" charset="0"/>
                <a:cs typeface="Arial" pitchFamily="34" charset="0"/>
              </a:defRPr>
            </a:lvl3pPr>
            <a:lvl4pPr marL="622800" indent="-180000">
              <a:defRPr sz="1400">
                <a:latin typeface="Arial" pitchFamily="34" charset="0"/>
                <a:cs typeface="Arial" pitchFamily="34" charset="0"/>
              </a:defRPr>
            </a:lvl4pPr>
            <a:lvl5pPr marL="622800">
              <a:defRPr sz="140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Tree>
    <p:extLst>
      <p:ext uri="{BB962C8B-B14F-4D97-AF65-F5344CB8AC3E}">
        <p14:creationId xmlns:p14="http://schemas.microsoft.com/office/powerpoint/2010/main" val="419029037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izal-77">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52800"/>
            <a:ext cx="4086000" cy="2835988"/>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7"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53605676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zal-78">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37600" y="1237099"/>
            <a:ext cx="4086000" cy="702000"/>
          </a:xfrm>
          <a:prstGeom prst="rect">
            <a:avLst/>
          </a:prstGeom>
        </p:spPr>
        <p:txBody>
          <a:bodyPr vert="horz"/>
          <a:lstStyle>
            <a:lvl1pPr marL="0" indent="0" algn="l">
              <a:spcBef>
                <a:spcPts val="0"/>
              </a:spcBef>
              <a:buNone/>
              <a:defRPr sz="1800" baseline="0">
                <a:solidFill>
                  <a:schemeClr val="tx1"/>
                </a:solidFill>
                <a:latin typeface="Arial" pitchFamily="34" charset="0"/>
                <a:cs typeface="Arial" pitchFamily="34" charset="0"/>
              </a:defRPr>
            </a:lvl1pPr>
            <a:lvl2pPr marL="342900" indent="0" algn="l">
              <a:buNone/>
              <a:defRPr sz="1050"/>
            </a:lvl2pPr>
            <a:lvl3pPr marL="685800" indent="0" algn="l">
              <a:buNone/>
              <a:defRPr sz="1050"/>
            </a:lvl3pPr>
            <a:lvl4pPr marL="1028700" indent="0" algn="l">
              <a:buNone/>
              <a:defRPr sz="1050"/>
            </a:lvl4pPr>
            <a:lvl5pPr marL="1371600" indent="0" algn="l">
              <a:buNone/>
              <a:defRPr sz="1050"/>
            </a:lvl5pPr>
          </a:lstStyle>
          <a:p>
            <a:pPr lvl="0"/>
            <a:r>
              <a:rPr lang="en-GB" noProof="0" dirty="0"/>
              <a:t>Click to edit Master text styles</a:t>
            </a:r>
          </a:p>
        </p:txBody>
      </p:sp>
      <p:sp>
        <p:nvSpPr>
          <p:cNvPr id="19" name="Picture Placeholder 16"/>
          <p:cNvSpPr>
            <a:spLocks noGrp="1"/>
          </p:cNvSpPr>
          <p:nvPr>
            <p:ph type="pic" sz="quarter" idx="14"/>
          </p:nvPr>
        </p:nvSpPr>
        <p:spPr>
          <a:xfrm>
            <a:off x="4680000" y="1261267"/>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0" name="Picture Placeholder 16"/>
          <p:cNvSpPr>
            <a:spLocks noGrp="1"/>
          </p:cNvSpPr>
          <p:nvPr>
            <p:ph type="pic" sz="quarter" idx="15"/>
          </p:nvPr>
        </p:nvSpPr>
        <p:spPr>
          <a:xfrm>
            <a:off x="4680000" y="2904253"/>
            <a:ext cx="4086000" cy="1485000"/>
          </a:xfrm>
          <a:prstGeom prst="rect">
            <a:avLst/>
          </a:prstGeom>
        </p:spPr>
        <p:txBody>
          <a:bodyPr vert="horz" lIns="0" tIns="0" rIns="0" bIns="0" anchor="ctr" anchorCtr="0"/>
          <a:lstStyle>
            <a:lvl1pPr marL="0" indent="0" algn="ctr">
              <a:spcBef>
                <a:spcPts val="0"/>
              </a:spcBef>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13970693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izal-79">
    <p:spTree>
      <p:nvGrpSpPr>
        <p:cNvPr id="1" name=""/>
        <p:cNvGrpSpPr/>
        <p:nvPr/>
      </p:nvGrpSpPr>
      <p:grpSpPr>
        <a:xfrm>
          <a:off x="0" y="0"/>
          <a:ext cx="0" cy="0"/>
          <a:chOff x="0" y="0"/>
          <a:chExt cx="0" cy="0"/>
        </a:xfrm>
      </p:grpSpPr>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7"/>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6"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8"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21528515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zal-80">
    <p:spTree>
      <p:nvGrpSpPr>
        <p:cNvPr id="1" name=""/>
        <p:cNvGrpSpPr/>
        <p:nvPr/>
      </p:nvGrpSpPr>
      <p:grpSpPr>
        <a:xfrm>
          <a:off x="0" y="0"/>
          <a:ext cx="0" cy="0"/>
          <a:chOff x="0" y="0"/>
          <a:chExt cx="0" cy="0"/>
        </a:xfrm>
      </p:grpSpPr>
      <p:sp>
        <p:nvSpPr>
          <p:cNvPr id="21" name="Picture Placeholder 16"/>
          <p:cNvSpPr>
            <a:spLocks noGrp="1"/>
          </p:cNvSpPr>
          <p:nvPr>
            <p:ph type="pic" sz="quarter" idx="15"/>
          </p:nvPr>
        </p:nvSpPr>
        <p:spPr>
          <a:xfrm>
            <a:off x="46188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2" name="Picture Placeholder 16"/>
          <p:cNvSpPr>
            <a:spLocks noGrp="1"/>
          </p:cNvSpPr>
          <p:nvPr>
            <p:ph type="pic" sz="quarter" idx="16"/>
          </p:nvPr>
        </p:nvSpPr>
        <p:spPr>
          <a:xfrm>
            <a:off x="327600" y="2766792"/>
            <a:ext cx="414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7" name="Text Placeholder 2"/>
          <p:cNvSpPr>
            <a:spLocks noGrp="1"/>
          </p:cNvSpPr>
          <p:nvPr>
            <p:ph type="body" sz="quarter" idx="13"/>
          </p:nvPr>
        </p:nvSpPr>
        <p:spPr>
          <a:xfrm>
            <a:off x="236537" y="1237099"/>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7"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52076269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izal-8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327600"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dirty="0"/>
              <a:t>Click icon to add picture</a:t>
            </a:r>
          </a:p>
        </p:txBody>
      </p:sp>
      <p:sp>
        <p:nvSpPr>
          <p:cNvPr id="18" name="Picture Placeholder 16"/>
          <p:cNvSpPr>
            <a:spLocks noGrp="1"/>
          </p:cNvSpPr>
          <p:nvPr>
            <p:ph type="pic" sz="quarter" idx="15"/>
          </p:nvPr>
        </p:nvSpPr>
        <p:spPr>
          <a:xfrm>
            <a:off x="3201023"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19" name="Picture Placeholder 16"/>
          <p:cNvSpPr>
            <a:spLocks noGrp="1"/>
          </p:cNvSpPr>
          <p:nvPr>
            <p:ph type="pic" sz="quarter" idx="16"/>
          </p:nvPr>
        </p:nvSpPr>
        <p:spPr>
          <a:xfrm>
            <a:off x="6067748" y="2766792"/>
            <a:ext cx="2700000" cy="1620000"/>
          </a:xfrm>
          <a:prstGeom prst="rect">
            <a:avLst/>
          </a:prstGeom>
        </p:spPr>
        <p:txBody>
          <a:bodyPr vert="horz" lIns="0" tIns="0" rIns="0" bIns="0" anchor="ctr" anchorCtr="0"/>
          <a:lstStyle>
            <a:lvl1pPr marL="0" indent="0" algn="ctr">
              <a:lnSpc>
                <a:spcPct val="100000"/>
              </a:lnSpc>
              <a:spcBef>
                <a:spcPts val="0"/>
              </a:spcBef>
              <a:spcAft>
                <a:spcPts val="0"/>
              </a:spcAft>
              <a:buNone/>
              <a:defRPr sz="1050" baseline="0">
                <a:solidFill>
                  <a:schemeClr val="tx1"/>
                </a:solidFill>
                <a:latin typeface="Arial" pitchFamily="34" charset="0"/>
                <a:cs typeface="Arial" pitchFamily="34" charset="0"/>
              </a:defRPr>
            </a:lvl1pPr>
          </a:lstStyle>
          <a:p>
            <a:r>
              <a:rPr lang="en-GB" noProof="0"/>
              <a:t>Click icon to add picture</a:t>
            </a:r>
          </a:p>
        </p:txBody>
      </p:sp>
      <p:sp>
        <p:nvSpPr>
          <p:cNvPr id="21" name="Text Placeholder 2"/>
          <p:cNvSpPr>
            <a:spLocks noGrp="1"/>
          </p:cNvSpPr>
          <p:nvPr>
            <p:ph type="body" sz="quarter" idx="13"/>
          </p:nvPr>
        </p:nvSpPr>
        <p:spPr>
          <a:xfrm>
            <a:off x="236537" y="1237098"/>
            <a:ext cx="7056000" cy="1440000"/>
          </a:xfrm>
          <a:prstGeom prst="rect">
            <a:avLst/>
          </a:prstGeom>
        </p:spPr>
        <p:txBody>
          <a:bodyPr vert="horz"/>
          <a:lstStyle>
            <a:lvl1pPr marL="0" marR="0" indent="0" algn="l" defTabSz="685800" rtl="0" eaLnBrk="1" fontAlgn="base" latinLnBrk="0" hangingPunct="1">
              <a:lnSpc>
                <a:spcPct val="100000"/>
              </a:lnSpc>
              <a:spcBef>
                <a:spcPts val="0"/>
              </a:spcBef>
              <a:spcAft>
                <a:spcPts val="0"/>
              </a:spcAft>
              <a:buClrTx/>
              <a:buSzTx/>
              <a:buFontTx/>
              <a:buNone/>
              <a:tabLst/>
              <a:defRPr sz="1800">
                <a:solidFill>
                  <a:schemeClr val="tx1"/>
                </a:solidFill>
                <a:latin typeface="Arial" pitchFamily="34" charset="0"/>
                <a:cs typeface="Arial" pitchFamily="34" charset="0"/>
              </a:defRPr>
            </a:lvl1pPr>
            <a:lvl2pPr marL="198835" marR="0" indent="-197644" algn="l" defTabSz="685800" rtl="0" eaLnBrk="1" fontAlgn="base" latinLnBrk="0" hangingPunct="1">
              <a:lnSpc>
                <a:spcPct val="90000"/>
              </a:lnSpc>
              <a:spcBef>
                <a:spcPct val="0"/>
              </a:spcBef>
              <a:spcAft>
                <a:spcPct val="0"/>
              </a:spcAft>
              <a:buClrTx/>
              <a:buSzTx/>
              <a:buFontTx/>
              <a:buChar char="•"/>
              <a:tabLst/>
              <a:defRPr sz="1350"/>
            </a:lvl2pPr>
            <a:lvl3pPr marL="466725" marR="0" indent="-135731" algn="l" defTabSz="685800" rtl="0" eaLnBrk="1" fontAlgn="base" latinLnBrk="0" hangingPunct="1">
              <a:lnSpc>
                <a:spcPct val="90000"/>
              </a:lnSpc>
              <a:spcBef>
                <a:spcPct val="0"/>
              </a:spcBef>
              <a:spcAft>
                <a:spcPct val="0"/>
              </a:spcAft>
              <a:buClrTx/>
              <a:buSzTx/>
              <a:buFont typeface="Arial" charset="0"/>
              <a:buChar char="-"/>
              <a:tabLst/>
              <a:defRPr sz="1350"/>
            </a:lvl3pPr>
            <a:lvl4pPr marL="1243013" indent="-214313">
              <a:buFont typeface="Arial"/>
              <a:buChar char="•"/>
              <a:defRPr sz="1350"/>
            </a:lvl4pPr>
            <a:lvl5pPr marL="1585913" indent="-214313">
              <a:buFont typeface="Arial"/>
              <a:buChar char="•"/>
              <a:defRPr sz="1350"/>
            </a:lvl5pPr>
          </a:lstStyle>
          <a:p>
            <a:pPr lvl="0"/>
            <a:r>
              <a:rPr lang="en-GB" noProof="0" dirty="0"/>
              <a:t>Click to edit Master text styles</a:t>
            </a:r>
          </a:p>
        </p:txBody>
      </p:sp>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10"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title</a:t>
            </a:r>
          </a:p>
        </p:txBody>
      </p:sp>
    </p:spTree>
    <p:extLst>
      <p:ext uri="{BB962C8B-B14F-4D97-AF65-F5344CB8AC3E}">
        <p14:creationId xmlns:p14="http://schemas.microsoft.com/office/powerpoint/2010/main" val="355112984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Dizal-82">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236537" y="1233071"/>
            <a:ext cx="8766174" cy="3172500"/>
          </a:xfrm>
          <a:prstGeom prst="rect">
            <a:avLst/>
          </a:prstGeom>
        </p:spPr>
        <p:txBody>
          <a:bodyPr/>
          <a:lstStyle>
            <a:lvl1pPr marL="269875" indent="-269875">
              <a:lnSpc>
                <a:spcPct val="100000"/>
              </a:lnSpc>
              <a:spcBef>
                <a:spcPts val="0"/>
              </a:spcBef>
              <a:buClrTx/>
              <a:buFont typeface="+mj-lt"/>
              <a:buAutoNum type="arabicPeriod"/>
              <a:defRPr sz="1800" b="1">
                <a:solidFill>
                  <a:schemeClr val="tx1"/>
                </a:solidFill>
                <a:latin typeface="Arial" pitchFamily="34" charset="0"/>
                <a:cs typeface="Arial" pitchFamily="34" charset="0"/>
              </a:defRPr>
            </a:lvl1pPr>
            <a:lvl2pPr marL="472500" indent="-135000">
              <a:lnSpc>
                <a:spcPct val="100000"/>
              </a:lnSpc>
              <a:spcBef>
                <a:spcPts val="0"/>
              </a:spcBef>
              <a:buClrTx/>
              <a:buFont typeface="Arial" pitchFamily="34" charset="0"/>
              <a:buChar char="•"/>
              <a:defRPr sz="1600" baseline="0">
                <a:solidFill>
                  <a:schemeClr val="tx1"/>
                </a:solidFill>
                <a:latin typeface="Arial" pitchFamily="34" charset="0"/>
                <a:cs typeface="Arial" pitchFamily="34" charset="0"/>
              </a:defRPr>
            </a:lvl2pPr>
            <a:lvl3pPr>
              <a:defRPr sz="1050" baseline="0">
                <a:latin typeface="Arial" pitchFamily="34" charset="0"/>
                <a:cs typeface="Arial" pitchFamily="34" charset="0"/>
              </a:defRPr>
            </a:lvl3pPr>
            <a:lvl4pPr marL="467100" indent="-135000">
              <a:defRPr sz="1050">
                <a:latin typeface="Arial" pitchFamily="34" charset="0"/>
                <a:cs typeface="Arial" pitchFamily="34" charset="0"/>
              </a:defRPr>
            </a:lvl4pPr>
            <a:lvl5pPr marL="467100">
              <a:defRPr sz="1050">
                <a:latin typeface="Arial" pitchFamily="34" charset="0"/>
                <a:cs typeface="Arial" pitchFamily="34" charset="0"/>
              </a:defRPr>
            </a:lvl5pPr>
            <a:lvl6pPr>
              <a:defRPr>
                <a:latin typeface="Arial" pitchFamily="34" charset="0"/>
                <a:cs typeface="Arial" pitchFamily="34" charset="0"/>
              </a:defRPr>
            </a:lvl6pPr>
          </a:lstStyle>
          <a:p>
            <a:r>
              <a:rPr lang="en-GB" noProof="0" dirty="0"/>
              <a:t>First level</a:t>
            </a:r>
          </a:p>
          <a:p>
            <a:pPr lvl="1"/>
            <a:r>
              <a:rPr lang="en-GB" noProof="0" dirty="0"/>
              <a:t>Second level</a:t>
            </a:r>
          </a:p>
          <a:p>
            <a:pPr lvl="1"/>
            <a:r>
              <a:rPr lang="en-GB" noProof="0" dirty="0"/>
              <a:t>Third level</a:t>
            </a:r>
          </a:p>
          <a:p>
            <a:pPr lvl="1"/>
            <a:r>
              <a:rPr lang="en-GB" noProof="0" dirty="0"/>
              <a:t>Fourth level</a:t>
            </a:r>
          </a:p>
        </p:txBody>
      </p:sp>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sp>
        <p:nvSpPr>
          <p:cNvPr id="9" name="Title 8"/>
          <p:cNvSpPr>
            <a:spLocks noGrp="1"/>
          </p:cNvSpPr>
          <p:nvPr>
            <p:ph type="title" hasCustomPrompt="1"/>
          </p:nvPr>
        </p:nvSpPr>
        <p:spPr>
          <a:xfrm>
            <a:off x="237062" y="144000"/>
            <a:ext cx="8765651" cy="504000"/>
          </a:xfrm>
          <a:prstGeom prst="rect">
            <a:avLst/>
          </a:prstGeom>
        </p:spPr>
        <p:txBody>
          <a:bodyPr vert="horz"/>
          <a:lstStyle>
            <a:lvl1pPr algn="l" defTabSz="457200" rtl="0" eaLnBrk="1" latinLnBrk="0" hangingPunct="1">
              <a:lnSpc>
                <a:spcPct val="100000"/>
              </a:lnSpc>
              <a:spcBef>
                <a:spcPct val="0"/>
              </a:spcBef>
              <a:buNone/>
              <a:defRPr lang="en-GB" sz="2400" b="1" kern="1200" baseline="0" noProof="0" dirty="0">
                <a:solidFill>
                  <a:srgbClr val="BF1733"/>
                </a:solidFill>
                <a:latin typeface="Arial" pitchFamily="34" charset="0"/>
                <a:ea typeface="+mj-ea"/>
                <a:cs typeface="Arial" pitchFamily="34" charset="0"/>
              </a:defRPr>
            </a:lvl1pPr>
          </a:lstStyle>
          <a:p>
            <a:r>
              <a:rPr lang="en-GB" noProof="0" dirty="0"/>
              <a:t>Click to add content title</a:t>
            </a:r>
          </a:p>
        </p:txBody>
      </p:sp>
    </p:spTree>
    <p:extLst>
      <p:ext uri="{BB962C8B-B14F-4D97-AF65-F5344CB8AC3E}">
        <p14:creationId xmlns:p14="http://schemas.microsoft.com/office/powerpoint/2010/main" val="216278813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11461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53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5.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image" Target="../media/image1.png"/><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theme" Target="../theme/theme7.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image" Target="../media/image33.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5.xml"/><Relationship Id="rId13" Type="http://schemas.openxmlformats.org/officeDocument/2006/relationships/slideLayout" Target="../slideLayouts/slideLayout100.xml"/><Relationship Id="rId18" Type="http://schemas.openxmlformats.org/officeDocument/2006/relationships/slideLayout" Target="../slideLayouts/slideLayout105.xml"/><Relationship Id="rId26" Type="http://schemas.openxmlformats.org/officeDocument/2006/relationships/image" Target="../media/image1.png"/><Relationship Id="rId3" Type="http://schemas.openxmlformats.org/officeDocument/2006/relationships/slideLayout" Target="../slideLayouts/slideLayout90.xml"/><Relationship Id="rId21" Type="http://schemas.openxmlformats.org/officeDocument/2006/relationships/slideLayout" Target="../slideLayouts/slideLayout108.xml"/><Relationship Id="rId7" Type="http://schemas.openxmlformats.org/officeDocument/2006/relationships/slideLayout" Target="../slideLayouts/slideLayout94.xml"/><Relationship Id="rId12" Type="http://schemas.openxmlformats.org/officeDocument/2006/relationships/slideLayout" Target="../slideLayouts/slideLayout99.xml"/><Relationship Id="rId17" Type="http://schemas.openxmlformats.org/officeDocument/2006/relationships/slideLayout" Target="../slideLayouts/slideLayout104.xml"/><Relationship Id="rId25" Type="http://schemas.openxmlformats.org/officeDocument/2006/relationships/theme" Target="../theme/theme8.xml"/><Relationship Id="rId2" Type="http://schemas.openxmlformats.org/officeDocument/2006/relationships/slideLayout" Target="../slideLayouts/slideLayout89.xml"/><Relationship Id="rId16" Type="http://schemas.openxmlformats.org/officeDocument/2006/relationships/slideLayout" Target="../slideLayouts/slideLayout103.xml"/><Relationship Id="rId20" Type="http://schemas.openxmlformats.org/officeDocument/2006/relationships/slideLayout" Target="../slideLayouts/slideLayout107.xml"/><Relationship Id="rId1" Type="http://schemas.openxmlformats.org/officeDocument/2006/relationships/slideLayout" Target="../slideLayouts/slideLayout88.xml"/><Relationship Id="rId6" Type="http://schemas.openxmlformats.org/officeDocument/2006/relationships/slideLayout" Target="../slideLayouts/slideLayout93.xml"/><Relationship Id="rId11" Type="http://schemas.openxmlformats.org/officeDocument/2006/relationships/slideLayout" Target="../slideLayouts/slideLayout98.xml"/><Relationship Id="rId24" Type="http://schemas.openxmlformats.org/officeDocument/2006/relationships/slideLayout" Target="../slideLayouts/slideLayout111.xml"/><Relationship Id="rId5" Type="http://schemas.openxmlformats.org/officeDocument/2006/relationships/slideLayout" Target="../slideLayouts/slideLayout92.xml"/><Relationship Id="rId15" Type="http://schemas.openxmlformats.org/officeDocument/2006/relationships/slideLayout" Target="../slideLayouts/slideLayout102.xml"/><Relationship Id="rId23" Type="http://schemas.openxmlformats.org/officeDocument/2006/relationships/slideLayout" Target="../slideLayouts/slideLayout110.xml"/><Relationship Id="rId10" Type="http://schemas.openxmlformats.org/officeDocument/2006/relationships/slideLayout" Target="../slideLayouts/slideLayout97.xml"/><Relationship Id="rId19" Type="http://schemas.openxmlformats.org/officeDocument/2006/relationships/slideLayout" Target="../slideLayouts/slideLayout106.xml"/><Relationship Id="rId4" Type="http://schemas.openxmlformats.org/officeDocument/2006/relationships/slideLayout" Target="../slideLayouts/slideLayout91.xml"/><Relationship Id="rId9" Type="http://schemas.openxmlformats.org/officeDocument/2006/relationships/slideLayout" Target="../slideLayouts/slideLayout96.xml"/><Relationship Id="rId14" Type="http://schemas.openxmlformats.org/officeDocument/2006/relationships/slideLayout" Target="../slideLayouts/slideLayout101.xml"/><Relationship Id="rId22" Type="http://schemas.openxmlformats.org/officeDocument/2006/relationships/slideLayout" Target="../slideLayouts/slideLayout109.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113.xml"/><Relationship Id="rId1" Type="http://schemas.openxmlformats.org/officeDocument/2006/relationships/slideLayout" Target="../slideLayouts/slideLayout1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4" name="Picture 22"/>
          <p:cNvPicPr>
            <a:picLocks noChangeAspect="1"/>
          </p:cNvPicPr>
          <p:nvPr userDrawn="1"/>
        </p:nvPicPr>
        <p:blipFill>
          <a:blip r:embed="rId17"/>
          <a:srcRect/>
          <a:stretch/>
        </p:blipFill>
        <p:spPr>
          <a:xfrm>
            <a:off x="7557867" y="211213"/>
            <a:ext cx="1122980" cy="437052"/>
          </a:xfrm>
          <a:prstGeom prst="rect">
            <a:avLst/>
          </a:prstGeom>
        </p:spPr>
      </p:pic>
    </p:spTree>
    <p:extLst>
      <p:ext uri="{BB962C8B-B14F-4D97-AF65-F5344CB8AC3E}">
        <p14:creationId xmlns:p14="http://schemas.microsoft.com/office/powerpoint/2010/main" val="3211318905"/>
      </p:ext>
    </p:extLst>
  </p:cSld>
  <p:clrMap bg1="lt1" tx1="dk1" bg2="lt2" tx2="dk2" accent1="accent1" accent2="accent2" accent3="accent3" accent4="accent4" accent5="accent5" accent6="accent6" hlink="hlink" folHlink="folHlink"/>
  <p:sldLayoutIdLst>
    <p:sldLayoutId id="2147483752" r:id="rId1"/>
    <p:sldLayoutId id="2147483790" r:id="rId2"/>
    <p:sldLayoutId id="2147483828" r:id="rId3"/>
    <p:sldLayoutId id="2147483829"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24" r:id="rId13"/>
    <p:sldLayoutId id="2147483826" r:id="rId14"/>
    <p:sldLayoutId id="2147483789" r:id="rId1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5">
            <a:extLst>
              <a:ext uri="{FF2B5EF4-FFF2-40B4-BE49-F238E27FC236}">
                <a16:creationId xmlns:a16="http://schemas.microsoft.com/office/drawing/2014/main" id="{79A0EE67-B367-460C-99ED-40694334B109}"/>
              </a:ext>
            </a:extLst>
          </p:cNvPr>
          <p:cNvPicPr>
            <a:picLocks noChangeAspect="1" noChangeArrowheads="1"/>
          </p:cNvPicPr>
          <p:nvPr userDrawn="1"/>
        </p:nvPicPr>
        <p:blipFill>
          <a:blip r:embed="rId16"/>
          <a:srcRect/>
          <a:stretch/>
        </p:blipFill>
        <p:spPr bwMode="auto">
          <a:xfrm>
            <a:off x="7275832" y="4308468"/>
            <a:ext cx="1295000"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52965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60" r:id="rId5"/>
    <p:sldLayoutId id="2147483861" r:id="rId6"/>
    <p:sldLayoutId id="2147483862" r:id="rId7"/>
    <p:sldLayoutId id="2147483863" r:id="rId8"/>
    <p:sldLayoutId id="2147483864" r:id="rId9"/>
    <p:sldLayoutId id="2147483810" r:id="rId10"/>
    <p:sldLayoutId id="2147483825" r:id="rId11"/>
    <p:sldLayoutId id="2147483827" r:id="rId12"/>
    <p:sldLayoutId id="2147483816" r:id="rId13"/>
    <p:sldLayoutId id="2147483817" r:id="rId14"/>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703F0-5D1C-41EB-9D2A-92EFA7741ECA}"/>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961D6-4A81-43F7-839D-BA69B91A446E}"/>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61009-23D4-4BA7-B781-153E9A39A0C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A118391F-D1C3-4885-8932-63DF2F9BE931}" type="datetimeFigureOut">
              <a:rPr lang="en-US" smtClean="0"/>
              <a:t>6/10/2026</a:t>
            </a:fld>
            <a:endParaRPr lang="en-US"/>
          </a:p>
        </p:txBody>
      </p:sp>
      <p:sp>
        <p:nvSpPr>
          <p:cNvPr id="5" name="Footer Placeholder 4">
            <a:extLst>
              <a:ext uri="{FF2B5EF4-FFF2-40B4-BE49-F238E27FC236}">
                <a16:creationId xmlns:a16="http://schemas.microsoft.com/office/drawing/2014/main" id="{757018D2-E507-4C30-9152-41C76B134E1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DE9477-B436-49CA-9ED3-0E239C4526F5}"/>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E801591D-55CD-4B50-990A-72ADD67E2A1E}" type="slidenum">
              <a:rPr lang="en-US" smtClean="0"/>
              <a:t>‹#›</a:t>
            </a:fld>
            <a:endParaRPr lang="en-US"/>
          </a:p>
        </p:txBody>
      </p:sp>
    </p:spTree>
    <p:extLst>
      <p:ext uri="{BB962C8B-B14F-4D97-AF65-F5344CB8AC3E}">
        <p14:creationId xmlns:p14="http://schemas.microsoft.com/office/powerpoint/2010/main" val="2596818740"/>
      </p:ext>
    </p:extLst>
  </p:cSld>
  <p:clrMap bg1="lt1" tx1="dk1" bg2="lt2" tx2="dk2" accent1="accent1" accent2="accent2" accent3="accent3" accent4="accent4" accent5="accent5" accent6="accent6" hlink="hlink" folHlink="folHlink"/>
  <p:sldLayoutIdLst>
    <p:sldLayoutId id="21474838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703F0-5D1C-41EB-9D2A-92EFA7741ECA}"/>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961D6-4A81-43F7-839D-BA69B91A446E}"/>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61009-23D4-4BA7-B781-153E9A39A0C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A118391F-D1C3-4885-8932-63DF2F9BE931}" type="datetimeFigureOut">
              <a:rPr lang="en-US" smtClean="0"/>
              <a:t>6/10/2026</a:t>
            </a:fld>
            <a:endParaRPr lang="en-US"/>
          </a:p>
        </p:txBody>
      </p:sp>
      <p:sp>
        <p:nvSpPr>
          <p:cNvPr id="5" name="Footer Placeholder 4">
            <a:extLst>
              <a:ext uri="{FF2B5EF4-FFF2-40B4-BE49-F238E27FC236}">
                <a16:creationId xmlns:a16="http://schemas.microsoft.com/office/drawing/2014/main" id="{757018D2-E507-4C30-9152-41C76B134E1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DE9477-B436-49CA-9ED3-0E239C4526F5}"/>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E801591D-55CD-4B50-990A-72ADD67E2A1E}" type="slidenum">
              <a:rPr lang="en-US" smtClean="0"/>
              <a:t>‹#›</a:t>
            </a:fld>
            <a:endParaRPr lang="en-US"/>
          </a:p>
        </p:txBody>
      </p:sp>
    </p:spTree>
    <p:extLst>
      <p:ext uri="{BB962C8B-B14F-4D97-AF65-F5344CB8AC3E}">
        <p14:creationId xmlns:p14="http://schemas.microsoft.com/office/powerpoint/2010/main" val="3030269358"/>
      </p:ext>
    </p:extLst>
  </p:cSld>
  <p:clrMap bg1="lt1" tx1="dk1" bg2="lt2" tx2="dk2" accent1="accent1" accent2="accent2" accent3="accent3" accent4="accent4" accent5="accent5" accent6="accent6" hlink="hlink" folHlink="folHlink"/>
  <p:sldLayoutIdLst>
    <p:sldLayoutId id="21474838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7" name="Picture 6">
            <a:extLst>
              <a:ext uri="{FF2B5EF4-FFF2-40B4-BE49-F238E27FC236}">
                <a16:creationId xmlns:a16="http://schemas.microsoft.com/office/drawing/2014/main" id="{ED7AEEA9-3FC1-4F79-B6FD-E736EE2E223F}"/>
              </a:ext>
            </a:extLst>
          </p:cNvPr>
          <p:cNvPicPr>
            <a:picLocks noChangeAspect="1" noChangeArrowheads="1"/>
          </p:cNvPicPr>
          <p:nvPr userDrawn="1"/>
        </p:nvPicPr>
        <p:blipFill>
          <a:blip r:embed="rId7"/>
          <a:srcRect/>
          <a:stretch/>
        </p:blipFill>
        <p:spPr bwMode="auto">
          <a:xfrm>
            <a:off x="7396526" y="4504754"/>
            <a:ext cx="1295000"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0800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5">
            <a:extLst>
              <a:ext uri="{FF2B5EF4-FFF2-40B4-BE49-F238E27FC236}">
                <a16:creationId xmlns:a16="http://schemas.microsoft.com/office/drawing/2014/main" id="{D3B379C8-5F15-4498-A1D3-D47F01191BE6}"/>
              </a:ext>
            </a:extLst>
          </p:cNvPr>
          <p:cNvPicPr>
            <a:picLocks noChangeAspect="1" noChangeArrowheads="1"/>
          </p:cNvPicPr>
          <p:nvPr userDrawn="1"/>
        </p:nvPicPr>
        <p:blipFill>
          <a:blip r:embed="rId28"/>
          <a:srcRect/>
          <a:stretch/>
        </p:blipFill>
        <p:spPr bwMode="auto">
          <a:xfrm>
            <a:off x="7396526" y="4504754"/>
            <a:ext cx="1295000"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332996"/>
      </p:ext>
    </p:extLst>
  </p:cSld>
  <p:clrMap bg1="lt1" tx1="dk1" bg2="lt2" tx2="dk2" accent1="accent1" accent2="accent2" accent3="accent3" accent4="accent4" accent5="accent5" accent6="accent6" hlink="hlink" folHlink="folHlink"/>
  <p:sldLayoutIdLst>
    <p:sldLayoutId id="2147483676" r:id="rId1"/>
    <p:sldLayoutId id="2147483714" r:id="rId2"/>
    <p:sldLayoutId id="2147483720" r:id="rId3"/>
    <p:sldLayoutId id="2147483721" r:id="rId4"/>
    <p:sldLayoutId id="2147483722" r:id="rId5"/>
    <p:sldLayoutId id="2147483723" r:id="rId6"/>
    <p:sldLayoutId id="214748372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891" r:id="rId25"/>
    <p:sldLayoutId id="2147483893" r:id="rId2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2" name="Picture 1" descr="AZ_SYMBOL_RGB.jpg">
            <a:extLst>
              <a:ext uri="{FF2B5EF4-FFF2-40B4-BE49-F238E27FC236}">
                <a16:creationId xmlns:a16="http://schemas.microsoft.com/office/drawing/2014/main" id="{63CCFD67-F407-9FD8-9CF0-E642F04D6B0B}"/>
              </a:ext>
            </a:extLst>
          </p:cNvPr>
          <p:cNvPicPr>
            <a:picLocks noChangeAspect="1"/>
          </p:cNvPicPr>
          <p:nvPr userDrawn="1"/>
        </p:nvPicPr>
        <p:blipFill>
          <a:blip r:embed="rId27"/>
          <a:stretch>
            <a:fillRect/>
          </a:stretch>
        </p:blipFill>
        <p:spPr>
          <a:xfrm>
            <a:off x="8526999" y="4497844"/>
            <a:ext cx="400713" cy="522161"/>
          </a:xfrm>
          <a:prstGeom prst="rect">
            <a:avLst/>
          </a:prstGeom>
          <a:noFill/>
          <a:ln>
            <a:noFill/>
          </a:ln>
        </p:spPr>
      </p:pic>
    </p:spTree>
    <p:extLst>
      <p:ext uri="{BB962C8B-B14F-4D97-AF65-F5344CB8AC3E}">
        <p14:creationId xmlns:p14="http://schemas.microsoft.com/office/powerpoint/2010/main" val="1775128444"/>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 id="2147483882" r:id="rId17"/>
    <p:sldLayoutId id="2147483883" r:id="rId18"/>
    <p:sldLayoutId id="2147483884" r:id="rId19"/>
    <p:sldLayoutId id="2147483885" r:id="rId20"/>
    <p:sldLayoutId id="2147483886" r:id="rId21"/>
    <p:sldLayoutId id="2147483887" r:id="rId22"/>
    <p:sldLayoutId id="2147483888" r:id="rId23"/>
    <p:sldLayoutId id="2147483889" r:id="rId24"/>
    <p:sldLayoutId id="2147483892" r:id="rId2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Slide Number Placeholder 5"/>
          <p:cNvSpPr>
            <a:spLocks noGrp="1"/>
          </p:cNvSpPr>
          <p:nvPr>
            <p:ph type="sldNum" sz="quarter" idx="4"/>
          </p:nvPr>
        </p:nvSpPr>
        <p:spPr>
          <a:xfrm>
            <a:off x="318375" y="4846754"/>
            <a:ext cx="396000" cy="162000"/>
          </a:xfrm>
          <a:prstGeom prst="rect">
            <a:avLst/>
          </a:prstGeom>
        </p:spPr>
        <p:txBody>
          <a:bodyPr vert="horz" lIns="0" tIns="0" rIns="0" bIns="0" rtlCol="0" anchor="t" anchorCtr="0"/>
          <a:lstStyle>
            <a:lvl1pPr algn="l">
              <a:defRPr sz="800" b="1">
                <a:solidFill>
                  <a:schemeClr val="tx1"/>
                </a:solidFill>
                <a:latin typeface="Arial" pitchFamily="34" charset="0"/>
                <a:cs typeface="Arial" pitchFamily="34" charset="0"/>
              </a:defRPr>
            </a:lvl1pPr>
          </a:lstStyle>
          <a:p>
            <a:fld id="{3C4F54F3-C349-4609-AFEE-01462D5C7942}" type="slidenum">
              <a:rPr lang="en-GB" smtClean="0"/>
              <a:pPr/>
              <a:t>‹#›</a:t>
            </a:fld>
            <a:endParaRPr lang="en-GB" dirty="0"/>
          </a:p>
        </p:txBody>
      </p:sp>
      <p:pic>
        <p:nvPicPr>
          <p:cNvPr id="6" name="Picture 5">
            <a:extLst>
              <a:ext uri="{FF2B5EF4-FFF2-40B4-BE49-F238E27FC236}">
                <a16:creationId xmlns:a16="http://schemas.microsoft.com/office/drawing/2014/main" id="{D3B379C8-5F15-4498-A1D3-D47F01191BE6}"/>
              </a:ext>
            </a:extLst>
          </p:cNvPr>
          <p:cNvPicPr>
            <a:picLocks noChangeAspect="1" noChangeArrowheads="1"/>
          </p:cNvPicPr>
          <p:nvPr userDrawn="1"/>
        </p:nvPicPr>
        <p:blipFill>
          <a:blip r:embed="rId26"/>
          <a:srcRect/>
          <a:stretch/>
        </p:blipFill>
        <p:spPr bwMode="auto">
          <a:xfrm>
            <a:off x="7415358" y="181425"/>
            <a:ext cx="1295000" cy="5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0172323"/>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 id="2147483848" r:id="rId18"/>
    <p:sldLayoutId id="2147483849" r:id="rId19"/>
    <p:sldLayoutId id="2147483850" r:id="rId20"/>
    <p:sldLayoutId id="2147483851" r:id="rId21"/>
    <p:sldLayoutId id="2147483852" r:id="rId22"/>
    <p:sldLayoutId id="2147483853" r:id="rId23"/>
    <p:sldLayoutId id="2147483854" r:id="rId24"/>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742402"/>
      </p:ext>
    </p:extLst>
  </p:cSld>
  <p:clrMap bg1="lt1" tx1="dk1" bg2="lt2" tx2="dk2" accent1="accent1" accent2="accent2" accent3="accent3" accent4="accent4" accent5="accent5" accent6="accent6" hlink="hlink" folHlink="folHlink"/>
  <p:sldLayoutIdLst>
    <p:sldLayoutId id="2147483895" r:id="rId1"/>
    <p:sldLayoutId id="2147483896" r:id="rId2"/>
  </p:sldLayoutIdLst>
  <p:hf sldNum="0" hdr="0" ftr="0" dt="0"/>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09" indent="-160734"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3" Type="http://schemas.openxmlformats.org/officeDocument/2006/relationships/hyperlink" Target="https://www.ema.europa.eu/en/documents/scientific-guideline/guideline-investigation-subgroups-confirmatory-clinical-trials_en.pdf" TargetMode="External"/><Relationship Id="rId2" Type="http://schemas.openxmlformats.org/officeDocument/2006/relationships/notesSlide" Target="../notesSlides/notesSlide2.xml"/><Relationship Id="rId1" Type="http://schemas.openxmlformats.org/officeDocument/2006/relationships/slideLayout" Target="../slideLayouts/slideLayout61.xml"/><Relationship Id="rId4" Type="http://schemas.openxmlformats.org/officeDocument/2006/relationships/hyperlink" Target="https://pubmed.ncbi.nlm.nih.gov/3411703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8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61.xml"/><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14.xml.rels><?xml version="1.0" encoding="UTF-8" standalone="yes"?>
<Relationships xmlns="http://schemas.openxmlformats.org/package/2006/relationships"><Relationship Id="rId3" Type="http://schemas.openxmlformats.org/officeDocument/2006/relationships/hyperlink" Target="https://www.nejm.org/doi/full/10.1056/NEJMoa2115304" TargetMode="External"/><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35_0.xml"/><Relationship Id="rId2" Type="http://schemas.openxmlformats.org/officeDocument/2006/relationships/notesSlide" Target="../notesSlides/notesSlide13.xml"/><Relationship Id="rId1" Type="http://schemas.openxmlformats.org/officeDocument/2006/relationships/slideLayout" Target="../slideLayouts/slideLayout87.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8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亚组分析</a:t>
            </a:r>
            <a:r>
              <a:rPr lang="en-US" altLang="zh-CN" dirty="0">
                <a:latin typeface="微软雅黑" panose="020B0503020204020204" pitchFamily="34" charset="-122"/>
                <a:ea typeface="微软雅黑" panose="020B0503020204020204" pitchFamily="34" charset="-122"/>
              </a:rPr>
              <a:t>&amp;</a:t>
            </a:r>
            <a:r>
              <a:rPr lang="zh-CN" altLang="en-US" dirty="0">
                <a:latin typeface="微软雅黑" panose="020B0503020204020204" pitchFamily="34" charset="-122"/>
                <a:ea typeface="微软雅黑" panose="020B0503020204020204" pitchFamily="34" charset="-122"/>
              </a:rPr>
              <a:t>分层因素考量</a:t>
            </a:r>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
        <p:nvSpPr>
          <p:cNvPr id="5" name="文本占位符 4"/>
          <p:cNvSpPr>
            <a:spLocks noGrp="1"/>
          </p:cNvSpPr>
          <p:nvPr>
            <p:ph type="body" sz="quarter" idx="15"/>
          </p:nvPr>
        </p:nvSpPr>
        <p:spPr/>
        <p:txBody>
          <a:bodyPr/>
          <a:lstStyle/>
          <a:p>
            <a:endParaRPr lang="zh-CN" altLang="en-US"/>
          </a:p>
        </p:txBody>
      </p:sp>
      <p:sp>
        <p:nvSpPr>
          <p:cNvPr id="6" name="文本占位符 5"/>
          <p:cNvSpPr>
            <a:spLocks noGrp="1"/>
          </p:cNvSpPr>
          <p:nvPr>
            <p:ph type="body" sz="quarter" idx="13"/>
          </p:nvPr>
        </p:nvSpPr>
        <p:spPr/>
        <p:txBody>
          <a:bodyPr/>
          <a:lstStyle/>
          <a:p>
            <a:endParaRPr lang="zh-CN" altLang="en-US"/>
          </a:p>
        </p:txBody>
      </p:sp>
      <p:sp>
        <p:nvSpPr>
          <p:cNvPr id="7" name="灯片编号占位符 6"/>
          <p:cNvSpPr>
            <a:spLocks noGrp="1"/>
          </p:cNvSpPr>
          <p:nvPr>
            <p:ph type="sldNum" sz="quarter" idx="4"/>
          </p:nvPr>
        </p:nvSpPr>
        <p:spPr/>
        <p:txBody>
          <a:bodyPr/>
          <a:lstStyle/>
          <a:p>
            <a:fld id="{3C4F54F3-C349-4609-AFEE-01462D5C7942}" type="slidenum">
              <a:rPr lang="en-GB" smtClean="0"/>
              <a:pPr/>
              <a:t>1</a:t>
            </a:fld>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4056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2906" y="1092995"/>
            <a:ext cx="3214688" cy="571500"/>
          </a:xfrm>
          <a:prstGeom prst="rect">
            <a:avLst/>
          </a:prstGeom>
          <a:noFill/>
          <a:ln/>
        </p:spPr>
        <p:txBody>
          <a:bodyPr wrap="none" lIns="0" tIns="0" rIns="0" bIns="0" rtlCol="0" anchor="t"/>
          <a:lstStyle/>
          <a:p>
            <a:pPr>
              <a:lnSpc>
                <a:spcPct val="100000"/>
              </a:lnSpc>
            </a:pPr>
            <a:r>
              <a:rPr lang="en-US" sz="4050" b="1" kern="0" spc="338" dirty="0">
                <a:solidFill>
                  <a:srgbClr val="BF1733"/>
                </a:solidFill>
                <a:latin typeface="Times New Roman" panose="02020603050405020304" pitchFamily="18" charset="0"/>
                <a:ea typeface="Liter" pitchFamily="34" charset="-122"/>
                <a:cs typeface="Times New Roman" panose="02020603050405020304" pitchFamily="18" charset="0"/>
              </a:rPr>
              <a:t>CONTENTS</a:t>
            </a:r>
            <a:endParaRPr lang="en-US" sz="4050" dirty="0">
              <a:solidFill>
                <a:srgbClr val="BF1733"/>
              </a:solidFill>
              <a:latin typeface="Times New Roman" panose="02020603050405020304" pitchFamily="18" charset="0"/>
              <a:cs typeface="Times New Roman" panose="02020603050405020304" pitchFamily="18" charset="0"/>
            </a:endParaRPr>
          </a:p>
        </p:txBody>
      </p:sp>
      <p:sp>
        <p:nvSpPr>
          <p:cNvPr id="3" name="Text 1"/>
          <p:cNvSpPr/>
          <p:nvPr/>
        </p:nvSpPr>
        <p:spPr>
          <a:xfrm>
            <a:off x="571500" y="2071688"/>
            <a:ext cx="1428750" cy="400050"/>
          </a:xfrm>
          <a:prstGeom prst="rect">
            <a:avLst/>
          </a:prstGeom>
          <a:noFill/>
          <a:ln/>
        </p:spPr>
        <p:txBody>
          <a:bodyPr wrap="none" lIns="0" tIns="0" rIns="0" bIns="0" rtlCol="0" anchor="ctr"/>
          <a:lstStyle/>
          <a:p>
            <a:pPr>
              <a:lnSpc>
                <a:spcPct val="100000"/>
              </a:lnSpc>
            </a:pPr>
            <a:r>
              <a:rPr lang="en-US" sz="2250" b="1" dirty="0">
                <a:solidFill>
                  <a:srgbClr val="1E293B"/>
                </a:solidFill>
                <a:latin typeface="Liter" pitchFamily="34" charset="0"/>
                <a:ea typeface="Liter" pitchFamily="34" charset="-122"/>
                <a:cs typeface="Liter" pitchFamily="34" charset="-120"/>
              </a:rPr>
              <a:t>目录</a:t>
            </a:r>
            <a:endParaRPr lang="en-US" sz="2250" dirty="0"/>
          </a:p>
        </p:txBody>
      </p:sp>
      <p:sp>
        <p:nvSpPr>
          <p:cNvPr id="4" name="Shape 2"/>
          <p:cNvSpPr/>
          <p:nvPr/>
        </p:nvSpPr>
        <p:spPr>
          <a:xfrm>
            <a:off x="571500" y="2714625"/>
            <a:ext cx="285750" cy="28575"/>
          </a:xfrm>
          <a:prstGeom prst="rect">
            <a:avLst/>
          </a:prstGeom>
          <a:solidFill>
            <a:srgbClr val="C2410C"/>
          </a:solidFill>
          <a:ln/>
        </p:spPr>
        <p:txBody>
          <a:bodyPr/>
          <a:lstStyle/>
          <a:p>
            <a:endParaRPr lang="en-US"/>
          </a:p>
        </p:txBody>
      </p:sp>
      <p:sp>
        <p:nvSpPr>
          <p:cNvPr id="9" name="Text 7"/>
          <p:cNvSpPr/>
          <p:nvPr/>
        </p:nvSpPr>
        <p:spPr>
          <a:xfrm>
            <a:off x="4000500" y="1871662"/>
            <a:ext cx="571500" cy="464344"/>
          </a:xfrm>
          <a:prstGeom prst="rect">
            <a:avLst/>
          </a:prstGeom>
          <a:noFill/>
          <a:ln/>
        </p:spPr>
        <p:txBody>
          <a:bodyPr wrap="none" lIns="0" tIns="0" rIns="0" bIns="0" rtlCol="0" anchor="t"/>
          <a:lstStyle/>
          <a:p>
            <a:pPr>
              <a:lnSpc>
                <a:spcPct val="100000"/>
              </a:lnSpc>
            </a:pPr>
            <a:r>
              <a:rPr lang="en-US" sz="2700" b="1" dirty="0">
                <a:solidFill>
                  <a:srgbClr val="1E293B"/>
                </a:solidFill>
                <a:latin typeface="Liter" pitchFamily="34" charset="0"/>
                <a:ea typeface="Liter" pitchFamily="34" charset="-122"/>
                <a:cs typeface="Liter" pitchFamily="34" charset="-120"/>
              </a:rPr>
              <a:t>01</a:t>
            </a:r>
            <a:endParaRPr lang="en-US" sz="2700" dirty="0"/>
          </a:p>
        </p:txBody>
      </p:sp>
      <p:sp>
        <p:nvSpPr>
          <p:cNvPr id="10" name="Text 8"/>
          <p:cNvSpPr/>
          <p:nvPr/>
        </p:nvSpPr>
        <p:spPr>
          <a:xfrm>
            <a:off x="4643437" y="1928813"/>
            <a:ext cx="3929063" cy="250031"/>
          </a:xfrm>
          <a:prstGeom prst="rect">
            <a:avLst/>
          </a:prstGeom>
          <a:noFill/>
          <a:ln/>
        </p:spPr>
        <p:txBody>
          <a:bodyPr wrap="none" lIns="0" tIns="0" rIns="0" bIns="0" rtlCol="0" anchor="ctr"/>
          <a:lstStyle/>
          <a:p>
            <a:pPr>
              <a:lnSpc>
                <a:spcPct val="100000"/>
              </a:lnSpc>
            </a:pPr>
            <a:r>
              <a:rPr lang="en-US" sz="1350" dirty="0" err="1">
                <a:solidFill>
                  <a:srgbClr val="334155"/>
                </a:solidFill>
                <a:latin typeface="Liter" pitchFamily="34" charset="0"/>
                <a:ea typeface="Liter" pitchFamily="34" charset="-122"/>
                <a:cs typeface="Liter" pitchFamily="34" charset="-120"/>
              </a:rPr>
              <a:t>分层因素的选择与数量</a:t>
            </a:r>
            <a:r>
              <a:rPr lang="en-US" sz="1350" dirty="0">
                <a:solidFill>
                  <a:srgbClr val="334155"/>
                </a:solidFill>
                <a:latin typeface="Liter" pitchFamily="34" charset="0"/>
                <a:ea typeface="Liter" pitchFamily="34" charset="-122"/>
                <a:cs typeface="Liter" pitchFamily="34" charset="-120"/>
              </a:rPr>
              <a:t> </a:t>
            </a:r>
            <a:endParaRPr lang="en-US" sz="1350" dirty="0"/>
          </a:p>
        </p:txBody>
      </p:sp>
      <p:sp>
        <p:nvSpPr>
          <p:cNvPr id="11" name="Shape 9"/>
          <p:cNvSpPr/>
          <p:nvPr/>
        </p:nvSpPr>
        <p:spPr>
          <a:xfrm>
            <a:off x="4000500" y="2550319"/>
            <a:ext cx="4572000" cy="0"/>
          </a:xfrm>
          <a:prstGeom prst="straightConnector1">
            <a:avLst/>
          </a:prstGeom>
          <a:noFill/>
          <a:ln w="12700">
            <a:solidFill>
              <a:srgbClr val="E2E8F0"/>
            </a:solidFill>
            <a:prstDash val="solid"/>
            <a:headEnd type="none"/>
            <a:tailEnd type="none"/>
          </a:ln>
        </p:spPr>
        <p:txBody>
          <a:bodyPr/>
          <a:lstStyle/>
          <a:p>
            <a:endParaRPr lang="en-US"/>
          </a:p>
        </p:txBody>
      </p:sp>
      <p:sp>
        <p:nvSpPr>
          <p:cNvPr id="12" name="Text 10"/>
          <p:cNvSpPr/>
          <p:nvPr/>
        </p:nvSpPr>
        <p:spPr>
          <a:xfrm>
            <a:off x="4000500" y="2814637"/>
            <a:ext cx="571500" cy="464344"/>
          </a:xfrm>
          <a:prstGeom prst="rect">
            <a:avLst/>
          </a:prstGeom>
          <a:noFill/>
          <a:ln/>
        </p:spPr>
        <p:txBody>
          <a:bodyPr wrap="none" lIns="0" tIns="0" rIns="0" bIns="0" rtlCol="0" anchor="t"/>
          <a:lstStyle/>
          <a:p>
            <a:pPr>
              <a:lnSpc>
                <a:spcPct val="100000"/>
              </a:lnSpc>
            </a:pPr>
            <a:r>
              <a:rPr lang="en-US" sz="2700" b="1" dirty="0">
                <a:solidFill>
                  <a:srgbClr val="1E293B"/>
                </a:solidFill>
                <a:latin typeface="Liter" pitchFamily="34" charset="0"/>
                <a:ea typeface="Liter" pitchFamily="34" charset="-122"/>
                <a:cs typeface="Liter" pitchFamily="34" charset="-120"/>
              </a:rPr>
              <a:t>02</a:t>
            </a:r>
            <a:endParaRPr lang="en-US" sz="2700" dirty="0"/>
          </a:p>
        </p:txBody>
      </p:sp>
      <p:sp>
        <p:nvSpPr>
          <p:cNvPr id="13" name="Text 11"/>
          <p:cNvSpPr/>
          <p:nvPr/>
        </p:nvSpPr>
        <p:spPr>
          <a:xfrm>
            <a:off x="4643437" y="2871788"/>
            <a:ext cx="3929063" cy="250031"/>
          </a:xfrm>
          <a:prstGeom prst="rect">
            <a:avLst/>
          </a:prstGeom>
          <a:noFill/>
          <a:ln/>
        </p:spPr>
        <p:txBody>
          <a:bodyPr wrap="none" lIns="0" tIns="0" rIns="0" bIns="0" rtlCol="0" anchor="ctr"/>
          <a:lstStyle/>
          <a:p>
            <a:pPr>
              <a:lnSpc>
                <a:spcPct val="100000"/>
              </a:lnSpc>
            </a:pPr>
            <a:r>
              <a:rPr lang="en-US" sz="1350" dirty="0" err="1">
                <a:solidFill>
                  <a:srgbClr val="334155"/>
                </a:solidFill>
                <a:latin typeface="Liter" pitchFamily="34" charset="0"/>
                <a:ea typeface="Liter" pitchFamily="34" charset="-122"/>
                <a:cs typeface="Liter" pitchFamily="34" charset="-120"/>
              </a:rPr>
              <a:t>亚组分析</a:t>
            </a:r>
            <a:r>
              <a:rPr lang="zh-CN" altLang="en-US" sz="1350" dirty="0">
                <a:solidFill>
                  <a:srgbClr val="334155"/>
                </a:solidFill>
                <a:latin typeface="Liter" pitchFamily="34" charset="0"/>
                <a:ea typeface="Liter" pitchFamily="34" charset="-122"/>
                <a:cs typeface="Liter" pitchFamily="34" charset="-120"/>
              </a:rPr>
              <a:t>考量</a:t>
            </a:r>
            <a:r>
              <a:rPr lang="en-US" altLang="zh-CN" sz="1350" dirty="0">
                <a:solidFill>
                  <a:srgbClr val="334155"/>
                </a:solidFill>
                <a:latin typeface="Liter" pitchFamily="34" charset="0"/>
                <a:ea typeface="Liter" pitchFamily="34" charset="-122"/>
                <a:cs typeface="Liter" pitchFamily="34" charset="-120"/>
              </a:rPr>
              <a:t>&amp; TTE</a:t>
            </a:r>
            <a:r>
              <a:rPr lang="zh-CN" altLang="en-US" sz="1350" dirty="0">
                <a:solidFill>
                  <a:srgbClr val="334155"/>
                </a:solidFill>
                <a:latin typeface="Liter" pitchFamily="34" charset="0"/>
                <a:ea typeface="Liter" pitchFamily="34" charset="-122"/>
                <a:cs typeface="Liter" pitchFamily="34" charset="-120"/>
              </a:rPr>
              <a:t>终点亚组分析</a:t>
            </a:r>
            <a:endParaRPr lang="en-US" sz="1350" dirty="0"/>
          </a:p>
        </p:txBody>
      </p:sp>
      <p:sp>
        <p:nvSpPr>
          <p:cNvPr id="14" name="Shape 12"/>
          <p:cNvSpPr/>
          <p:nvPr/>
        </p:nvSpPr>
        <p:spPr>
          <a:xfrm>
            <a:off x="4000500" y="3493294"/>
            <a:ext cx="4572000" cy="0"/>
          </a:xfrm>
          <a:prstGeom prst="straightConnector1">
            <a:avLst/>
          </a:prstGeom>
          <a:noFill/>
          <a:ln w="12700">
            <a:solidFill>
              <a:srgbClr val="E2E8F0"/>
            </a:solidFill>
            <a:prstDash val="solid"/>
            <a:headEnd type="none"/>
            <a:tailEnd type="none"/>
          </a:ln>
        </p:spPr>
        <p:txBody>
          <a:bodyPr/>
          <a:lstStyle/>
          <a:p>
            <a:endParaRPr lang="en-US"/>
          </a:p>
        </p:txBody>
      </p:sp>
      <p:sp>
        <p:nvSpPr>
          <p:cNvPr id="15" name="Text 13"/>
          <p:cNvSpPr/>
          <p:nvPr/>
        </p:nvSpPr>
        <p:spPr>
          <a:xfrm>
            <a:off x="4000500" y="3757612"/>
            <a:ext cx="571500" cy="464344"/>
          </a:xfrm>
          <a:prstGeom prst="rect">
            <a:avLst/>
          </a:prstGeom>
          <a:noFill/>
          <a:ln/>
        </p:spPr>
        <p:txBody>
          <a:bodyPr wrap="none" lIns="0" tIns="0" rIns="0" bIns="0" rtlCol="0" anchor="t"/>
          <a:lstStyle/>
          <a:p>
            <a:pPr>
              <a:lnSpc>
                <a:spcPct val="100000"/>
              </a:lnSpc>
            </a:pPr>
            <a:r>
              <a:rPr lang="en-US" sz="2700" b="1" dirty="0">
                <a:solidFill>
                  <a:srgbClr val="1E293B"/>
                </a:solidFill>
                <a:latin typeface="Liter" pitchFamily="34" charset="0"/>
                <a:ea typeface="Liter" pitchFamily="34" charset="-122"/>
                <a:cs typeface="Liter" pitchFamily="34" charset="-120"/>
              </a:rPr>
              <a:t>03</a:t>
            </a:r>
            <a:endParaRPr lang="en-US" sz="2700" dirty="0"/>
          </a:p>
        </p:txBody>
      </p:sp>
      <p:sp>
        <p:nvSpPr>
          <p:cNvPr id="16" name="Text 14"/>
          <p:cNvSpPr/>
          <p:nvPr/>
        </p:nvSpPr>
        <p:spPr>
          <a:xfrm>
            <a:off x="4643437" y="3814763"/>
            <a:ext cx="3929063" cy="250031"/>
          </a:xfrm>
          <a:prstGeom prst="rect">
            <a:avLst/>
          </a:prstGeom>
          <a:noFill/>
          <a:ln/>
        </p:spPr>
        <p:txBody>
          <a:bodyPr wrap="none" lIns="0" tIns="0" rIns="0" bIns="0" rtlCol="0" anchor="ctr"/>
          <a:lstStyle/>
          <a:p>
            <a:pPr>
              <a:lnSpc>
                <a:spcPct val="100000"/>
              </a:lnSpc>
            </a:pPr>
            <a:r>
              <a:rPr lang="en-US" sz="1350" dirty="0">
                <a:solidFill>
                  <a:srgbClr val="334155"/>
                </a:solidFill>
                <a:latin typeface="Liter" pitchFamily="34" charset="0"/>
                <a:ea typeface="Liter" pitchFamily="34" charset="-122"/>
                <a:cs typeface="Liter" pitchFamily="34" charset="-120"/>
              </a:rPr>
              <a:t>总结与实操建议</a:t>
            </a:r>
            <a:endParaRPr lang="en-US" sz="1350" dirty="0"/>
          </a:p>
        </p:txBody>
      </p:sp>
      <p:sp>
        <p:nvSpPr>
          <p:cNvPr id="17" name="Shape 15"/>
          <p:cNvSpPr/>
          <p:nvPr/>
        </p:nvSpPr>
        <p:spPr>
          <a:xfrm>
            <a:off x="4000500" y="4436269"/>
            <a:ext cx="4572000" cy="0"/>
          </a:xfrm>
          <a:prstGeom prst="straightConnector1">
            <a:avLst/>
          </a:prstGeom>
          <a:noFill/>
          <a:ln w="12700">
            <a:solidFill>
              <a:srgbClr val="E2E8F0"/>
            </a:solidFill>
            <a:prstDash val="solid"/>
            <a:headEnd type="none"/>
            <a:tailEnd type="none"/>
          </a:ln>
        </p:spPr>
        <p:txBody>
          <a:bodyPr/>
          <a:lstStyle/>
          <a:p>
            <a:endParaRPr lang="en-US"/>
          </a:p>
        </p:txBody>
      </p:sp>
      <p:cxnSp>
        <p:nvCxnSpPr>
          <p:cNvPr id="19" name="Straight Connector 18">
            <a:extLst>
              <a:ext uri="{FF2B5EF4-FFF2-40B4-BE49-F238E27FC236}">
                <a16:creationId xmlns:a16="http://schemas.microsoft.com/office/drawing/2014/main" id="{A8E3237D-D415-16A2-94A8-053B3EF34557}"/>
              </a:ext>
            </a:extLst>
          </p:cNvPr>
          <p:cNvCxnSpPr/>
          <p:nvPr/>
        </p:nvCxnSpPr>
        <p:spPr>
          <a:xfrm>
            <a:off x="3689350" y="1871662"/>
            <a:ext cx="0" cy="2243138"/>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8625" y="300037"/>
            <a:ext cx="6429375" cy="321469"/>
          </a:xfrm>
          <a:prstGeom prst="rect">
            <a:avLst/>
          </a:prstGeom>
          <a:noFill/>
          <a:ln/>
        </p:spPr>
        <p:txBody>
          <a:bodyPr wrap="none" lIns="0" tIns="0" rIns="0" bIns="0" rtlCol="0" anchor="ctr"/>
          <a:lstStyle/>
          <a:p>
            <a:pPr>
              <a:lnSpc>
                <a:spcPct val="100000"/>
              </a:lnSpc>
            </a:pPr>
            <a:r>
              <a:rPr lang="en-US" b="1" dirty="0">
                <a:solidFill>
                  <a:srgbClr val="BF1733"/>
                </a:solidFill>
                <a:latin typeface="QuattrocentoSans" pitchFamily="34" charset="0"/>
                <a:ea typeface="QuattrocentoSans" pitchFamily="34" charset="-122"/>
                <a:cs typeface="QuattrocentoSans" pitchFamily="34" charset="-120"/>
              </a:rPr>
              <a:t>01.1 </a:t>
            </a:r>
            <a:r>
              <a:rPr lang="en-US" b="1" dirty="0" err="1">
                <a:solidFill>
                  <a:srgbClr val="BF1733"/>
                </a:solidFill>
                <a:latin typeface="QuattrocentoSans" pitchFamily="34" charset="0"/>
                <a:ea typeface="QuattrocentoSans" pitchFamily="34" charset="-122"/>
                <a:cs typeface="QuattrocentoSans" pitchFamily="34" charset="-120"/>
              </a:rPr>
              <a:t>随机分层因素的定义与作用</a:t>
            </a:r>
            <a:endParaRPr lang="en-US" dirty="0">
              <a:solidFill>
                <a:srgbClr val="BF1733"/>
              </a:solidFill>
            </a:endParaRPr>
          </a:p>
        </p:txBody>
      </p:sp>
      <p:sp>
        <p:nvSpPr>
          <p:cNvPr id="3" name="Text 1"/>
          <p:cNvSpPr/>
          <p:nvPr/>
        </p:nvSpPr>
        <p:spPr>
          <a:xfrm>
            <a:off x="428625" y="657225"/>
            <a:ext cx="6429375" cy="157163"/>
          </a:xfrm>
          <a:prstGeom prst="rect">
            <a:avLst/>
          </a:prstGeom>
          <a:noFill/>
          <a:ln/>
        </p:spPr>
        <p:txBody>
          <a:bodyPr wrap="none" lIns="0" tIns="0" rIns="0" bIns="0" rtlCol="0" anchor="ctr"/>
          <a:lstStyle/>
          <a:p>
            <a:pPr>
              <a:lnSpc>
                <a:spcPct val="100000"/>
              </a:lnSpc>
            </a:pPr>
            <a:r>
              <a:rPr lang="en-US" sz="900" dirty="0">
                <a:solidFill>
                  <a:srgbClr val="8C7B74"/>
                </a:solidFill>
                <a:latin typeface="QuattrocentoSans" pitchFamily="34" charset="0"/>
                <a:ea typeface="QuattrocentoSans" pitchFamily="34" charset="-122"/>
                <a:cs typeface="QuattrocentoSans" pitchFamily="34" charset="-120"/>
              </a:rPr>
              <a:t>Stratification Factors in Randomized Clinical Trials</a:t>
            </a:r>
            <a:endParaRPr lang="en-US" sz="900" dirty="0"/>
          </a:p>
        </p:txBody>
      </p:sp>
      <p:sp>
        <p:nvSpPr>
          <p:cNvPr id="4" name="Shape 2"/>
          <p:cNvSpPr/>
          <p:nvPr/>
        </p:nvSpPr>
        <p:spPr>
          <a:xfrm>
            <a:off x="428625" y="892969"/>
            <a:ext cx="8286750" cy="0"/>
          </a:xfrm>
          <a:prstGeom prst="straightConnector1">
            <a:avLst/>
          </a:prstGeom>
          <a:noFill/>
          <a:ln w="25400">
            <a:solidFill>
              <a:srgbClr val="A04040"/>
            </a:solidFill>
            <a:prstDash val="solid"/>
            <a:headEnd type="none"/>
            <a:tailEnd type="none"/>
          </a:ln>
        </p:spPr>
        <p:txBody>
          <a:bodyPr/>
          <a:lstStyle/>
          <a:p>
            <a:endParaRPr lang="en-US"/>
          </a:p>
        </p:txBody>
      </p:sp>
      <p:sp>
        <p:nvSpPr>
          <p:cNvPr id="5" name="Shape 3"/>
          <p:cNvSpPr/>
          <p:nvPr/>
        </p:nvSpPr>
        <p:spPr>
          <a:xfrm>
            <a:off x="428625" y="1057275"/>
            <a:ext cx="28575" cy="1143000"/>
          </a:xfrm>
          <a:prstGeom prst="rect">
            <a:avLst/>
          </a:prstGeom>
          <a:solidFill>
            <a:srgbClr val="A04040"/>
          </a:solidFill>
          <a:ln/>
        </p:spPr>
        <p:txBody>
          <a:bodyPr/>
          <a:lstStyle/>
          <a:p>
            <a:endParaRPr lang="en-US"/>
          </a:p>
        </p:txBody>
      </p:sp>
      <p:sp>
        <p:nvSpPr>
          <p:cNvPr id="6" name="Text 4"/>
          <p:cNvSpPr/>
          <p:nvPr/>
        </p:nvSpPr>
        <p:spPr>
          <a:xfrm>
            <a:off x="542925" y="1057275"/>
            <a:ext cx="2143125" cy="200025"/>
          </a:xfrm>
          <a:prstGeom prst="rect">
            <a:avLst/>
          </a:prstGeom>
          <a:noFill/>
          <a:ln/>
        </p:spPr>
        <p:txBody>
          <a:bodyPr wrap="none" lIns="0" tIns="0" rIns="0" bIns="0" rtlCol="0" anchor="ctr"/>
          <a:lstStyle/>
          <a:p>
            <a:pPr>
              <a:lnSpc>
                <a:spcPct val="100000"/>
              </a:lnSpc>
            </a:pPr>
            <a:r>
              <a:rPr lang="en-US" sz="1400" b="1" dirty="0">
                <a:solidFill>
                  <a:srgbClr val="A04040"/>
                </a:solidFill>
                <a:latin typeface="微软雅黑" panose="020B0503020204020204" pitchFamily="34" charset="-122"/>
                <a:ea typeface="微软雅黑" panose="020B0503020204020204" pitchFamily="34" charset="-122"/>
                <a:cs typeface="QuattrocentoSans" pitchFamily="34" charset="-120"/>
              </a:rPr>
              <a:t>定义 Definition</a:t>
            </a:r>
            <a:endParaRPr lang="en-US" sz="1400" dirty="0">
              <a:latin typeface="微软雅黑" panose="020B0503020204020204" pitchFamily="34" charset="-122"/>
              <a:ea typeface="微软雅黑" panose="020B0503020204020204" pitchFamily="34" charset="-122"/>
            </a:endParaRPr>
          </a:p>
        </p:txBody>
      </p:sp>
      <p:sp>
        <p:nvSpPr>
          <p:cNvPr id="8" name="Shape 6"/>
          <p:cNvSpPr/>
          <p:nvPr/>
        </p:nvSpPr>
        <p:spPr>
          <a:xfrm>
            <a:off x="428625" y="2414588"/>
            <a:ext cx="28575" cy="2000250"/>
          </a:xfrm>
          <a:prstGeom prst="rect">
            <a:avLst/>
          </a:prstGeom>
          <a:solidFill>
            <a:srgbClr val="A04040"/>
          </a:solidFill>
          <a:ln/>
        </p:spPr>
        <p:txBody>
          <a:bodyPr/>
          <a:lstStyle/>
          <a:p>
            <a:endParaRPr lang="en-US"/>
          </a:p>
        </p:txBody>
      </p:sp>
      <p:sp>
        <p:nvSpPr>
          <p:cNvPr id="11" name="Shape 9"/>
          <p:cNvSpPr/>
          <p:nvPr/>
        </p:nvSpPr>
        <p:spPr>
          <a:xfrm>
            <a:off x="4429125" y="1057275"/>
            <a:ext cx="28575" cy="200025"/>
          </a:xfrm>
          <a:prstGeom prst="rect">
            <a:avLst/>
          </a:prstGeom>
          <a:solidFill>
            <a:srgbClr val="A04040"/>
          </a:solidFill>
          <a:ln/>
        </p:spPr>
        <p:txBody>
          <a:bodyPr/>
          <a:lstStyle/>
          <a:p>
            <a:endParaRPr lang="en-US"/>
          </a:p>
        </p:txBody>
      </p:sp>
      <p:grpSp>
        <p:nvGrpSpPr>
          <p:cNvPr id="29" name="Group 28">
            <a:extLst>
              <a:ext uri="{FF2B5EF4-FFF2-40B4-BE49-F238E27FC236}">
                <a16:creationId xmlns:a16="http://schemas.microsoft.com/office/drawing/2014/main" id="{D31B9127-93DB-EEAB-0762-516819109E51}"/>
              </a:ext>
            </a:extLst>
          </p:cNvPr>
          <p:cNvGrpSpPr/>
          <p:nvPr/>
        </p:nvGrpSpPr>
        <p:grpSpPr>
          <a:xfrm>
            <a:off x="4543425" y="1057275"/>
            <a:ext cx="4395012" cy="3090292"/>
            <a:chOff x="4520208" y="1057275"/>
            <a:chExt cx="4395012" cy="2501582"/>
          </a:xfrm>
        </p:grpSpPr>
        <p:sp>
          <p:nvSpPr>
            <p:cNvPr id="12" name="Text 10"/>
            <p:cNvSpPr/>
            <p:nvPr/>
          </p:nvSpPr>
          <p:spPr>
            <a:xfrm>
              <a:off x="4543425" y="1057275"/>
              <a:ext cx="2500313" cy="200025"/>
            </a:xfrm>
            <a:prstGeom prst="rect">
              <a:avLst/>
            </a:prstGeom>
            <a:noFill/>
            <a:ln/>
          </p:spPr>
          <p:txBody>
            <a:bodyPr wrap="none" lIns="0" tIns="0" rIns="0" bIns="0" rtlCol="0" anchor="ctr"/>
            <a:lstStyle/>
            <a:p>
              <a:pPr>
                <a:lnSpc>
                  <a:spcPct val="100000"/>
                </a:lnSpc>
              </a:pPr>
              <a:r>
                <a:rPr lang="en-US" sz="1400" b="1" dirty="0">
                  <a:solidFill>
                    <a:srgbClr val="A04040"/>
                  </a:solidFill>
                  <a:latin typeface="微软雅黑" panose="020B0503020204020204" pitchFamily="34" charset="-122"/>
                  <a:ea typeface="微软雅黑" panose="020B0503020204020204" pitchFamily="34" charset="-122"/>
                  <a:cs typeface="QuattrocentoSans" pitchFamily="34" charset="-120"/>
                </a:rPr>
                <a:t>核心作用 Key Functions</a:t>
              </a:r>
              <a:endParaRPr lang="en-US" sz="1400" dirty="0">
                <a:latin typeface="微软雅黑" panose="020B0503020204020204" pitchFamily="34" charset="-122"/>
                <a:ea typeface="微软雅黑" panose="020B0503020204020204" pitchFamily="34" charset="-122"/>
              </a:endParaRPr>
            </a:p>
          </p:txBody>
        </p:sp>
        <p:sp>
          <p:nvSpPr>
            <p:cNvPr id="13" name="Shape 11"/>
            <p:cNvSpPr/>
            <p:nvPr/>
          </p:nvSpPr>
          <p:spPr>
            <a:xfrm>
              <a:off x="4520208" y="1393031"/>
              <a:ext cx="232172" cy="185738"/>
            </a:xfrm>
            <a:custGeom>
              <a:avLst/>
              <a:gdLst/>
              <a:ahLst/>
              <a:cxnLst/>
              <a:rect l="l" t="t" r="r" b="b"/>
              <a:pathLst>
                <a:path w="412750" h="330200">
                  <a:moveTo>
                    <a:pt x="247650" y="20638"/>
                  </a:moveTo>
                  <a:lnTo>
                    <a:pt x="330200" y="20638"/>
                  </a:lnTo>
                  <a:cubicBezTo>
                    <a:pt x="341615" y="20638"/>
                    <a:pt x="350838" y="29860"/>
                    <a:pt x="350838" y="41275"/>
                  </a:cubicBezTo>
                  <a:cubicBezTo>
                    <a:pt x="350838" y="52690"/>
                    <a:pt x="341615" y="61912"/>
                    <a:pt x="330200" y="61912"/>
                  </a:cubicBezTo>
                  <a:lnTo>
                    <a:pt x="256937" y="61912"/>
                  </a:lnTo>
                  <a:cubicBezTo>
                    <a:pt x="253583" y="78551"/>
                    <a:pt x="242168" y="92288"/>
                    <a:pt x="227013" y="98867"/>
                  </a:cubicBezTo>
                  <a:lnTo>
                    <a:pt x="227013" y="288925"/>
                  </a:lnTo>
                  <a:lnTo>
                    <a:pt x="330200" y="288925"/>
                  </a:lnTo>
                  <a:cubicBezTo>
                    <a:pt x="341615" y="288925"/>
                    <a:pt x="350838" y="298147"/>
                    <a:pt x="350838" y="309563"/>
                  </a:cubicBezTo>
                  <a:cubicBezTo>
                    <a:pt x="350838" y="320978"/>
                    <a:pt x="341615" y="330200"/>
                    <a:pt x="330200" y="330200"/>
                  </a:cubicBezTo>
                  <a:lnTo>
                    <a:pt x="82550" y="330200"/>
                  </a:lnTo>
                  <a:cubicBezTo>
                    <a:pt x="71135" y="330200"/>
                    <a:pt x="61912" y="320978"/>
                    <a:pt x="61912" y="309563"/>
                  </a:cubicBezTo>
                  <a:cubicBezTo>
                    <a:pt x="61912" y="298147"/>
                    <a:pt x="71135" y="288925"/>
                    <a:pt x="82550" y="288925"/>
                  </a:cubicBezTo>
                  <a:lnTo>
                    <a:pt x="185738" y="288925"/>
                  </a:lnTo>
                  <a:lnTo>
                    <a:pt x="185738" y="98867"/>
                  </a:lnTo>
                  <a:cubicBezTo>
                    <a:pt x="170582" y="92224"/>
                    <a:pt x="159167" y="78487"/>
                    <a:pt x="155813" y="61913"/>
                  </a:cubicBezTo>
                  <a:lnTo>
                    <a:pt x="82550" y="61912"/>
                  </a:lnTo>
                  <a:cubicBezTo>
                    <a:pt x="71135" y="61912"/>
                    <a:pt x="61912" y="52690"/>
                    <a:pt x="61912" y="41275"/>
                  </a:cubicBezTo>
                  <a:cubicBezTo>
                    <a:pt x="61912" y="29860"/>
                    <a:pt x="71135" y="20638"/>
                    <a:pt x="82550" y="20638"/>
                  </a:cubicBezTo>
                  <a:lnTo>
                    <a:pt x="165100" y="20638"/>
                  </a:lnTo>
                  <a:cubicBezTo>
                    <a:pt x="174516" y="8126"/>
                    <a:pt x="189478" y="0"/>
                    <a:pt x="206375" y="0"/>
                  </a:cubicBezTo>
                  <a:cubicBezTo>
                    <a:pt x="223272" y="0"/>
                    <a:pt x="238234" y="8126"/>
                    <a:pt x="247650" y="20638"/>
                  </a:cubicBezTo>
                  <a:close/>
                  <a:moveTo>
                    <a:pt x="283508" y="206375"/>
                  </a:moveTo>
                  <a:lnTo>
                    <a:pt x="376892" y="206375"/>
                  </a:lnTo>
                  <a:lnTo>
                    <a:pt x="330200" y="126276"/>
                  </a:lnTo>
                  <a:lnTo>
                    <a:pt x="283508" y="206375"/>
                  </a:lnTo>
                  <a:close/>
                  <a:moveTo>
                    <a:pt x="330200" y="268288"/>
                  </a:moveTo>
                  <a:cubicBezTo>
                    <a:pt x="289634" y="268288"/>
                    <a:pt x="255905" y="246360"/>
                    <a:pt x="248940" y="217403"/>
                  </a:cubicBezTo>
                  <a:cubicBezTo>
                    <a:pt x="247263" y="210309"/>
                    <a:pt x="249585" y="203021"/>
                    <a:pt x="253261" y="196701"/>
                  </a:cubicBezTo>
                  <a:lnTo>
                    <a:pt x="314657" y="91450"/>
                  </a:lnTo>
                  <a:cubicBezTo>
                    <a:pt x="317882" y="85904"/>
                    <a:pt x="323815" y="82550"/>
                    <a:pt x="330200" y="82550"/>
                  </a:cubicBezTo>
                  <a:cubicBezTo>
                    <a:pt x="336585" y="82550"/>
                    <a:pt x="342518" y="85968"/>
                    <a:pt x="345743" y="91450"/>
                  </a:cubicBezTo>
                  <a:lnTo>
                    <a:pt x="407139" y="196701"/>
                  </a:lnTo>
                  <a:cubicBezTo>
                    <a:pt x="410815" y="203021"/>
                    <a:pt x="413137" y="210309"/>
                    <a:pt x="411460" y="217403"/>
                  </a:cubicBezTo>
                  <a:cubicBezTo>
                    <a:pt x="404495" y="246296"/>
                    <a:pt x="370766" y="268288"/>
                    <a:pt x="330200" y="268288"/>
                  </a:cubicBezTo>
                  <a:close/>
                  <a:moveTo>
                    <a:pt x="81776" y="126276"/>
                  </a:moveTo>
                  <a:lnTo>
                    <a:pt x="35084" y="206375"/>
                  </a:lnTo>
                  <a:lnTo>
                    <a:pt x="128533" y="206375"/>
                  </a:lnTo>
                  <a:lnTo>
                    <a:pt x="81776" y="126276"/>
                  </a:lnTo>
                  <a:close/>
                  <a:moveTo>
                    <a:pt x="580" y="217403"/>
                  </a:moveTo>
                  <a:cubicBezTo>
                    <a:pt x="-1096" y="210309"/>
                    <a:pt x="1225" y="203021"/>
                    <a:pt x="4901" y="196701"/>
                  </a:cubicBezTo>
                  <a:lnTo>
                    <a:pt x="66298" y="91450"/>
                  </a:lnTo>
                  <a:cubicBezTo>
                    <a:pt x="69523" y="85904"/>
                    <a:pt x="75456" y="82550"/>
                    <a:pt x="81841" y="82550"/>
                  </a:cubicBezTo>
                  <a:cubicBezTo>
                    <a:pt x="88225" y="82550"/>
                    <a:pt x="94159" y="85968"/>
                    <a:pt x="97383" y="91450"/>
                  </a:cubicBezTo>
                  <a:lnTo>
                    <a:pt x="158780" y="196701"/>
                  </a:lnTo>
                  <a:cubicBezTo>
                    <a:pt x="162456" y="203021"/>
                    <a:pt x="164778" y="210309"/>
                    <a:pt x="163101" y="217403"/>
                  </a:cubicBezTo>
                  <a:cubicBezTo>
                    <a:pt x="156136" y="246296"/>
                    <a:pt x="122406" y="268288"/>
                    <a:pt x="81841" y="268288"/>
                  </a:cubicBezTo>
                  <a:cubicBezTo>
                    <a:pt x="41275" y="268288"/>
                    <a:pt x="7546" y="246360"/>
                    <a:pt x="580" y="217403"/>
                  </a:cubicBezTo>
                  <a:close/>
                </a:path>
              </a:pathLst>
            </a:custGeom>
            <a:solidFill>
              <a:srgbClr val="A04040"/>
            </a:solidFill>
            <a:ln/>
          </p:spPr>
          <p:txBody>
            <a:bodyPr/>
            <a:lstStyle/>
            <a:p>
              <a:endParaRPr lang="en-US" sz="2000"/>
            </a:p>
          </p:txBody>
        </p:sp>
        <p:sp>
          <p:nvSpPr>
            <p:cNvPr id="14" name="Text 12"/>
            <p:cNvSpPr/>
            <p:nvPr/>
          </p:nvSpPr>
          <p:spPr>
            <a:xfrm>
              <a:off x="4800600" y="1371600"/>
              <a:ext cx="3786188" cy="171450"/>
            </a:xfrm>
            <a:prstGeom prst="rect">
              <a:avLst/>
            </a:prstGeom>
            <a:noFill/>
            <a:ln/>
          </p:spPr>
          <p:txBody>
            <a:bodyPr wrap="none" lIns="0" tIns="0" rIns="0" bIns="0" rtlCol="0" anchor="ctr"/>
            <a:lstStyle/>
            <a:p>
              <a:pPr>
                <a:lnSpc>
                  <a:spcPct val="100000"/>
                </a:lnSpc>
              </a:pPr>
              <a:r>
                <a:rPr lang="en-US" sz="1100" b="1" dirty="0">
                  <a:solidFill>
                    <a:srgbClr val="7A3030"/>
                  </a:solidFill>
                  <a:latin typeface="Quattrocento Sans" pitchFamily="34" charset="0"/>
                  <a:ea typeface="Quattrocento Sans" pitchFamily="34" charset="-122"/>
                  <a:cs typeface="Quattrocento Sans" pitchFamily="34" charset="-120"/>
                </a:rPr>
                <a:t>确保组间均衡</a:t>
              </a:r>
              <a:endParaRPr lang="en-US" sz="1050" dirty="0"/>
            </a:p>
          </p:txBody>
        </p:sp>
        <p:sp>
          <p:nvSpPr>
            <p:cNvPr id="15" name="Text 13"/>
            <p:cNvSpPr/>
            <p:nvPr/>
          </p:nvSpPr>
          <p:spPr>
            <a:xfrm>
              <a:off x="4800600" y="1571625"/>
              <a:ext cx="3786188" cy="300038"/>
            </a:xfrm>
            <a:prstGeom prst="rect">
              <a:avLst/>
            </a:prstGeom>
            <a:noFill/>
            <a:ln/>
          </p:spPr>
          <p:txBody>
            <a:bodyPr wrap="square" lIns="0" tIns="0" rIns="0" bIns="0" rtlCol="0" anchor="t"/>
            <a:lstStyle/>
            <a:p>
              <a:pPr>
                <a:lnSpc>
                  <a:spcPct val="150000"/>
                </a:lnSpc>
              </a:pPr>
              <a:r>
                <a:rPr lang="en-US" sz="1200" dirty="0" err="1">
                  <a:solidFill>
                    <a:srgbClr val="2D2422"/>
                  </a:solidFill>
                  <a:latin typeface="微软雅黑" panose="020B0503020204020204" pitchFamily="34" charset="-122"/>
                  <a:ea typeface="微软雅黑" panose="020B0503020204020204" pitchFamily="34" charset="-122"/>
                  <a:cs typeface="Quattrocento Sans" pitchFamily="34" charset="-120"/>
                </a:rPr>
                <a:t>减少已知预后因素在治疗组间分配不均的风险</a:t>
              </a:r>
              <a:endParaRPr lang="en-US" sz="1200" dirty="0">
                <a:latin typeface="微软雅黑" panose="020B0503020204020204" pitchFamily="34" charset="-122"/>
                <a:ea typeface="微软雅黑" panose="020B0503020204020204" pitchFamily="34" charset="-122"/>
              </a:endParaRPr>
            </a:p>
          </p:txBody>
        </p:sp>
        <p:sp>
          <p:nvSpPr>
            <p:cNvPr id="16" name="Shape 14"/>
            <p:cNvSpPr/>
            <p:nvPr/>
          </p:nvSpPr>
          <p:spPr>
            <a:xfrm>
              <a:off x="4520208" y="2032185"/>
              <a:ext cx="232172" cy="185738"/>
            </a:xfrm>
            <a:custGeom>
              <a:avLst/>
              <a:gdLst/>
              <a:ahLst/>
              <a:cxnLst/>
              <a:rect l="l" t="t" r="r" b="b"/>
              <a:pathLst>
                <a:path w="412750" h="330200">
                  <a:moveTo>
                    <a:pt x="206375" y="10319"/>
                  </a:moveTo>
                  <a:cubicBezTo>
                    <a:pt x="243393" y="10319"/>
                    <a:pt x="273447" y="40373"/>
                    <a:pt x="273447" y="77391"/>
                  </a:cubicBezTo>
                  <a:cubicBezTo>
                    <a:pt x="273447" y="114409"/>
                    <a:pt x="243393" y="144463"/>
                    <a:pt x="206375" y="144463"/>
                  </a:cubicBezTo>
                  <a:cubicBezTo>
                    <a:pt x="169357" y="144463"/>
                    <a:pt x="139303" y="114409"/>
                    <a:pt x="139303" y="77391"/>
                  </a:cubicBezTo>
                  <a:cubicBezTo>
                    <a:pt x="139303" y="40373"/>
                    <a:pt x="169357" y="10319"/>
                    <a:pt x="206375" y="10319"/>
                  </a:cubicBezTo>
                  <a:close/>
                  <a:moveTo>
                    <a:pt x="61912" y="56753"/>
                  </a:moveTo>
                  <a:cubicBezTo>
                    <a:pt x="87540" y="56753"/>
                    <a:pt x="108347" y="77560"/>
                    <a:pt x="108347" y="103188"/>
                  </a:cubicBezTo>
                  <a:cubicBezTo>
                    <a:pt x="108347" y="128815"/>
                    <a:pt x="87540" y="149622"/>
                    <a:pt x="61912" y="149622"/>
                  </a:cubicBezTo>
                  <a:cubicBezTo>
                    <a:pt x="36285" y="149622"/>
                    <a:pt x="15478" y="128815"/>
                    <a:pt x="15478" y="103188"/>
                  </a:cubicBezTo>
                  <a:cubicBezTo>
                    <a:pt x="15478" y="77560"/>
                    <a:pt x="36285" y="56753"/>
                    <a:pt x="61912" y="56753"/>
                  </a:cubicBezTo>
                  <a:close/>
                  <a:moveTo>
                    <a:pt x="0" y="268288"/>
                  </a:moveTo>
                  <a:cubicBezTo>
                    <a:pt x="0" y="222692"/>
                    <a:pt x="36954" y="185738"/>
                    <a:pt x="82550" y="185738"/>
                  </a:cubicBezTo>
                  <a:cubicBezTo>
                    <a:pt x="90805" y="185738"/>
                    <a:pt x="98802" y="186963"/>
                    <a:pt x="106348" y="189220"/>
                  </a:cubicBezTo>
                  <a:cubicBezTo>
                    <a:pt x="85130" y="212953"/>
                    <a:pt x="72231" y="244296"/>
                    <a:pt x="72231" y="278606"/>
                  </a:cubicBezTo>
                  <a:lnTo>
                    <a:pt x="72231" y="288925"/>
                  </a:lnTo>
                  <a:cubicBezTo>
                    <a:pt x="72231" y="296277"/>
                    <a:pt x="73779" y="303242"/>
                    <a:pt x="76552" y="309563"/>
                  </a:cubicBezTo>
                  <a:lnTo>
                    <a:pt x="20638" y="309563"/>
                  </a:lnTo>
                  <a:cubicBezTo>
                    <a:pt x="9222" y="309563"/>
                    <a:pt x="0" y="300340"/>
                    <a:pt x="0" y="288925"/>
                  </a:cubicBezTo>
                  <a:lnTo>
                    <a:pt x="0" y="268288"/>
                  </a:lnTo>
                  <a:close/>
                  <a:moveTo>
                    <a:pt x="336198" y="309563"/>
                  </a:moveTo>
                  <a:cubicBezTo>
                    <a:pt x="338971" y="303242"/>
                    <a:pt x="340519" y="296277"/>
                    <a:pt x="340519" y="288925"/>
                  </a:cubicBezTo>
                  <a:lnTo>
                    <a:pt x="340519" y="278606"/>
                  </a:lnTo>
                  <a:cubicBezTo>
                    <a:pt x="340519" y="244296"/>
                    <a:pt x="327620" y="212953"/>
                    <a:pt x="306402" y="189220"/>
                  </a:cubicBezTo>
                  <a:cubicBezTo>
                    <a:pt x="313948" y="186963"/>
                    <a:pt x="321945" y="185738"/>
                    <a:pt x="330200" y="185738"/>
                  </a:cubicBezTo>
                  <a:cubicBezTo>
                    <a:pt x="375796" y="185738"/>
                    <a:pt x="412750" y="222692"/>
                    <a:pt x="412750" y="268288"/>
                  </a:cubicBezTo>
                  <a:lnTo>
                    <a:pt x="412750" y="288925"/>
                  </a:lnTo>
                  <a:cubicBezTo>
                    <a:pt x="412750" y="300340"/>
                    <a:pt x="403528" y="309563"/>
                    <a:pt x="392113" y="309563"/>
                  </a:cubicBezTo>
                  <a:lnTo>
                    <a:pt x="336198" y="309563"/>
                  </a:lnTo>
                  <a:close/>
                  <a:moveTo>
                    <a:pt x="304403" y="103188"/>
                  </a:moveTo>
                  <a:cubicBezTo>
                    <a:pt x="304403" y="77560"/>
                    <a:pt x="325210" y="56753"/>
                    <a:pt x="350838" y="56753"/>
                  </a:cubicBezTo>
                  <a:cubicBezTo>
                    <a:pt x="376465" y="56753"/>
                    <a:pt x="397272" y="77560"/>
                    <a:pt x="397272" y="103187"/>
                  </a:cubicBezTo>
                  <a:cubicBezTo>
                    <a:pt x="397272" y="128815"/>
                    <a:pt x="376465" y="149622"/>
                    <a:pt x="350838" y="149622"/>
                  </a:cubicBezTo>
                  <a:cubicBezTo>
                    <a:pt x="325210" y="149622"/>
                    <a:pt x="304403" y="128815"/>
                    <a:pt x="304403" y="103188"/>
                  </a:cubicBezTo>
                  <a:close/>
                  <a:moveTo>
                    <a:pt x="103188" y="278606"/>
                  </a:moveTo>
                  <a:cubicBezTo>
                    <a:pt x="103188" y="221595"/>
                    <a:pt x="149364" y="175419"/>
                    <a:pt x="206375" y="175419"/>
                  </a:cubicBezTo>
                  <a:cubicBezTo>
                    <a:pt x="263386" y="175419"/>
                    <a:pt x="309563" y="221595"/>
                    <a:pt x="309563" y="278606"/>
                  </a:cubicBezTo>
                  <a:lnTo>
                    <a:pt x="309563" y="288925"/>
                  </a:lnTo>
                  <a:cubicBezTo>
                    <a:pt x="309563" y="300340"/>
                    <a:pt x="300340" y="309563"/>
                    <a:pt x="288925" y="309563"/>
                  </a:cubicBezTo>
                  <a:lnTo>
                    <a:pt x="123825" y="309563"/>
                  </a:lnTo>
                  <a:cubicBezTo>
                    <a:pt x="112410" y="309563"/>
                    <a:pt x="103188" y="300340"/>
                    <a:pt x="103188" y="288925"/>
                  </a:cubicBezTo>
                  <a:lnTo>
                    <a:pt x="103188" y="278606"/>
                  </a:lnTo>
                  <a:close/>
                </a:path>
              </a:pathLst>
            </a:custGeom>
            <a:solidFill>
              <a:srgbClr val="A04040"/>
            </a:solidFill>
            <a:ln/>
          </p:spPr>
          <p:txBody>
            <a:bodyPr/>
            <a:lstStyle/>
            <a:p>
              <a:endParaRPr lang="en-US" sz="2000"/>
            </a:p>
          </p:txBody>
        </p:sp>
        <p:sp>
          <p:nvSpPr>
            <p:cNvPr id="17" name="Text 15"/>
            <p:cNvSpPr/>
            <p:nvPr/>
          </p:nvSpPr>
          <p:spPr>
            <a:xfrm>
              <a:off x="4800600" y="2039927"/>
              <a:ext cx="3786188" cy="171450"/>
            </a:xfrm>
            <a:prstGeom prst="rect">
              <a:avLst/>
            </a:prstGeom>
            <a:noFill/>
            <a:ln/>
          </p:spPr>
          <p:txBody>
            <a:bodyPr wrap="none" lIns="0" tIns="0" rIns="0" bIns="0" rtlCol="0" anchor="ctr"/>
            <a:lstStyle/>
            <a:p>
              <a:pPr>
                <a:lnSpc>
                  <a:spcPct val="100000"/>
                </a:lnSpc>
              </a:pPr>
              <a:r>
                <a:rPr lang="en-US" sz="1400" b="1" dirty="0">
                  <a:solidFill>
                    <a:srgbClr val="7A3030"/>
                  </a:solidFill>
                  <a:latin typeface="Quattrocento Sans" pitchFamily="34" charset="0"/>
                  <a:ea typeface="Quattrocento Sans" pitchFamily="34" charset="-122"/>
                  <a:cs typeface="Quattrocento Sans" pitchFamily="34" charset="-120"/>
                </a:rPr>
                <a:t>指导亚组分析</a:t>
              </a:r>
              <a:endParaRPr lang="en-US" sz="1200" dirty="0"/>
            </a:p>
          </p:txBody>
        </p:sp>
        <p:sp>
          <p:nvSpPr>
            <p:cNvPr id="18" name="Text 16"/>
            <p:cNvSpPr/>
            <p:nvPr/>
          </p:nvSpPr>
          <p:spPr>
            <a:xfrm>
              <a:off x="4800600" y="2291306"/>
              <a:ext cx="4114620" cy="464344"/>
            </a:xfrm>
            <a:prstGeom prst="rect">
              <a:avLst/>
            </a:prstGeom>
            <a:noFill/>
            <a:ln/>
          </p:spPr>
          <p:txBody>
            <a:bodyPr wrap="square" lIns="0" tIns="0" rIns="0" bIns="0" rtlCol="0" anchor="t"/>
            <a:lstStyle/>
            <a:p>
              <a:pPr>
                <a:lnSpc>
                  <a:spcPct val="150000"/>
                </a:lnSpc>
              </a:pPr>
              <a:r>
                <a:rPr lang="en-US" sz="1200" dirty="0" err="1">
                  <a:solidFill>
                    <a:srgbClr val="2D2422"/>
                  </a:solidFill>
                  <a:latin typeface="微软雅黑" panose="020B0503020204020204" pitchFamily="34" charset="-122"/>
                  <a:ea typeface="微软雅黑" panose="020B0503020204020204" pitchFamily="34" charset="-122"/>
                  <a:cs typeface="Quattrocento Sans" pitchFamily="34" charset="-120"/>
                </a:rPr>
                <a:t>具有预后价值或生物学合理性，是亚组分析的首要考察对象</a:t>
              </a:r>
              <a:endParaRPr lang="en-US" sz="1200" dirty="0">
                <a:latin typeface="微软雅黑" panose="020B0503020204020204" pitchFamily="34" charset="-122"/>
                <a:ea typeface="微软雅黑" panose="020B0503020204020204" pitchFamily="34" charset="-122"/>
              </a:endParaRPr>
            </a:p>
          </p:txBody>
        </p:sp>
        <p:sp>
          <p:nvSpPr>
            <p:cNvPr id="19" name="Shape 17"/>
            <p:cNvSpPr/>
            <p:nvPr/>
          </p:nvSpPr>
          <p:spPr>
            <a:xfrm>
              <a:off x="4566642" y="2833602"/>
              <a:ext cx="185738" cy="185738"/>
            </a:xfrm>
            <a:custGeom>
              <a:avLst/>
              <a:gdLst/>
              <a:ahLst/>
              <a:cxnLst/>
              <a:rect l="l" t="t" r="r" b="b"/>
              <a:pathLst>
                <a:path w="330200" h="330200">
                  <a:moveTo>
                    <a:pt x="41275" y="41275"/>
                  </a:moveTo>
                  <a:cubicBezTo>
                    <a:pt x="41275" y="29860"/>
                    <a:pt x="32053" y="20638"/>
                    <a:pt x="20638" y="20638"/>
                  </a:cubicBezTo>
                  <a:cubicBezTo>
                    <a:pt x="9222" y="20638"/>
                    <a:pt x="0" y="29860"/>
                    <a:pt x="0" y="41275"/>
                  </a:cubicBezTo>
                  <a:lnTo>
                    <a:pt x="0" y="257969"/>
                  </a:lnTo>
                  <a:cubicBezTo>
                    <a:pt x="0" y="286474"/>
                    <a:pt x="23088" y="309563"/>
                    <a:pt x="51594" y="309563"/>
                  </a:cubicBezTo>
                  <a:lnTo>
                    <a:pt x="309563" y="309563"/>
                  </a:lnTo>
                  <a:cubicBezTo>
                    <a:pt x="320978" y="309563"/>
                    <a:pt x="330200" y="300340"/>
                    <a:pt x="330200" y="288925"/>
                  </a:cubicBezTo>
                  <a:cubicBezTo>
                    <a:pt x="330200" y="277510"/>
                    <a:pt x="320978" y="268288"/>
                    <a:pt x="309563" y="268288"/>
                  </a:cubicBezTo>
                  <a:lnTo>
                    <a:pt x="51594" y="268288"/>
                  </a:lnTo>
                  <a:cubicBezTo>
                    <a:pt x="45918" y="268288"/>
                    <a:pt x="41275" y="263644"/>
                    <a:pt x="41275" y="257969"/>
                  </a:cubicBezTo>
                  <a:lnTo>
                    <a:pt x="41275" y="41275"/>
                  </a:lnTo>
                  <a:close/>
                  <a:moveTo>
                    <a:pt x="303500" y="97125"/>
                  </a:moveTo>
                  <a:cubicBezTo>
                    <a:pt x="311562" y="89064"/>
                    <a:pt x="311562" y="75972"/>
                    <a:pt x="303500" y="67910"/>
                  </a:cubicBezTo>
                  <a:cubicBezTo>
                    <a:pt x="295439" y="59849"/>
                    <a:pt x="282347" y="59849"/>
                    <a:pt x="274285" y="67910"/>
                  </a:cubicBezTo>
                  <a:lnTo>
                    <a:pt x="206375" y="135885"/>
                  </a:lnTo>
                  <a:lnTo>
                    <a:pt x="169356" y="98931"/>
                  </a:lnTo>
                  <a:cubicBezTo>
                    <a:pt x="161295" y="90869"/>
                    <a:pt x="148203" y="90869"/>
                    <a:pt x="140142" y="98931"/>
                  </a:cubicBezTo>
                  <a:lnTo>
                    <a:pt x="78229" y="160844"/>
                  </a:lnTo>
                  <a:cubicBezTo>
                    <a:pt x="70168" y="168905"/>
                    <a:pt x="70168" y="181997"/>
                    <a:pt x="78229" y="190058"/>
                  </a:cubicBezTo>
                  <a:cubicBezTo>
                    <a:pt x="86291" y="198120"/>
                    <a:pt x="99382" y="198120"/>
                    <a:pt x="107444" y="190058"/>
                  </a:cubicBezTo>
                  <a:lnTo>
                    <a:pt x="154781" y="142721"/>
                  </a:lnTo>
                  <a:lnTo>
                    <a:pt x="191800" y="179740"/>
                  </a:lnTo>
                  <a:cubicBezTo>
                    <a:pt x="199861" y="187801"/>
                    <a:pt x="212953" y="187801"/>
                    <a:pt x="221015" y="179740"/>
                  </a:cubicBezTo>
                  <a:lnTo>
                    <a:pt x="303565" y="97190"/>
                  </a:lnTo>
                  <a:close/>
                </a:path>
              </a:pathLst>
            </a:custGeom>
            <a:solidFill>
              <a:srgbClr val="A04040"/>
            </a:solidFill>
            <a:ln/>
          </p:spPr>
          <p:txBody>
            <a:bodyPr/>
            <a:lstStyle/>
            <a:p>
              <a:endParaRPr lang="en-US" sz="2000"/>
            </a:p>
          </p:txBody>
        </p:sp>
        <p:sp>
          <p:nvSpPr>
            <p:cNvPr id="20" name="Text 18"/>
            <p:cNvSpPr/>
            <p:nvPr/>
          </p:nvSpPr>
          <p:spPr>
            <a:xfrm>
              <a:off x="4800600" y="2834628"/>
              <a:ext cx="3786188" cy="171450"/>
            </a:xfrm>
            <a:prstGeom prst="rect">
              <a:avLst/>
            </a:prstGeom>
            <a:noFill/>
            <a:ln/>
          </p:spPr>
          <p:txBody>
            <a:bodyPr wrap="none" lIns="0" tIns="0" rIns="0" bIns="0" rtlCol="0" anchor="ctr"/>
            <a:lstStyle/>
            <a:p>
              <a:pPr>
                <a:lnSpc>
                  <a:spcPct val="100000"/>
                </a:lnSpc>
              </a:pPr>
              <a:r>
                <a:rPr lang="en-US" sz="1400" b="1" dirty="0">
                  <a:solidFill>
                    <a:srgbClr val="7A3030"/>
                  </a:solidFill>
                  <a:latin typeface="Quattrocento Sans" pitchFamily="34" charset="0"/>
                  <a:ea typeface="Quattrocento Sans" pitchFamily="34" charset="-122"/>
                  <a:cs typeface="Quattrocento Sans" pitchFamily="34" charset="-120"/>
                </a:rPr>
                <a:t>提高统计效能</a:t>
              </a:r>
              <a:endParaRPr lang="en-US" sz="1200" dirty="0"/>
            </a:p>
          </p:txBody>
        </p:sp>
        <p:sp>
          <p:nvSpPr>
            <p:cNvPr id="21" name="Text 19"/>
            <p:cNvSpPr/>
            <p:nvPr/>
          </p:nvSpPr>
          <p:spPr>
            <a:xfrm>
              <a:off x="4800600" y="3094513"/>
              <a:ext cx="3786188" cy="464344"/>
            </a:xfrm>
            <a:prstGeom prst="rect">
              <a:avLst/>
            </a:prstGeom>
            <a:noFill/>
            <a:ln/>
          </p:spPr>
          <p:txBody>
            <a:bodyPr wrap="square" lIns="0" tIns="0" rIns="0" bIns="0" rtlCol="0" anchor="t"/>
            <a:lstStyle/>
            <a:p>
              <a:pPr>
                <a:lnSpc>
                  <a:spcPct val="150000"/>
                </a:lnSpc>
              </a:pPr>
              <a:r>
                <a:rPr lang="zh-CN" altLang="en-US" sz="1200" dirty="0">
                  <a:solidFill>
                    <a:srgbClr val="2D2422"/>
                  </a:solidFill>
                  <a:latin typeface="微软雅黑" panose="020B0503020204020204" pitchFamily="34" charset="-122"/>
                  <a:ea typeface="微软雅黑" panose="020B0503020204020204" pitchFamily="34" charset="-122"/>
                  <a:cs typeface="Quattrocento Sans" pitchFamily="34" charset="-120"/>
                </a:rPr>
                <a:t>有效</a:t>
              </a:r>
              <a:r>
                <a:rPr lang="en-US" sz="1200" dirty="0" err="1">
                  <a:solidFill>
                    <a:srgbClr val="2D2422"/>
                  </a:solidFill>
                  <a:latin typeface="微软雅黑" panose="020B0503020204020204" pitchFamily="34" charset="-122"/>
                  <a:ea typeface="微软雅黑" panose="020B0503020204020204" pitchFamily="34" charset="-122"/>
                  <a:cs typeface="Quattrocento Sans" pitchFamily="34" charset="-120"/>
                </a:rPr>
                <a:t>分层可</a:t>
              </a:r>
              <a:r>
                <a:rPr lang="zh-CN" altLang="en-US" sz="1200" dirty="0">
                  <a:solidFill>
                    <a:srgbClr val="2D2422"/>
                  </a:solidFill>
                  <a:latin typeface="微软雅黑" panose="020B0503020204020204" pitchFamily="34" charset="-122"/>
                  <a:ea typeface="微软雅黑" panose="020B0503020204020204" pitchFamily="34" charset="-122"/>
                  <a:cs typeface="Quattrocento Sans" pitchFamily="34" charset="-120"/>
                </a:rPr>
                <a:t>提高</a:t>
              </a:r>
              <a:r>
                <a:rPr lang="en-US" sz="1200" dirty="0" err="1">
                  <a:solidFill>
                    <a:srgbClr val="2D2422"/>
                  </a:solidFill>
                  <a:latin typeface="微软雅黑" panose="020B0503020204020204" pitchFamily="34" charset="-122"/>
                  <a:ea typeface="微软雅黑" panose="020B0503020204020204" pitchFamily="34" charset="-122"/>
                  <a:cs typeface="Quattrocento Sans" pitchFamily="34" charset="-120"/>
                </a:rPr>
                <a:t>统计把握度，提升试验效率</a:t>
              </a:r>
              <a:endParaRPr lang="en-US" sz="1200" dirty="0">
                <a:latin typeface="微软雅黑" panose="020B0503020204020204" pitchFamily="34" charset="-122"/>
                <a:ea typeface="微软雅黑" panose="020B0503020204020204" pitchFamily="34" charset="-122"/>
              </a:endParaRPr>
            </a:p>
          </p:txBody>
        </p:sp>
      </p:grpSp>
      <p:sp>
        <p:nvSpPr>
          <p:cNvPr id="25" name="Shape 23"/>
          <p:cNvSpPr/>
          <p:nvPr/>
        </p:nvSpPr>
        <p:spPr>
          <a:xfrm>
            <a:off x="428625" y="4500563"/>
            <a:ext cx="8286750" cy="0"/>
          </a:xfrm>
          <a:prstGeom prst="straightConnector1">
            <a:avLst/>
          </a:prstGeom>
          <a:noFill/>
          <a:ln w="12700">
            <a:solidFill>
              <a:srgbClr val="D5C9C1"/>
            </a:solidFill>
            <a:prstDash val="solid"/>
            <a:headEnd type="none"/>
            <a:tailEnd type="none"/>
          </a:ln>
        </p:spPr>
        <p:txBody>
          <a:bodyPr/>
          <a:lstStyle/>
          <a:p>
            <a:endParaRPr lang="en-US"/>
          </a:p>
        </p:txBody>
      </p:sp>
      <p:sp>
        <p:nvSpPr>
          <p:cNvPr id="26" name="Text 24"/>
          <p:cNvSpPr/>
          <p:nvPr/>
        </p:nvSpPr>
        <p:spPr>
          <a:xfrm>
            <a:off x="428625" y="4557713"/>
            <a:ext cx="8286750" cy="535781"/>
          </a:xfrm>
          <a:prstGeom prst="rect">
            <a:avLst/>
          </a:prstGeom>
          <a:noFill/>
          <a:ln/>
        </p:spPr>
        <p:txBody>
          <a:bodyPr wrap="square" lIns="0" tIns="0" rIns="0" bIns="0" rtlCol="0" anchor="t"/>
          <a:lstStyle/>
          <a:p>
            <a:pPr>
              <a:lnSpc>
                <a:spcPct val="150000"/>
              </a:lnSpc>
            </a:pPr>
            <a:r>
              <a:rPr lang="en-US" sz="675" b="1" dirty="0">
                <a:solidFill>
                  <a:srgbClr val="8C7B74"/>
                </a:solidFill>
                <a:latin typeface="QuattrocentoSans" pitchFamily="34" charset="0"/>
                <a:ea typeface="QuattrocentoSans" pitchFamily="34" charset="-122"/>
                <a:cs typeface="QuattrocentoSans" pitchFamily="34" charset="-120"/>
              </a:rPr>
              <a:t>References:</a:t>
            </a:r>
            <a:endParaRPr lang="en-US" sz="675" dirty="0"/>
          </a:p>
          <a:p>
            <a:pPr>
              <a:lnSpc>
                <a:spcPct val="150000"/>
              </a:lnSpc>
            </a:pPr>
            <a:r>
              <a:rPr lang="en-US" sz="675" dirty="0">
                <a:solidFill>
                  <a:srgbClr val="8C7B74"/>
                </a:solidFill>
                <a:latin typeface="QuattrocentoSans" pitchFamily="34" charset="0"/>
                <a:ea typeface="QuattrocentoSans" pitchFamily="34" charset="-122"/>
                <a:cs typeface="QuattrocentoSans" pitchFamily="34" charset="-120"/>
              </a:rPr>
              <a:t>1. EMA. Guideline on the investigation of subgroups in confirmatory clinical trials. 2019. </a:t>
            </a:r>
            <a:r>
              <a:rPr lang="en-US" sz="675" u="sng" dirty="0">
                <a:solidFill>
                  <a:srgbClr val="8C7B74"/>
                </a:solidFill>
                <a:latin typeface="QuattrocentoSans" pitchFamily="34" charset="0"/>
                <a:ea typeface="QuattrocentoSans" pitchFamily="34" charset="-122"/>
                <a:cs typeface="QuattrocentoSans" pitchFamily="34" charset="-120"/>
                <a:hlinkClick r:id="rId3" action="ppaction://hlinkfile">
                  <a:extLst>
                    <a:ext uri="{A12FA001-AC4F-418D-AE19-62706E023703}">
                      <ahyp:hlinkClr xmlns:ahyp="http://schemas.microsoft.com/office/drawing/2018/hyperlinkcolor" val="tx"/>
                    </a:ext>
                  </a:extLst>
                </a:hlinkClick>
              </a:rPr>
              <a:t>Link</a:t>
            </a:r>
            <a:endParaRPr lang="en-US" sz="675" dirty="0"/>
          </a:p>
          <a:p>
            <a:pPr>
              <a:lnSpc>
                <a:spcPct val="150000"/>
              </a:lnSpc>
            </a:pPr>
            <a:r>
              <a:rPr lang="en-US" sz="675" dirty="0">
                <a:solidFill>
                  <a:srgbClr val="8C7B74"/>
                </a:solidFill>
                <a:latin typeface="QuattrocentoSans" pitchFamily="34" charset="0"/>
                <a:ea typeface="QuattrocentoSans" pitchFamily="34" charset="-122"/>
                <a:cs typeface="QuattrocentoSans" pitchFamily="34" charset="-120"/>
              </a:rPr>
              <a:t>2. Kernan WN, et al. Stratified randomization for clinical trials. J Clin Epidemiol. 1999. 3. PMID 34117032. </a:t>
            </a:r>
            <a:r>
              <a:rPr lang="en-US" sz="675" u="sng" dirty="0">
                <a:solidFill>
                  <a:srgbClr val="8C7B74"/>
                </a:solidFill>
                <a:latin typeface="QuattrocentoSans" pitchFamily="34" charset="0"/>
                <a:ea typeface="QuattrocentoSans" pitchFamily="34" charset="-122"/>
                <a:cs typeface="QuattrocentoSans" pitchFamily="34" charset="-120"/>
                <a:hlinkClick r:id="rId4" action="ppaction://hlinkfile">
                  <a:extLst>
                    <a:ext uri="{A12FA001-AC4F-418D-AE19-62706E023703}">
                      <ahyp:hlinkClr xmlns:ahyp="http://schemas.microsoft.com/office/drawing/2018/hyperlinkcolor" val="tx"/>
                    </a:ext>
                  </a:extLst>
                </a:hlinkClick>
              </a:rPr>
              <a:t>Link</a:t>
            </a:r>
            <a:endParaRPr lang="en-US" sz="675" dirty="0"/>
          </a:p>
        </p:txBody>
      </p:sp>
      <p:sp>
        <p:nvSpPr>
          <p:cNvPr id="28" name="TextBox 27">
            <a:extLst>
              <a:ext uri="{FF2B5EF4-FFF2-40B4-BE49-F238E27FC236}">
                <a16:creationId xmlns:a16="http://schemas.microsoft.com/office/drawing/2014/main" id="{F1BF7C8A-ABEB-FF6D-8E12-242FC2ABB50C}"/>
              </a:ext>
            </a:extLst>
          </p:cNvPr>
          <p:cNvSpPr txBox="1"/>
          <p:nvPr/>
        </p:nvSpPr>
        <p:spPr>
          <a:xfrm>
            <a:off x="457199" y="1344097"/>
            <a:ext cx="3352035" cy="2181751"/>
          </a:xfrm>
          <a:prstGeom prst="rect">
            <a:avLst/>
          </a:prstGeom>
          <a:noFill/>
        </p:spPr>
        <p:txBody>
          <a:bodyPr wrap="square">
            <a:spAutoFit/>
          </a:bodyPr>
          <a:lstStyle/>
          <a:p>
            <a:pPr>
              <a:lnSpc>
                <a:spcPct val="200000"/>
              </a:lnSpc>
            </a:pPr>
            <a:r>
              <a:rPr lang="en-US"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随机</a:t>
            </a:r>
            <a:r>
              <a:rPr lang="en-US" sz="1400" dirty="0" err="1">
                <a:latin typeface="微软雅黑" panose="020B0503020204020204" pitchFamily="34" charset="-122"/>
                <a:ea typeface="微软雅黑" panose="020B0503020204020204" pitchFamily="34" charset="-122"/>
              </a:rPr>
              <a:t>分层因素是在</a:t>
            </a:r>
            <a:r>
              <a:rPr lang="zh-CN" altLang="en-US" sz="1400" dirty="0">
                <a:latin typeface="微软雅黑" panose="020B0503020204020204" pitchFamily="34" charset="-122"/>
                <a:ea typeface="微软雅黑" panose="020B0503020204020204" pitchFamily="34" charset="-122"/>
              </a:rPr>
              <a:t>研究设计</a:t>
            </a:r>
            <a:r>
              <a:rPr lang="en-US" sz="1400" dirty="0" err="1">
                <a:latin typeface="微软雅黑" panose="020B0503020204020204" pitchFamily="34" charset="-122"/>
                <a:ea typeface="微软雅黑" panose="020B0503020204020204" pitchFamily="34" charset="-122"/>
              </a:rPr>
              <a:t>中预先选定的受试者基线特征</a:t>
            </a:r>
            <a:r>
              <a:rPr lang="en-US"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往往是</a:t>
            </a:r>
            <a:r>
              <a:rPr lang="zh-CN" altLang="en-US" sz="1400" b="1" dirty="0">
                <a:solidFill>
                  <a:schemeClr val="accent2"/>
                </a:solidFill>
                <a:latin typeface="微软雅黑" panose="020B0503020204020204" pitchFamily="34" charset="-122"/>
                <a:ea typeface="微软雅黑" panose="020B0503020204020204" pitchFamily="34" charset="-122"/>
              </a:rPr>
              <a:t>预后因素</a:t>
            </a:r>
            <a:r>
              <a:rPr lang="zh-CN" altLang="en-US" sz="1400" dirty="0">
                <a:latin typeface="微软雅黑" panose="020B0503020204020204" pitchFamily="34" charset="-122"/>
                <a:ea typeface="微软雅黑" panose="020B0503020204020204" pitchFamily="34" charset="-122"/>
              </a:rPr>
              <a:t>，</a:t>
            </a:r>
            <a:r>
              <a:rPr lang="en-US" sz="1400" dirty="0" err="1">
                <a:latin typeface="微软雅黑" panose="020B0503020204020204" pitchFamily="34" charset="-122"/>
                <a:ea typeface="微软雅黑" panose="020B0503020204020204" pitchFamily="34" charset="-122"/>
              </a:rPr>
              <a:t>通过在每个因素水平内分别进行随机</a:t>
            </a:r>
            <a:r>
              <a:rPr lang="zh-CN" altLang="en-US" sz="1400" dirty="0">
                <a:latin typeface="微软雅黑" panose="020B0503020204020204" pitchFamily="34" charset="-122"/>
                <a:ea typeface="微软雅黑" panose="020B0503020204020204" pitchFamily="34" charset="-122"/>
              </a:rPr>
              <a:t>组别</a:t>
            </a:r>
            <a:r>
              <a:rPr lang="en-US" sz="1400" dirty="0" err="1">
                <a:latin typeface="微软雅黑" panose="020B0503020204020204" pitchFamily="34" charset="-122"/>
                <a:ea typeface="微软雅黑" panose="020B0503020204020204" pitchFamily="34" charset="-122"/>
              </a:rPr>
              <a:t>分配，有效减少已知预后因素在治疗组间的不平衡</a:t>
            </a:r>
            <a:r>
              <a:rPr lang="en-US" sz="1400" dirty="0">
                <a:latin typeface="微软雅黑" panose="020B0503020204020204" pitchFamily="34" charset="-122"/>
                <a:ea typeface="微软雅黑" panose="020B0503020204020204" pitchFamily="34" charset="-122"/>
              </a:rPr>
              <a:t>。</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76428DFD-C094-48C1-AFC1-3C538BF110BA}"/>
              </a:ext>
            </a:extLst>
          </p:cNvPr>
          <p:cNvSpPr>
            <a:spLocks noGrp="1"/>
          </p:cNvSpPr>
          <p:nvPr>
            <p:ph type="body" sz="quarter" idx="11"/>
          </p:nvPr>
        </p:nvSpPr>
        <p:spPr>
          <a:xfrm>
            <a:off x="318375" y="682544"/>
            <a:ext cx="8464118" cy="3172141"/>
          </a:xfrm>
        </p:spPr>
        <p:txBody>
          <a:bodyPr/>
          <a:lstStyle/>
          <a:p>
            <a:r>
              <a:rPr lang="zh-CN" altLang="en-US" sz="2000" b="1" dirty="0"/>
              <a:t>监管建议：</a:t>
            </a:r>
            <a:endParaRPr lang="en-US" altLang="zh-CN" sz="1800" b="1" dirty="0"/>
          </a:p>
          <a:p>
            <a:endParaRPr lang="en-US" altLang="zh-CN" sz="1800" b="1" dirty="0"/>
          </a:p>
          <a:p>
            <a:pPr>
              <a:lnSpc>
                <a:spcPct val="150000"/>
              </a:lnSpc>
            </a:pPr>
            <a:r>
              <a:rPr lang="en-US" altLang="zh-CN" sz="1800" dirty="0">
                <a:latin typeface="Times New Roman" panose="02020603050405020304" pitchFamily="18" charset="0"/>
                <a:cs typeface="Times New Roman" panose="02020603050405020304" pitchFamily="18" charset="0"/>
              </a:rPr>
              <a:t>     More generally, stratification by important prognostic factors measured at baseline(e.g., severity of disease, age, sex) may sometimes be valuable in order to promote balanced allocation within strata; this has greater potential benefit in small trials. </a:t>
            </a:r>
          </a:p>
          <a:p>
            <a:pPr>
              <a:lnSpc>
                <a:spcPct val="150000"/>
              </a:lnSpc>
            </a:pPr>
            <a:r>
              <a:rPr lang="en-US" altLang="zh-CN" sz="1800" dirty="0">
                <a:latin typeface="Times New Roman" panose="02020603050405020304" pitchFamily="18" charset="0"/>
                <a:cs typeface="Times New Roman" panose="02020603050405020304" pitchFamily="18" charset="0"/>
              </a:rPr>
              <a:t>      </a:t>
            </a:r>
            <a:r>
              <a:rPr lang="en-US" altLang="zh-CN" sz="1800" b="1" u="sng" dirty="0">
                <a:solidFill>
                  <a:schemeClr val="accent2"/>
                </a:solidFill>
                <a:latin typeface="Times New Roman" panose="02020603050405020304" pitchFamily="18" charset="0"/>
                <a:cs typeface="Times New Roman" panose="02020603050405020304" pitchFamily="18" charset="0"/>
              </a:rPr>
              <a:t>The use of more than two or three stratification factors is rarely necessary</a:t>
            </a:r>
            <a:r>
              <a:rPr lang="en-US" altLang="zh-CN" sz="1800" dirty="0">
                <a:latin typeface="Times New Roman" panose="02020603050405020304" pitchFamily="18" charset="0"/>
                <a:cs typeface="Times New Roman" panose="02020603050405020304" pitchFamily="18" charset="0"/>
              </a:rPr>
              <a:t>, is less successful at achieving balance, and is logistically troublesome</a:t>
            </a:r>
            <a:endParaRPr lang="en-US" sz="1800" dirty="0">
              <a:latin typeface="Times New Roman" panose="02020603050405020304" pitchFamily="18" charset="0"/>
              <a:cs typeface="Times New Roman" panose="02020603050405020304" pitchFamily="18" charset="0"/>
            </a:endParaRPr>
          </a:p>
        </p:txBody>
      </p:sp>
      <p:sp>
        <p:nvSpPr>
          <p:cNvPr id="18" name="Slide Number Placeholder 17">
            <a:extLst>
              <a:ext uri="{FF2B5EF4-FFF2-40B4-BE49-F238E27FC236}">
                <a16:creationId xmlns:a16="http://schemas.microsoft.com/office/drawing/2014/main" id="{4D92C0CD-66D6-D347-8138-3268D28C534A}"/>
              </a:ext>
            </a:extLst>
          </p:cNvPr>
          <p:cNvSpPr>
            <a:spLocks noGrp="1"/>
          </p:cNvSpPr>
          <p:nvPr>
            <p:ph type="sldNum" sz="quarter" idx="4"/>
          </p:nvPr>
        </p:nvSpPr>
        <p:spPr/>
        <p:txBody>
          <a:bodyPr/>
          <a:lstStyle/>
          <a:p>
            <a:fld id="{3C4F54F3-C349-4609-AFEE-01462D5C7942}" type="slidenum">
              <a:rPr lang="en-GB" smtClean="0"/>
              <a:pPr/>
              <a:t>5</a:t>
            </a:fld>
            <a:endParaRPr lang="en-GB" dirty="0"/>
          </a:p>
        </p:txBody>
      </p:sp>
      <p:sp>
        <p:nvSpPr>
          <p:cNvPr id="4" name="Text 0">
            <a:extLst>
              <a:ext uri="{FF2B5EF4-FFF2-40B4-BE49-F238E27FC236}">
                <a16:creationId xmlns:a16="http://schemas.microsoft.com/office/drawing/2014/main" id="{9812C372-E8F8-85F9-3007-2BBA90578F99}"/>
              </a:ext>
            </a:extLst>
          </p:cNvPr>
          <p:cNvSpPr/>
          <p:nvPr/>
        </p:nvSpPr>
        <p:spPr>
          <a:xfrm>
            <a:off x="318375" y="186210"/>
            <a:ext cx="6429375" cy="321469"/>
          </a:xfrm>
          <a:prstGeom prst="rect">
            <a:avLst/>
          </a:prstGeom>
          <a:noFill/>
          <a:ln/>
        </p:spPr>
        <p:txBody>
          <a:bodyPr wrap="none" lIns="0" tIns="0" rIns="0" bIns="0" rtlCol="0" anchor="ctr"/>
          <a:lstStyle/>
          <a:p>
            <a:pPr>
              <a:lnSpc>
                <a:spcPct val="100000"/>
              </a:lnSpc>
            </a:pPr>
            <a:r>
              <a:rPr lang="en-US" altLang="zh-CN" sz="2000" b="1" dirty="0">
                <a:solidFill>
                  <a:srgbClr val="BF1733"/>
                </a:solidFill>
                <a:latin typeface="QuattrocentoSans" pitchFamily="34" charset="0"/>
                <a:ea typeface="QuattrocentoSans" pitchFamily="34" charset="-122"/>
                <a:cs typeface="QuattrocentoSans" pitchFamily="34" charset="-120"/>
              </a:rPr>
              <a:t>01.2 </a:t>
            </a:r>
            <a:r>
              <a:rPr lang="zh-CN" altLang="en-US" sz="2000" b="1" dirty="0">
                <a:solidFill>
                  <a:srgbClr val="BF1733"/>
                </a:solidFill>
                <a:latin typeface="QuattrocentoSans" pitchFamily="34" charset="0"/>
                <a:ea typeface="QuattrocentoSans" pitchFamily="34" charset="-122"/>
                <a:cs typeface="QuattrocentoSans" pitchFamily="34" charset="-120"/>
              </a:rPr>
              <a:t>分层因素选择</a:t>
            </a:r>
            <a:endParaRPr lang="en-US" sz="2000" dirty="0">
              <a:solidFill>
                <a:srgbClr val="BF1733"/>
              </a:solidFill>
            </a:endParaRPr>
          </a:p>
        </p:txBody>
      </p:sp>
      <p:sp>
        <p:nvSpPr>
          <p:cNvPr id="3" name="TextBox 2">
            <a:extLst>
              <a:ext uri="{FF2B5EF4-FFF2-40B4-BE49-F238E27FC236}">
                <a16:creationId xmlns:a16="http://schemas.microsoft.com/office/drawing/2014/main" id="{45A127DF-C1D2-C2CE-1333-45C97B946CAF}"/>
              </a:ext>
            </a:extLst>
          </p:cNvPr>
          <p:cNvSpPr txBox="1"/>
          <p:nvPr/>
        </p:nvSpPr>
        <p:spPr>
          <a:xfrm>
            <a:off x="445674" y="4268713"/>
            <a:ext cx="7850372" cy="307777"/>
          </a:xfrm>
          <a:prstGeom prst="rect">
            <a:avLst/>
          </a:prstGeom>
          <a:noFill/>
        </p:spPr>
        <p:txBody>
          <a:bodyPr wrap="square">
            <a:spAutoFit/>
          </a:bodyPr>
          <a:lstStyle/>
          <a:p>
            <a:r>
              <a:rPr lang="en-US" sz="1400" dirty="0">
                <a:latin typeface="Times New Roman" panose="02020603050405020304" pitchFamily="18" charset="0"/>
                <a:cs typeface="Times New Roman" panose="02020603050405020304" pitchFamily="18" charset="0"/>
              </a:rPr>
              <a:t>ICH. Statistical Principles for Clinical Trials. ICH </a:t>
            </a:r>
            <a:r>
              <a:rPr lang="en-US" sz="1400" dirty="0" err="1">
                <a:latin typeface="Times New Roman" panose="02020603050405020304" pitchFamily="18" charset="0"/>
                <a:cs typeface="Times New Roman" panose="02020603050405020304" pitchFamily="18" charset="0"/>
              </a:rPr>
              <a:t>Harmonised</a:t>
            </a:r>
            <a:r>
              <a:rPr lang="en-US" sz="1400" dirty="0">
                <a:latin typeface="Times New Roman" panose="02020603050405020304" pitchFamily="18" charset="0"/>
                <a:cs typeface="Times New Roman" panose="02020603050405020304" pitchFamily="18" charset="0"/>
              </a:rPr>
              <a:t> Tripartite Guideline. 1998.</a:t>
            </a:r>
          </a:p>
        </p:txBody>
      </p:sp>
    </p:spTree>
    <p:extLst>
      <p:ext uri="{BB962C8B-B14F-4D97-AF65-F5344CB8AC3E}">
        <p14:creationId xmlns:p14="http://schemas.microsoft.com/office/powerpoint/2010/main" val="198003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8625" y="200025"/>
            <a:ext cx="8286750" cy="300038"/>
          </a:xfrm>
          <a:prstGeom prst="rect">
            <a:avLst/>
          </a:prstGeom>
          <a:noFill/>
          <a:ln/>
        </p:spPr>
        <p:txBody>
          <a:bodyPr wrap="none" lIns="0" tIns="0" rIns="0" bIns="0" rtlCol="0" anchor="ctr"/>
          <a:lstStyle/>
          <a:p>
            <a:pPr algn="ctr">
              <a:lnSpc>
                <a:spcPct val="100000"/>
              </a:lnSpc>
            </a:pPr>
            <a:r>
              <a:rPr lang="en-US" sz="1575" b="1" dirty="0">
                <a:solidFill>
                  <a:srgbClr val="A04030"/>
                </a:solidFill>
                <a:latin typeface="QuattrocentoSans" pitchFamily="34" charset="0"/>
                <a:ea typeface="QuattrocentoSans" pitchFamily="34" charset="-122"/>
                <a:cs typeface="QuattrocentoSans" pitchFamily="34" charset="-120"/>
              </a:rPr>
              <a:t>预测性因素与预后性因素的区别</a:t>
            </a:r>
            <a:endParaRPr lang="en-US" sz="1575" dirty="0"/>
          </a:p>
        </p:txBody>
      </p:sp>
      <p:sp>
        <p:nvSpPr>
          <p:cNvPr id="3" name="Shape 1"/>
          <p:cNvSpPr/>
          <p:nvPr/>
        </p:nvSpPr>
        <p:spPr>
          <a:xfrm>
            <a:off x="428625" y="542925"/>
            <a:ext cx="8286750" cy="14288"/>
          </a:xfrm>
          <a:prstGeom prst="rect">
            <a:avLst/>
          </a:prstGeom>
          <a:solidFill>
            <a:srgbClr val="C87860"/>
          </a:solidFill>
          <a:ln/>
        </p:spPr>
        <p:txBody>
          <a:bodyPr/>
          <a:lstStyle/>
          <a:p>
            <a:endParaRPr lang="en-US"/>
          </a:p>
        </p:txBody>
      </p:sp>
      <p:sp>
        <p:nvSpPr>
          <p:cNvPr id="4" name="Shape 2"/>
          <p:cNvSpPr/>
          <p:nvPr/>
        </p:nvSpPr>
        <p:spPr>
          <a:xfrm>
            <a:off x="428625" y="657225"/>
            <a:ext cx="3964781" cy="1585913"/>
          </a:xfrm>
          <a:prstGeom prst="rect">
            <a:avLst/>
          </a:prstGeom>
          <a:solidFill>
            <a:srgbClr val="F5E6DE"/>
          </a:solidFill>
          <a:ln/>
        </p:spPr>
        <p:txBody>
          <a:bodyPr/>
          <a:lstStyle/>
          <a:p>
            <a:endParaRPr lang="en-US"/>
          </a:p>
        </p:txBody>
      </p:sp>
      <p:sp>
        <p:nvSpPr>
          <p:cNvPr id="5" name="Shape 3"/>
          <p:cNvSpPr/>
          <p:nvPr/>
        </p:nvSpPr>
        <p:spPr>
          <a:xfrm>
            <a:off x="428625" y="657225"/>
            <a:ext cx="35719" cy="1585913"/>
          </a:xfrm>
          <a:prstGeom prst="rect">
            <a:avLst/>
          </a:prstGeom>
          <a:solidFill>
            <a:srgbClr val="A04030"/>
          </a:solidFill>
          <a:ln/>
        </p:spPr>
        <p:txBody>
          <a:bodyPr/>
          <a:lstStyle/>
          <a:p>
            <a:endParaRPr lang="en-US"/>
          </a:p>
        </p:txBody>
      </p:sp>
      <p:sp>
        <p:nvSpPr>
          <p:cNvPr id="6" name="Text 4"/>
          <p:cNvSpPr/>
          <p:nvPr/>
        </p:nvSpPr>
        <p:spPr>
          <a:xfrm>
            <a:off x="571500" y="714375"/>
            <a:ext cx="3679031" cy="214313"/>
          </a:xfrm>
          <a:prstGeom prst="rect">
            <a:avLst/>
          </a:prstGeom>
          <a:noFill/>
          <a:ln/>
        </p:spPr>
        <p:txBody>
          <a:bodyPr wrap="none" lIns="0" tIns="0" rIns="0" bIns="0" rtlCol="0" anchor="ctr"/>
          <a:lstStyle/>
          <a:p>
            <a:pPr>
              <a:lnSpc>
                <a:spcPct val="100000"/>
              </a:lnSpc>
            </a:pPr>
            <a:r>
              <a:rPr lang="en-US" sz="1125" b="1" dirty="0">
                <a:solidFill>
                  <a:srgbClr val="A04030"/>
                </a:solidFill>
                <a:latin typeface="QuattrocentoSans" pitchFamily="34" charset="0"/>
                <a:ea typeface="QuattrocentoSans" pitchFamily="34" charset="-122"/>
                <a:cs typeface="QuattrocentoSans" pitchFamily="34" charset="-120"/>
              </a:rPr>
              <a:t>预后因素 </a:t>
            </a:r>
            <a:r>
              <a:rPr lang="en-US" sz="1125" b="1" dirty="0">
                <a:solidFill>
                  <a:srgbClr val="A04030"/>
                </a:solidFill>
                <a:latin typeface="Times New Roman" panose="02020603050405020304" pitchFamily="18" charset="0"/>
                <a:ea typeface="QuattrocentoSans" pitchFamily="34" charset="-122"/>
                <a:cs typeface="Times New Roman" panose="02020603050405020304" pitchFamily="18" charset="0"/>
              </a:rPr>
              <a:t>Prognostic Factor</a:t>
            </a:r>
            <a:endParaRPr lang="en-US" sz="1125" dirty="0">
              <a:latin typeface="Times New Roman" panose="02020603050405020304" pitchFamily="18" charset="0"/>
              <a:cs typeface="Times New Roman" panose="02020603050405020304" pitchFamily="18" charset="0"/>
            </a:endParaRPr>
          </a:p>
        </p:txBody>
      </p:sp>
      <p:sp>
        <p:nvSpPr>
          <p:cNvPr id="8" name="Text 6"/>
          <p:cNvSpPr/>
          <p:nvPr/>
        </p:nvSpPr>
        <p:spPr>
          <a:xfrm>
            <a:off x="571500" y="950119"/>
            <a:ext cx="3798689" cy="1271588"/>
          </a:xfrm>
          <a:prstGeom prst="rect">
            <a:avLst/>
          </a:prstGeom>
          <a:noFill/>
          <a:ln/>
        </p:spPr>
        <p:txBody>
          <a:bodyPr wrap="square" lIns="0" tIns="0" rIns="0" bIns="0" rtlCol="0" anchor="t"/>
          <a:lstStyle/>
          <a:p>
            <a:pPr>
              <a:lnSpc>
                <a:spcPct val="150000"/>
              </a:lnSpc>
            </a:pPr>
            <a:r>
              <a:rPr lang="en-US" sz="900" dirty="0">
                <a:solidFill>
                  <a:srgbClr val="3D1F18"/>
                </a:solidFill>
                <a:latin typeface="Times New Roman" panose="02020603050405020304" pitchFamily="18" charset="0"/>
                <a:ea typeface="QuattrocentoSans" pitchFamily="34" charset="-122"/>
                <a:cs typeface="Times New Roman" panose="02020603050405020304" pitchFamily="18" charset="0"/>
              </a:rPr>
              <a:t>A biomarker used to identify likelihood of a clinical event, disease recurrence or progression in patients who have the disease or medical condition of interest.</a:t>
            </a:r>
          </a:p>
          <a:p>
            <a:pPr>
              <a:lnSpc>
                <a:spcPct val="150000"/>
              </a:lnSpc>
              <a:spcBef>
                <a:spcPts val="338"/>
              </a:spcBef>
            </a:pPr>
            <a:r>
              <a:rPr lang="en-US" sz="900" b="1" dirty="0" err="1">
                <a:solidFill>
                  <a:srgbClr val="3D1F18"/>
                </a:solidFill>
                <a:latin typeface="微软雅黑" panose="020B0503020204020204" pitchFamily="34" charset="-122"/>
                <a:ea typeface="微软雅黑" panose="020B0503020204020204" pitchFamily="34" charset="-122"/>
                <a:cs typeface="Times New Roman" panose="02020603050405020304" pitchFamily="18" charset="0"/>
              </a:rPr>
              <a:t>示例</a:t>
            </a:r>
            <a:r>
              <a:rPr lang="en-US" sz="900" dirty="0" err="1">
                <a:solidFill>
                  <a:srgbClr val="3D1F18"/>
                </a:solidFill>
                <a:latin typeface="微软雅黑" panose="020B0503020204020204" pitchFamily="34" charset="-122"/>
                <a:ea typeface="微软雅黑" panose="020B0503020204020204" pitchFamily="34" charset="-122"/>
                <a:cs typeface="Times New Roman" panose="02020603050405020304" pitchFamily="18" charset="0"/>
              </a:rPr>
              <a:t>：</a:t>
            </a:r>
            <a:r>
              <a:rPr lang="en-US" sz="900" dirty="0" err="1">
                <a:solidFill>
                  <a:srgbClr val="3D1F18"/>
                </a:solidFill>
                <a:latin typeface="Times New Roman" panose="02020603050405020304" pitchFamily="18" charset="0"/>
                <a:ea typeface="QuattrocentoSans" pitchFamily="34" charset="-122"/>
                <a:cs typeface="Times New Roman" panose="02020603050405020304" pitchFamily="18" charset="0"/>
              </a:rPr>
              <a:t>Increasing</a:t>
            </a:r>
            <a:r>
              <a:rPr lang="en-US" sz="900" dirty="0">
                <a:solidFill>
                  <a:srgbClr val="3D1F18"/>
                </a:solidFill>
                <a:latin typeface="Times New Roman" panose="02020603050405020304" pitchFamily="18" charset="0"/>
                <a:ea typeface="QuattrocentoSans" pitchFamily="34" charset="-122"/>
                <a:cs typeface="Times New Roman" panose="02020603050405020304" pitchFamily="18" charset="0"/>
              </a:rPr>
              <a:t> prostate-specific antigen (PSA) may be used as a prognostic biomarker when evaluating patients with prostate cancer during follow-up, to assess the likelihood of cancer progression</a:t>
            </a:r>
            <a:endParaRPr lang="en-US" sz="900" dirty="0">
              <a:solidFill>
                <a:srgbClr val="3D1F18"/>
              </a:solidFill>
              <a:latin typeface="QuattrocentoSans" pitchFamily="34" charset="0"/>
              <a:ea typeface="QuattrocentoSans" pitchFamily="34" charset="-122"/>
              <a:cs typeface="QuattrocentoSans" pitchFamily="34" charset="-120"/>
            </a:endParaRPr>
          </a:p>
        </p:txBody>
      </p:sp>
      <p:sp>
        <p:nvSpPr>
          <p:cNvPr id="9" name="Shape 7"/>
          <p:cNvSpPr/>
          <p:nvPr/>
        </p:nvSpPr>
        <p:spPr>
          <a:xfrm>
            <a:off x="4750594" y="657226"/>
            <a:ext cx="4107655" cy="1564482"/>
          </a:xfrm>
          <a:prstGeom prst="rect">
            <a:avLst/>
          </a:prstGeom>
          <a:solidFill>
            <a:srgbClr val="F5E6DE"/>
          </a:solidFill>
          <a:ln/>
        </p:spPr>
        <p:txBody>
          <a:bodyPr/>
          <a:lstStyle/>
          <a:p>
            <a:endParaRPr lang="en-US"/>
          </a:p>
        </p:txBody>
      </p:sp>
      <p:sp>
        <p:nvSpPr>
          <p:cNvPr id="10" name="Shape 8"/>
          <p:cNvSpPr/>
          <p:nvPr/>
        </p:nvSpPr>
        <p:spPr>
          <a:xfrm>
            <a:off x="4750594" y="657225"/>
            <a:ext cx="35719" cy="1585913"/>
          </a:xfrm>
          <a:prstGeom prst="rect">
            <a:avLst/>
          </a:prstGeom>
          <a:solidFill>
            <a:srgbClr val="D46050"/>
          </a:solidFill>
          <a:ln/>
        </p:spPr>
        <p:txBody>
          <a:bodyPr/>
          <a:lstStyle/>
          <a:p>
            <a:endParaRPr lang="en-US"/>
          </a:p>
        </p:txBody>
      </p:sp>
      <p:sp>
        <p:nvSpPr>
          <p:cNvPr id="11" name="Text 9"/>
          <p:cNvSpPr/>
          <p:nvPr/>
        </p:nvSpPr>
        <p:spPr>
          <a:xfrm>
            <a:off x="4839890" y="669498"/>
            <a:ext cx="3679031" cy="214313"/>
          </a:xfrm>
          <a:prstGeom prst="rect">
            <a:avLst/>
          </a:prstGeom>
          <a:noFill/>
          <a:ln/>
        </p:spPr>
        <p:txBody>
          <a:bodyPr wrap="none" lIns="0" tIns="0" rIns="0" bIns="0" rtlCol="0" anchor="ctr"/>
          <a:lstStyle/>
          <a:p>
            <a:pPr>
              <a:lnSpc>
                <a:spcPct val="100000"/>
              </a:lnSpc>
            </a:pPr>
            <a:r>
              <a:rPr lang="en-US" sz="1125" b="1" dirty="0">
                <a:solidFill>
                  <a:srgbClr val="A04030"/>
                </a:solidFill>
                <a:latin typeface="QuattrocentoSans" pitchFamily="34" charset="0"/>
                <a:ea typeface="QuattrocentoSans" pitchFamily="34" charset="-122"/>
                <a:cs typeface="QuattrocentoSans" pitchFamily="34" charset="-120"/>
              </a:rPr>
              <a:t>预测因素 </a:t>
            </a:r>
            <a:r>
              <a:rPr lang="en-US" sz="1125" b="1" dirty="0">
                <a:solidFill>
                  <a:srgbClr val="A04030"/>
                </a:solidFill>
                <a:latin typeface="Times New Roman" panose="02020603050405020304" pitchFamily="18" charset="0"/>
                <a:ea typeface="QuattrocentoSans" pitchFamily="34" charset="-122"/>
                <a:cs typeface="Times New Roman" panose="02020603050405020304" pitchFamily="18" charset="0"/>
              </a:rPr>
              <a:t>Predictive Factor</a:t>
            </a:r>
            <a:endParaRPr lang="en-US" sz="1125" dirty="0">
              <a:latin typeface="Times New Roman" panose="02020603050405020304" pitchFamily="18" charset="0"/>
              <a:cs typeface="Times New Roman" panose="02020603050405020304" pitchFamily="18" charset="0"/>
            </a:endParaRPr>
          </a:p>
        </p:txBody>
      </p:sp>
      <p:sp>
        <p:nvSpPr>
          <p:cNvPr id="13" name="Text 11"/>
          <p:cNvSpPr/>
          <p:nvPr/>
        </p:nvSpPr>
        <p:spPr>
          <a:xfrm>
            <a:off x="4839890" y="893831"/>
            <a:ext cx="4036215" cy="1271588"/>
          </a:xfrm>
          <a:prstGeom prst="rect">
            <a:avLst/>
          </a:prstGeom>
          <a:noFill/>
          <a:ln/>
        </p:spPr>
        <p:txBody>
          <a:bodyPr wrap="square" lIns="0" tIns="0" rIns="0" bIns="0" rtlCol="0" anchor="t"/>
          <a:lstStyle/>
          <a:p>
            <a:pPr>
              <a:lnSpc>
                <a:spcPct val="150000"/>
              </a:lnSpc>
            </a:pPr>
            <a:r>
              <a:rPr lang="en-US" sz="900" dirty="0">
                <a:solidFill>
                  <a:srgbClr val="3D1F18"/>
                </a:solidFill>
                <a:latin typeface="Times New Roman" panose="02020603050405020304" pitchFamily="18" charset="0"/>
                <a:ea typeface="QuattrocentoSans" pitchFamily="34" charset="-122"/>
                <a:cs typeface="Times New Roman" panose="02020603050405020304" pitchFamily="18" charset="0"/>
              </a:rPr>
              <a:t>A biomarker used to identify individuals who are more likely than similar individuals without the biomarker to experience a favorable or unfavorable effect from exposure to a medical product or an environmental agent.</a:t>
            </a:r>
          </a:p>
          <a:p>
            <a:pPr>
              <a:lnSpc>
                <a:spcPct val="150000"/>
              </a:lnSpc>
            </a:pPr>
            <a:r>
              <a:rPr lang="en-US" sz="800" b="1" dirty="0" err="1">
                <a:solidFill>
                  <a:srgbClr val="3D1F18"/>
                </a:solidFill>
                <a:latin typeface="微软雅黑" panose="020B0503020204020204" pitchFamily="34" charset="-122"/>
                <a:ea typeface="微软雅黑" panose="020B0503020204020204" pitchFamily="34" charset="-122"/>
                <a:cs typeface="Times New Roman" panose="02020603050405020304" pitchFamily="18" charset="0"/>
              </a:rPr>
              <a:t>示例</a:t>
            </a:r>
            <a:r>
              <a:rPr lang="en-US" sz="800" dirty="0" err="1">
                <a:solidFill>
                  <a:srgbClr val="3D1F18"/>
                </a:solidFill>
                <a:latin typeface="微软雅黑" panose="020B0503020204020204" pitchFamily="34" charset="-122"/>
                <a:ea typeface="微软雅黑" panose="020B0503020204020204" pitchFamily="34" charset="-122"/>
                <a:cs typeface="Times New Roman" panose="02020603050405020304" pitchFamily="18" charset="0"/>
              </a:rPr>
              <a:t>：</a:t>
            </a:r>
            <a:r>
              <a:rPr lang="en-US" sz="900" dirty="0" err="1">
                <a:solidFill>
                  <a:srgbClr val="3D1F18"/>
                </a:solidFill>
                <a:latin typeface="Times New Roman" panose="02020603050405020304" pitchFamily="18" charset="0"/>
                <a:ea typeface="微软雅黑" panose="020B0503020204020204" pitchFamily="34" charset="-122"/>
                <a:cs typeface="Times New Roman" panose="02020603050405020304" pitchFamily="18" charset="0"/>
              </a:rPr>
              <a:t>BReast</a:t>
            </a:r>
            <a:r>
              <a:rPr lang="en-US" sz="900" dirty="0">
                <a:solidFill>
                  <a:srgbClr val="3D1F18"/>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900" dirty="0" err="1">
                <a:solidFill>
                  <a:srgbClr val="3D1F18"/>
                </a:solidFill>
                <a:latin typeface="Times New Roman" panose="02020603050405020304" pitchFamily="18" charset="0"/>
                <a:ea typeface="微软雅黑" panose="020B0503020204020204" pitchFamily="34" charset="-122"/>
                <a:cs typeface="Times New Roman" panose="02020603050405020304" pitchFamily="18" charset="0"/>
              </a:rPr>
              <a:t>CAncer</a:t>
            </a:r>
            <a:r>
              <a:rPr lang="en-US" sz="900" dirty="0">
                <a:solidFill>
                  <a:srgbClr val="3D1F18"/>
                </a:solidFill>
                <a:latin typeface="Times New Roman" panose="02020603050405020304" pitchFamily="18" charset="0"/>
                <a:ea typeface="微软雅黑" panose="020B0503020204020204" pitchFamily="34" charset="-122"/>
                <a:cs typeface="Times New Roman" panose="02020603050405020304" pitchFamily="18" charset="0"/>
              </a:rPr>
              <a:t> genes 1 and 2 (BRCA1/2) mutations may be used as predictive biomarkers when evaluating women with platinum-sensitive ovarian cancer, to identify patients likely to respond to Poly (ADP-ribose) polymerase (PARP) inhibitors </a:t>
            </a:r>
            <a:endParaRPr lang="en-US" sz="8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BC4E7A3-A404-04B0-0925-48D327E3D76A}"/>
              </a:ext>
            </a:extLst>
          </p:cNvPr>
          <p:cNvSpPr txBox="1"/>
          <p:nvPr/>
        </p:nvSpPr>
        <p:spPr>
          <a:xfrm>
            <a:off x="610394" y="4695170"/>
            <a:ext cx="7923211" cy="200055"/>
          </a:xfrm>
          <a:prstGeom prst="rect">
            <a:avLst/>
          </a:prstGeom>
          <a:noFill/>
        </p:spPr>
        <p:txBody>
          <a:bodyPr wrap="square">
            <a:spAutoFit/>
          </a:bodyPr>
          <a:lstStyle/>
          <a:p>
            <a:r>
              <a:rPr lang="en-US" sz="700" b="0" i="0" dirty="0" err="1">
                <a:solidFill>
                  <a:srgbClr val="333333"/>
                </a:solidFill>
                <a:effectLst/>
                <a:latin typeface="Times New Roman" panose="02020603050405020304" pitchFamily="18" charset="0"/>
                <a:cs typeface="Times New Roman" panose="02020603050405020304" pitchFamily="18" charset="0"/>
              </a:rPr>
              <a:t>Mukohara</a:t>
            </a:r>
            <a:r>
              <a:rPr lang="en-US" sz="700" b="0" i="0" dirty="0">
                <a:solidFill>
                  <a:srgbClr val="333333"/>
                </a:solidFill>
                <a:effectLst/>
                <a:latin typeface="Times New Roman" panose="02020603050405020304" pitchFamily="18" charset="0"/>
                <a:cs typeface="Times New Roman" panose="02020603050405020304" pitchFamily="18" charset="0"/>
              </a:rPr>
              <a:t>, T. (2015). PI3K mutations in breast cancer: prognostic and therapeutic implications. </a:t>
            </a:r>
            <a:r>
              <a:rPr lang="en-US" sz="700" b="0" i="1" dirty="0">
                <a:solidFill>
                  <a:srgbClr val="333333"/>
                </a:solidFill>
                <a:effectLst/>
                <a:latin typeface="Times New Roman" panose="02020603050405020304" pitchFamily="18" charset="0"/>
                <a:cs typeface="Times New Roman" panose="02020603050405020304" pitchFamily="18" charset="0"/>
              </a:rPr>
              <a:t>Breast Cancer: Targets and Therapy</a:t>
            </a:r>
            <a:r>
              <a:rPr lang="en-US" sz="700" b="0" i="0" dirty="0">
                <a:solidFill>
                  <a:srgbClr val="333333"/>
                </a:solidFill>
                <a:effectLst/>
                <a:latin typeface="Times New Roman" panose="02020603050405020304" pitchFamily="18" charset="0"/>
                <a:cs typeface="Times New Roman" panose="02020603050405020304" pitchFamily="18" charset="0"/>
              </a:rPr>
              <a:t>, </a:t>
            </a:r>
            <a:r>
              <a:rPr lang="en-US" sz="700" b="0" i="1" dirty="0">
                <a:solidFill>
                  <a:srgbClr val="333333"/>
                </a:solidFill>
                <a:effectLst/>
                <a:latin typeface="Times New Roman" panose="02020603050405020304" pitchFamily="18" charset="0"/>
                <a:cs typeface="Times New Roman" panose="02020603050405020304" pitchFamily="18" charset="0"/>
              </a:rPr>
              <a:t>7</a:t>
            </a:r>
            <a:r>
              <a:rPr lang="en-US" sz="700" b="0" i="0" dirty="0">
                <a:solidFill>
                  <a:srgbClr val="333333"/>
                </a:solidFill>
                <a:effectLst/>
                <a:latin typeface="Times New Roman" panose="02020603050405020304" pitchFamily="18" charset="0"/>
                <a:cs typeface="Times New Roman" panose="02020603050405020304" pitchFamily="18" charset="0"/>
              </a:rPr>
              <a:t>, 111–123. https://doi.org/10.2147/BCTT.S60696</a:t>
            </a:r>
            <a:endParaRPr lang="en-US" sz="700" dirty="0">
              <a:latin typeface="Times New Roman" panose="02020603050405020304" pitchFamily="18" charset="0"/>
              <a:cs typeface="Times New Roman" panose="02020603050405020304" pitchFamily="18" charset="0"/>
            </a:endParaRPr>
          </a:p>
        </p:txBody>
      </p:sp>
      <p:pic>
        <p:nvPicPr>
          <p:cNvPr id="1026" name="Picture 2" descr="Figure 3  Difference between prognostic and predictive biomarkers.">
            <a:extLst>
              <a:ext uri="{FF2B5EF4-FFF2-40B4-BE49-F238E27FC236}">
                <a16:creationId xmlns:a16="http://schemas.microsoft.com/office/drawing/2014/main" id="{FB8A5673-F5B7-BB75-4D8C-F2A89EAB9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484" y="2375197"/>
            <a:ext cx="7156108" cy="2225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E3C82-8EBA-A3E8-DF6A-09378ADC4C2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B06A696-477A-B552-4FA6-E79B3254EDD7}"/>
              </a:ext>
            </a:extLst>
          </p:cNvPr>
          <p:cNvSpPr/>
          <p:nvPr/>
        </p:nvSpPr>
        <p:spPr>
          <a:xfrm>
            <a:off x="378619" y="863487"/>
            <a:ext cx="1989140" cy="218043"/>
          </a:xfrm>
          <a:prstGeom prst="rect">
            <a:avLst/>
          </a:prstGeom>
          <a:noFill/>
          <a:ln/>
        </p:spPr>
        <p:txBody>
          <a:bodyPr wrap="none" lIns="0" tIns="0" rIns="0" bIns="0" rtlCol="0" anchor="ctr"/>
          <a:lstStyle/>
          <a:p>
            <a:pPr>
              <a:lnSpc>
                <a:spcPct val="100000"/>
              </a:lnSpc>
            </a:pPr>
            <a:r>
              <a:rPr lang="zh-CN" alt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模拟参数</a:t>
            </a:r>
            <a:endParaRPr 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Shape 3">
            <a:extLst>
              <a:ext uri="{FF2B5EF4-FFF2-40B4-BE49-F238E27FC236}">
                <a16:creationId xmlns:a16="http://schemas.microsoft.com/office/drawing/2014/main" id="{43D594C4-AA47-9DB6-9838-C01C5A5D12B3}"/>
              </a:ext>
            </a:extLst>
          </p:cNvPr>
          <p:cNvSpPr/>
          <p:nvPr/>
        </p:nvSpPr>
        <p:spPr>
          <a:xfrm>
            <a:off x="347269" y="1158874"/>
            <a:ext cx="3187483" cy="1112091"/>
          </a:xfrm>
          <a:prstGeom prst="roundRect">
            <a:avLst>
              <a:gd name="adj" fmla="val 3846"/>
            </a:avLst>
          </a:prstGeom>
          <a:solidFill>
            <a:srgbClr val="FAFAFA"/>
          </a:solidFill>
          <a:ln/>
        </p:spPr>
        <p:txBody>
          <a:bodyPr/>
          <a:lstStyle/>
          <a:p>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Shape 4">
            <a:extLst>
              <a:ext uri="{FF2B5EF4-FFF2-40B4-BE49-F238E27FC236}">
                <a16:creationId xmlns:a16="http://schemas.microsoft.com/office/drawing/2014/main" id="{F8FEAA09-2EF6-33C7-C268-26DB87D5E83A}"/>
              </a:ext>
            </a:extLst>
          </p:cNvPr>
          <p:cNvSpPr/>
          <p:nvPr/>
        </p:nvSpPr>
        <p:spPr>
          <a:xfrm>
            <a:off x="342900" y="1116012"/>
            <a:ext cx="45719" cy="1169595"/>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5">
            <a:extLst>
              <a:ext uri="{FF2B5EF4-FFF2-40B4-BE49-F238E27FC236}">
                <a16:creationId xmlns:a16="http://schemas.microsoft.com/office/drawing/2014/main" id="{DE60BBF4-DF8D-673B-BA75-8B0DF86383D9}"/>
              </a:ext>
            </a:extLst>
          </p:cNvPr>
          <p:cNvSpPr/>
          <p:nvPr/>
        </p:nvSpPr>
        <p:spPr>
          <a:xfrm>
            <a:off x="442913" y="1158876"/>
            <a:ext cx="2857500" cy="142875"/>
          </a:xfrm>
          <a:prstGeom prst="rect">
            <a:avLst/>
          </a:prstGeom>
          <a:noFill/>
          <a:ln/>
        </p:spPr>
        <p:txBody>
          <a:bodyPr wrap="none" lIns="0" tIns="0" rIns="0" bIns="0" rtlCol="0" anchor="ctr"/>
          <a:lstStyle/>
          <a:p>
            <a:pPr>
              <a:lnSpc>
                <a:spcPct val="100000"/>
              </a:lnSpc>
            </a:pPr>
            <a:r>
              <a:rPr lang="en-US"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Endpoint &amp; Survival Model</a:t>
            </a:r>
            <a:endParaRPr lang="en-US" sz="788"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6">
            <a:extLst>
              <a:ext uri="{FF2B5EF4-FFF2-40B4-BE49-F238E27FC236}">
                <a16:creationId xmlns:a16="http://schemas.microsoft.com/office/drawing/2014/main" id="{41D36539-E171-C6D0-326F-DA5EE69205A6}"/>
              </a:ext>
            </a:extLst>
          </p:cNvPr>
          <p:cNvSpPr/>
          <p:nvPr/>
        </p:nvSpPr>
        <p:spPr>
          <a:xfrm>
            <a:off x="432591" y="1369222"/>
            <a:ext cx="3600450" cy="815180"/>
          </a:xfrm>
          <a:prstGeom prst="rect">
            <a:avLst/>
          </a:prstGeom>
          <a:noFill/>
          <a:ln/>
        </p:spPr>
        <p:txBody>
          <a:bodyPr wrap="square" lIns="0" tIns="0" rIns="0" bIns="0" rtlCol="0" anchor="t"/>
          <a:lstStyle/>
          <a:p>
            <a:pPr>
              <a:lnSpc>
                <a:spcPct val="190000"/>
              </a:lnSpc>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Endpoint </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Time-to-Event (TTE)</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Distribution </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Exponential</a:t>
            </a:r>
          </a:p>
          <a:p>
            <a:pPr>
              <a:lnSpc>
                <a:spcPct val="190000"/>
              </a:lnSpc>
              <a:spcBef>
                <a:spcPts val="113"/>
              </a:spcBef>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Treatment HR</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(target events): </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0.5 (66 events) / 0.65 (170 events)</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9" name="Group 38">
            <a:extLst>
              <a:ext uri="{FF2B5EF4-FFF2-40B4-BE49-F238E27FC236}">
                <a16:creationId xmlns:a16="http://schemas.microsoft.com/office/drawing/2014/main" id="{FECD193B-89C5-31C8-E18C-CC94BDEF6195}"/>
              </a:ext>
            </a:extLst>
          </p:cNvPr>
          <p:cNvGrpSpPr/>
          <p:nvPr/>
        </p:nvGrpSpPr>
        <p:grpSpPr>
          <a:xfrm>
            <a:off x="223598" y="2365535"/>
            <a:ext cx="3335578" cy="400683"/>
            <a:chOff x="155983" y="2125877"/>
            <a:chExt cx="3825477" cy="271463"/>
          </a:xfrm>
        </p:grpSpPr>
        <p:sp>
          <p:nvSpPr>
            <p:cNvPr id="9" name="Shape 7">
              <a:extLst>
                <a:ext uri="{FF2B5EF4-FFF2-40B4-BE49-F238E27FC236}">
                  <a16:creationId xmlns:a16="http://schemas.microsoft.com/office/drawing/2014/main" id="{B2971BC8-AB4A-39EB-6A3C-EF6E2F440E0C}"/>
                </a:ext>
              </a:extLst>
            </p:cNvPr>
            <p:cNvSpPr/>
            <p:nvPr/>
          </p:nvSpPr>
          <p:spPr>
            <a:xfrm>
              <a:off x="381010" y="2154964"/>
              <a:ext cx="3600450" cy="214312"/>
            </a:xfrm>
            <a:prstGeom prst="roundRect">
              <a:avLst>
                <a:gd name="adj" fmla="val 7692"/>
              </a:avLst>
            </a:prstGeom>
            <a:solidFill>
              <a:srgbClr val="F5F5F5"/>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 8">
              <a:extLst>
                <a:ext uri="{FF2B5EF4-FFF2-40B4-BE49-F238E27FC236}">
                  <a16:creationId xmlns:a16="http://schemas.microsoft.com/office/drawing/2014/main" id="{FE153DEE-4E9C-F83A-7292-33EE4E4114B4}"/>
                </a:ext>
              </a:extLst>
            </p:cNvPr>
            <p:cNvSpPr/>
            <p:nvPr/>
          </p:nvSpPr>
          <p:spPr>
            <a:xfrm>
              <a:off x="155983" y="2125877"/>
              <a:ext cx="2953863" cy="271463"/>
            </a:xfrm>
            <a:prstGeom prst="rect">
              <a:avLst/>
            </a:prstGeom>
            <a:noFill/>
            <a:ln/>
          </p:spPr>
          <p:txBody>
            <a:bodyPr wrap="none" lIns="0" tIns="0" rIns="0" bIns="0" rtlCol="0" anchor="ctr"/>
            <a:lstStyle/>
            <a:p>
              <a:pPr algn="ctr">
                <a:lnSpc>
                  <a:spcPct val="100000"/>
                </a:lnSpc>
              </a:pPr>
              <a:r>
                <a:rPr lang="en-US" sz="844"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h(t|Z) = λ₀ · exp[ Σ I(Factorⱼ) · log(HRⱼ) + βₜᵣₜ · Trt ]</a:t>
              </a:r>
              <a:endParaRPr lang="en-US" sz="844"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 name="Shape 9">
            <a:extLst>
              <a:ext uri="{FF2B5EF4-FFF2-40B4-BE49-F238E27FC236}">
                <a16:creationId xmlns:a16="http://schemas.microsoft.com/office/drawing/2014/main" id="{77297D1A-2CF5-4207-4354-C03BDBB61701}"/>
              </a:ext>
            </a:extLst>
          </p:cNvPr>
          <p:cNvSpPr/>
          <p:nvPr/>
        </p:nvSpPr>
        <p:spPr>
          <a:xfrm>
            <a:off x="342901" y="2701925"/>
            <a:ext cx="3216275" cy="1053562"/>
          </a:xfrm>
          <a:prstGeom prst="roundRect">
            <a:avLst>
              <a:gd name="adj" fmla="val 4494"/>
            </a:avLst>
          </a:prstGeom>
          <a:solidFill>
            <a:srgbClr val="FAFAF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10">
            <a:extLst>
              <a:ext uri="{FF2B5EF4-FFF2-40B4-BE49-F238E27FC236}">
                <a16:creationId xmlns:a16="http://schemas.microsoft.com/office/drawing/2014/main" id="{76813C12-EF8B-FCD4-9D4E-5F3B03B29ECA}"/>
              </a:ext>
            </a:extLst>
          </p:cNvPr>
          <p:cNvSpPr/>
          <p:nvPr/>
        </p:nvSpPr>
        <p:spPr>
          <a:xfrm>
            <a:off x="342900" y="2701925"/>
            <a:ext cx="45719" cy="1100319"/>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11">
            <a:extLst>
              <a:ext uri="{FF2B5EF4-FFF2-40B4-BE49-F238E27FC236}">
                <a16:creationId xmlns:a16="http://schemas.microsoft.com/office/drawing/2014/main" id="{2F032701-DD98-E944-9B61-2F6C282BF069}"/>
              </a:ext>
            </a:extLst>
          </p:cNvPr>
          <p:cNvSpPr/>
          <p:nvPr/>
        </p:nvSpPr>
        <p:spPr>
          <a:xfrm>
            <a:off x="442913" y="2716212"/>
            <a:ext cx="2286000" cy="142875"/>
          </a:xfrm>
          <a:prstGeom prst="rect">
            <a:avLst/>
          </a:prstGeom>
          <a:noFill/>
          <a:ln/>
        </p:spPr>
        <p:txBody>
          <a:bodyPr wrap="none" lIns="0" tIns="0" rIns="0" bIns="0" rtlCol="0" anchor="ctr"/>
          <a:lstStyle/>
          <a:p>
            <a:pPr>
              <a:lnSpc>
                <a:spcPct val="100000"/>
              </a:lnSpc>
            </a:pPr>
            <a:r>
              <a:rPr lang="en-US"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3 Prognostic Factors S</a:t>
            </a:r>
            <a:r>
              <a:rPr lang="en-US" altLang="zh-CN"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cenario</a:t>
            </a:r>
            <a:endParaRPr lang="en-US" sz="788"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Text 13">
            <a:extLst>
              <a:ext uri="{FF2B5EF4-FFF2-40B4-BE49-F238E27FC236}">
                <a16:creationId xmlns:a16="http://schemas.microsoft.com/office/drawing/2014/main" id="{056DEF91-38BA-7397-886D-9A381C304021}"/>
              </a:ext>
            </a:extLst>
          </p:cNvPr>
          <p:cNvSpPr/>
          <p:nvPr/>
        </p:nvSpPr>
        <p:spPr>
          <a:xfrm>
            <a:off x="2812517" y="2766219"/>
            <a:ext cx="1357313" cy="128588"/>
          </a:xfrm>
          <a:prstGeom prst="rect">
            <a:avLst/>
          </a:prstGeom>
          <a:noFill/>
          <a:ln/>
        </p:spPr>
        <p:txBody>
          <a:bodyPr wrap="none" lIns="0" tIns="0" rIns="0" bIns="0" rtlCol="0" anchor="ctr"/>
          <a:lstStyle/>
          <a:p>
            <a:pPr algn="ctr">
              <a:lnSpc>
                <a:spcPct val="100000"/>
              </a:lnSpc>
            </a:pPr>
            <a:r>
              <a:rPr lang="en-US" sz="563"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 Scenarios × 4 Distributions = 12 Groups</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 name="Table 0">
            <a:extLst>
              <a:ext uri="{FF2B5EF4-FFF2-40B4-BE49-F238E27FC236}">
                <a16:creationId xmlns:a16="http://schemas.microsoft.com/office/drawing/2014/main" id="{9734AA56-6A7E-D05F-E212-661286009C6D}"/>
              </a:ext>
            </a:extLst>
          </p:cNvPr>
          <p:cNvGraphicFramePr>
            <a:graphicFrameLocks noGrp="1"/>
          </p:cNvGraphicFramePr>
          <p:nvPr>
            <p:extLst>
              <p:ext uri="{D42A27DB-BD31-4B8C-83A1-F6EECF244321}">
                <p14:modId xmlns:p14="http://schemas.microsoft.com/office/powerpoint/2010/main" val="3128971029"/>
              </p:ext>
            </p:extLst>
          </p:nvPr>
        </p:nvGraphicFramePr>
        <p:xfrm>
          <a:off x="442914" y="2918142"/>
          <a:ext cx="2376491" cy="394015"/>
        </p:xfrm>
        <a:graphic>
          <a:graphicData uri="http://schemas.openxmlformats.org/drawingml/2006/table">
            <a:tbl>
              <a:tblPr/>
              <a:tblGrid>
                <a:gridCol w="722489">
                  <a:extLst>
                    <a:ext uri="{9D8B030D-6E8A-4147-A177-3AD203B41FA5}">
                      <a16:colId xmlns:a16="http://schemas.microsoft.com/office/drawing/2014/main" val="20000"/>
                    </a:ext>
                  </a:extLst>
                </a:gridCol>
                <a:gridCol w="533158">
                  <a:extLst>
                    <a:ext uri="{9D8B030D-6E8A-4147-A177-3AD203B41FA5}">
                      <a16:colId xmlns:a16="http://schemas.microsoft.com/office/drawing/2014/main" val="20001"/>
                    </a:ext>
                  </a:extLst>
                </a:gridCol>
                <a:gridCol w="569510">
                  <a:extLst>
                    <a:ext uri="{9D8B030D-6E8A-4147-A177-3AD203B41FA5}">
                      <a16:colId xmlns:a16="http://schemas.microsoft.com/office/drawing/2014/main" val="20002"/>
                    </a:ext>
                  </a:extLst>
                </a:gridCol>
                <a:gridCol w="551334">
                  <a:extLst>
                    <a:ext uri="{9D8B030D-6E8A-4147-A177-3AD203B41FA5}">
                      <a16:colId xmlns:a16="http://schemas.microsoft.com/office/drawing/2014/main" val="20003"/>
                    </a:ext>
                  </a:extLst>
                </a:gridCol>
              </a:tblGrid>
              <a:tr h="107241">
                <a:tc rowSpan="2">
                  <a:txBody>
                    <a:bodyPr/>
                    <a:lstStyle/>
                    <a:p>
                      <a:pPr algn="ctr"/>
                      <a:r>
                        <a:rPr lang="en-US" sz="700" b="1" u="none" dirty="0">
                          <a:solidFill>
                            <a:schemeClr val="bg1"/>
                          </a:solidFill>
                          <a:latin typeface="Times New Roman" panose="02020603050405020304" pitchFamily="18" charset="0"/>
                          <a:ea typeface="QuattrocentoSans" pitchFamily="34" charset="-122"/>
                          <a:cs typeface="Times New Roman" panose="02020603050405020304" pitchFamily="18" charset="0"/>
                        </a:rPr>
                        <a:t>Scenario</a:t>
                      </a:r>
                      <a:endParaRPr lang="en-US" sz="7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700" b="1" u="none" dirty="0">
                          <a:solidFill>
                            <a:srgbClr val="FFFFFF"/>
                          </a:solidFill>
                          <a:latin typeface="微软雅黑" panose="020B0503020204020204" pitchFamily="34" charset="-122"/>
                          <a:ea typeface="微软雅黑" panose="020B0503020204020204" pitchFamily="34" charset="-122"/>
                          <a:cs typeface="QuattrocentoSans" charset="0"/>
                        </a:rPr>
                        <a:t>Max</a:t>
                      </a:r>
                      <a:r>
                        <a:rPr lang="zh-CN" altLang="en-US" sz="700" b="1" u="none" dirty="0">
                          <a:solidFill>
                            <a:srgbClr val="FFFFFF"/>
                          </a:solidFill>
                          <a:latin typeface="微软雅黑" panose="020B0503020204020204" pitchFamily="34" charset="-122"/>
                          <a:ea typeface="微软雅黑" panose="020B0503020204020204" pitchFamily="34" charset="-122"/>
                          <a:cs typeface="QuattrocentoSans" charset="0"/>
                        </a:rPr>
                        <a:t>中位</a:t>
                      </a:r>
                      <a:r>
                        <a:rPr lang="en-US" altLang="zh-CN" sz="700" b="1" u="none" dirty="0">
                          <a:solidFill>
                            <a:srgbClr val="FFFFFF"/>
                          </a:solidFill>
                          <a:latin typeface="微软雅黑" panose="020B0503020204020204" pitchFamily="34" charset="-122"/>
                          <a:ea typeface="微软雅黑" panose="020B0503020204020204" pitchFamily="34" charset="-122"/>
                          <a:cs typeface="QuattrocentoSans" charset="0"/>
                        </a:rPr>
                        <a:t>/min</a:t>
                      </a:r>
                      <a:r>
                        <a:rPr lang="zh-CN" altLang="en-US" sz="700" b="1" u="none" dirty="0">
                          <a:solidFill>
                            <a:srgbClr val="FFFFFF"/>
                          </a:solidFill>
                          <a:latin typeface="微软雅黑" panose="020B0503020204020204" pitchFamily="34" charset="-122"/>
                          <a:ea typeface="微软雅黑" panose="020B0503020204020204" pitchFamily="34" charset="-122"/>
                          <a:cs typeface="QuattrocentoSans" charset="0"/>
                        </a:rPr>
                        <a:t>中位</a:t>
                      </a:r>
                      <a:endParaRPr lang="en-US" sz="700" dirty="0">
                        <a:latin typeface="微软雅黑" panose="020B0503020204020204" pitchFamily="34" charset="-122"/>
                        <a:ea typeface="微软雅黑" panose="020B0503020204020204" pitchFamily="34" charset="-122"/>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hMerge="1">
                  <a:txBody>
                    <a:bodyPr/>
                    <a:lstStyle/>
                    <a:p>
                      <a:pPr algn="l"/>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hMerge="1">
                  <a:txBody>
                    <a:bodyPr/>
                    <a:lstStyle/>
                    <a:p>
                      <a:pPr algn="l"/>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extLst>
                  <a:ext uri="{0D108BD9-81ED-4DB2-BD59-A6C34878D82A}">
                    <a16:rowId xmlns:a16="http://schemas.microsoft.com/office/drawing/2014/main" val="10000"/>
                  </a:ext>
                </a:extLst>
              </a:tr>
              <a:tr h="107241">
                <a:tc vMerge="1">
                  <a:txBody>
                    <a:bodyPr/>
                    <a:lstStyle/>
                    <a:p>
                      <a:endParaRPr lang="en-US"/>
                    </a:p>
                  </a:txBody>
                  <a:tcPr/>
                </a:tc>
                <a:tc>
                  <a:txBody>
                    <a:bodyPr/>
                    <a:lstStyle/>
                    <a:p>
                      <a:pPr algn="ctr"/>
                      <a:r>
                        <a:rPr lang="en-US" sz="700" b="1" dirty="0">
                          <a:solidFill>
                            <a:schemeClr val="bg1"/>
                          </a:solidFill>
                          <a:latin typeface="Times New Roman" panose="02020603050405020304" pitchFamily="18" charset="0"/>
                          <a:ea typeface="QuattrocentoSans" charset="0"/>
                          <a:cs typeface="Times New Roman" panose="02020603050405020304" pitchFamily="18" charset="0"/>
                        </a:rPr>
                        <a:t>F1</a:t>
                      </a: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7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F2</a:t>
                      </a:r>
                      <a:endParaRPr lang="en-US" sz="7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7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F3</a:t>
                      </a:r>
                      <a:endParaRPr lang="en-US" sz="7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extLst>
                  <a:ext uri="{0D108BD9-81ED-4DB2-BD59-A6C34878D82A}">
                    <a16:rowId xmlns:a16="http://schemas.microsoft.com/office/drawing/2014/main" val="1594088484"/>
                  </a:ext>
                </a:extLst>
              </a:tr>
              <a:tr h="179533">
                <a:tc>
                  <a:txBody>
                    <a:bodyPr/>
                    <a:lstStyle/>
                    <a:p>
                      <a:pPr algn="ctr"/>
                      <a:r>
                        <a:rPr lang="en-US" sz="800" b="1" u="none" dirty="0">
                          <a:solidFill>
                            <a:srgbClr val="00BA38"/>
                          </a:solidFill>
                          <a:latin typeface="Times New Roman" panose="02020603050405020304" pitchFamily="18" charset="0"/>
                          <a:ea typeface="QuattrocentoSans" pitchFamily="34" charset="-122"/>
                          <a:cs typeface="Times New Roman" panose="02020603050405020304" pitchFamily="18" charset="0"/>
                        </a:rPr>
                        <a:t> </a:t>
                      </a:r>
                      <a:endParaRPr lang="en-US" sz="800" b="1" dirty="0">
                        <a:solidFill>
                          <a:srgbClr val="00BA38"/>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700" u="none" dirty="0">
                          <a:solidFill>
                            <a:srgbClr val="333333"/>
                          </a:solidFill>
                          <a:latin typeface="QuattrocentoSans" pitchFamily="34" charset="0"/>
                          <a:ea typeface="QuattrocentoSans" pitchFamily="34" charset="-122"/>
                          <a:cs typeface="QuattrocentoSans" pitchFamily="34" charset="-120"/>
                        </a:rPr>
                        <a:t>2</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700" u="none" dirty="0">
                          <a:solidFill>
                            <a:srgbClr val="333333"/>
                          </a:solidFill>
                          <a:latin typeface="QuattrocentoSans" pitchFamily="34" charset="0"/>
                          <a:ea typeface="QuattrocentoSans" pitchFamily="34" charset="-122"/>
                          <a:cs typeface="QuattrocentoSans" pitchFamily="34" charset="-120"/>
                        </a:rPr>
                        <a:t>3</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700" u="none" dirty="0">
                          <a:solidFill>
                            <a:srgbClr val="333333"/>
                          </a:solidFill>
                          <a:latin typeface="QuattrocentoSans" pitchFamily="34" charset="0"/>
                          <a:ea typeface="QuattrocentoSans" pitchFamily="34" charset="-122"/>
                          <a:cs typeface="QuattrocentoSans" pitchFamily="34" charset="-120"/>
                        </a:rPr>
                        <a:t>5</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7" name="Text 14">
            <a:extLst>
              <a:ext uri="{FF2B5EF4-FFF2-40B4-BE49-F238E27FC236}">
                <a16:creationId xmlns:a16="http://schemas.microsoft.com/office/drawing/2014/main" id="{C325336C-99DD-BB93-C315-DAD5AA1D79CF}"/>
              </a:ext>
            </a:extLst>
          </p:cNvPr>
          <p:cNvSpPr/>
          <p:nvPr/>
        </p:nvSpPr>
        <p:spPr>
          <a:xfrm>
            <a:off x="458790" y="3368679"/>
            <a:ext cx="3600450" cy="171450"/>
          </a:xfrm>
          <a:prstGeom prst="rect">
            <a:avLst/>
          </a:prstGeom>
          <a:noFill/>
          <a:ln/>
        </p:spPr>
        <p:txBody>
          <a:bodyPr wrap="square" lIns="0" tIns="0" rIns="0" bIns="0" rtlCol="0" anchor="ctr"/>
          <a:lstStyle/>
          <a:p>
            <a:pPr>
              <a:lnSpc>
                <a:spcPct val="190000"/>
              </a:lnSpc>
            </a:pPr>
            <a:r>
              <a:rPr 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Strata </a:t>
            </a:r>
            <a:r>
              <a:rPr lang="zh-CN" alt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8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2, 4, 8</a:t>
            </a:r>
            <a:endParaRPr lang="en-US" sz="8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7" name="Group 36">
            <a:extLst>
              <a:ext uri="{FF2B5EF4-FFF2-40B4-BE49-F238E27FC236}">
                <a16:creationId xmlns:a16="http://schemas.microsoft.com/office/drawing/2014/main" id="{9D658619-CA08-B1EB-6404-4CC39E890A6E}"/>
              </a:ext>
            </a:extLst>
          </p:cNvPr>
          <p:cNvGrpSpPr/>
          <p:nvPr/>
        </p:nvGrpSpPr>
        <p:grpSpPr>
          <a:xfrm>
            <a:off x="471488" y="2147649"/>
            <a:ext cx="1460898" cy="157798"/>
            <a:chOff x="439340" y="4641850"/>
            <a:chExt cx="1460898" cy="157798"/>
          </a:xfrm>
        </p:grpSpPr>
        <p:sp>
          <p:nvSpPr>
            <p:cNvPr id="22" name="Shape 19">
              <a:extLst>
                <a:ext uri="{FF2B5EF4-FFF2-40B4-BE49-F238E27FC236}">
                  <a16:creationId xmlns:a16="http://schemas.microsoft.com/office/drawing/2014/main" id="{76DF4F87-16B0-B856-6979-3C7E8897D842}"/>
                </a:ext>
              </a:extLst>
            </p:cNvPr>
            <p:cNvSpPr/>
            <p:nvPr/>
          </p:nvSpPr>
          <p:spPr>
            <a:xfrm>
              <a:off x="442913" y="4641850"/>
              <a:ext cx="585788"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 20">
              <a:extLst>
                <a:ext uri="{FF2B5EF4-FFF2-40B4-BE49-F238E27FC236}">
                  <a16:creationId xmlns:a16="http://schemas.microsoft.com/office/drawing/2014/main" id="{E8B36D8C-850A-84CE-31EC-ECF8AD6B8331}"/>
                </a:ext>
              </a:extLst>
            </p:cNvPr>
            <p:cNvSpPr/>
            <p:nvPr/>
          </p:nvSpPr>
          <p:spPr>
            <a:xfrm>
              <a:off x="439340" y="4656773"/>
              <a:ext cx="585788" cy="142875"/>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Block = 4</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Shape 21">
              <a:extLst>
                <a:ext uri="{FF2B5EF4-FFF2-40B4-BE49-F238E27FC236}">
                  <a16:creationId xmlns:a16="http://schemas.microsoft.com/office/drawing/2014/main" id="{EF4E7454-360D-7CBC-9D1C-0A2F5EB5188C}"/>
                </a:ext>
              </a:extLst>
            </p:cNvPr>
            <p:cNvSpPr/>
            <p:nvPr/>
          </p:nvSpPr>
          <p:spPr>
            <a:xfrm>
              <a:off x="1114425" y="4644231"/>
              <a:ext cx="785813"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Text 22">
              <a:extLst>
                <a:ext uri="{FF2B5EF4-FFF2-40B4-BE49-F238E27FC236}">
                  <a16:creationId xmlns:a16="http://schemas.microsoft.com/office/drawing/2014/main" id="{BACDE13F-2190-2850-76EA-B3EE1B655A68}"/>
                </a:ext>
              </a:extLst>
            </p:cNvPr>
            <p:cNvSpPr/>
            <p:nvPr/>
          </p:nvSpPr>
          <p:spPr>
            <a:xfrm>
              <a:off x="1079502" y="4651374"/>
              <a:ext cx="785813" cy="142875"/>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1:1 Allocation</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2" name="TextBox 31">
            <a:extLst>
              <a:ext uri="{FF2B5EF4-FFF2-40B4-BE49-F238E27FC236}">
                <a16:creationId xmlns:a16="http://schemas.microsoft.com/office/drawing/2014/main" id="{A173064A-9F5F-1B6F-992C-084327057EC2}"/>
              </a:ext>
            </a:extLst>
          </p:cNvPr>
          <p:cNvSpPr txBox="1"/>
          <p:nvPr/>
        </p:nvSpPr>
        <p:spPr>
          <a:xfrm>
            <a:off x="171450" y="67380"/>
            <a:ext cx="4572000" cy="369332"/>
          </a:xfrm>
          <a:prstGeom prst="rect">
            <a:avLst/>
          </a:prstGeom>
          <a:noFill/>
        </p:spPr>
        <p:txBody>
          <a:bodyPr wrap="square">
            <a:spAutoFit/>
          </a:bodyPr>
          <a:lstStyle/>
          <a:p>
            <a:pPr>
              <a:lnSpc>
                <a:spcPct val="100000"/>
              </a:lnSpc>
            </a:pP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01.3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分层因素选择</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预后效应</a:t>
            </a:r>
            <a:endParaRPr lang="en-US" sz="1800"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6" name="Picture 25">
            <a:extLst>
              <a:ext uri="{FF2B5EF4-FFF2-40B4-BE49-F238E27FC236}">
                <a16:creationId xmlns:a16="http://schemas.microsoft.com/office/drawing/2014/main" id="{C3D27A98-19D5-0858-1073-E91B1A7551A4}"/>
              </a:ext>
            </a:extLst>
          </p:cNvPr>
          <p:cNvPicPr>
            <a:picLocks noChangeAspect="1"/>
          </p:cNvPicPr>
          <p:nvPr/>
        </p:nvPicPr>
        <p:blipFill>
          <a:blip r:embed="rId3"/>
          <a:stretch>
            <a:fillRect/>
          </a:stretch>
        </p:blipFill>
        <p:spPr>
          <a:xfrm>
            <a:off x="3774267" y="436712"/>
            <a:ext cx="5217333" cy="2690654"/>
          </a:xfrm>
          <a:prstGeom prst="rect">
            <a:avLst/>
          </a:prstGeom>
        </p:spPr>
      </p:pic>
      <p:sp>
        <p:nvSpPr>
          <p:cNvPr id="2" name="Text 14">
            <a:extLst>
              <a:ext uri="{FF2B5EF4-FFF2-40B4-BE49-F238E27FC236}">
                <a16:creationId xmlns:a16="http://schemas.microsoft.com/office/drawing/2014/main" id="{5AC5358F-4A24-BF56-2DCF-1071936C93E7}"/>
              </a:ext>
            </a:extLst>
          </p:cNvPr>
          <p:cNvSpPr/>
          <p:nvPr/>
        </p:nvSpPr>
        <p:spPr>
          <a:xfrm>
            <a:off x="442913" y="3555790"/>
            <a:ext cx="3600450" cy="171450"/>
          </a:xfrm>
          <a:prstGeom prst="rect">
            <a:avLst/>
          </a:prstGeom>
          <a:noFill/>
          <a:ln/>
        </p:spPr>
        <p:txBody>
          <a:bodyPr wrap="square" lIns="0" tIns="0" rIns="0" bIns="0" rtlCol="0" anchor="ctr"/>
          <a:lstStyle/>
          <a:p>
            <a:pPr>
              <a:lnSpc>
                <a:spcPct val="190000"/>
              </a:lnSpc>
            </a:pPr>
            <a:r>
              <a:rPr 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Strata Proportion </a:t>
            </a:r>
            <a:r>
              <a:rPr lang="zh-CN" alt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8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Evenly, Unevenly</a:t>
            </a:r>
            <a:endParaRPr lang="en-US" sz="8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 name="Table 2">
            <a:extLst>
              <a:ext uri="{FF2B5EF4-FFF2-40B4-BE49-F238E27FC236}">
                <a16:creationId xmlns:a16="http://schemas.microsoft.com/office/drawing/2014/main" id="{B59F9A9C-2E6A-4F6C-EFF5-10F51519D880}"/>
              </a:ext>
            </a:extLst>
          </p:cNvPr>
          <p:cNvGraphicFramePr>
            <a:graphicFrameLocks noGrp="1"/>
          </p:cNvGraphicFramePr>
          <p:nvPr>
            <p:extLst>
              <p:ext uri="{D42A27DB-BD31-4B8C-83A1-F6EECF244321}">
                <p14:modId xmlns:p14="http://schemas.microsoft.com/office/powerpoint/2010/main" val="1313035950"/>
              </p:ext>
            </p:extLst>
          </p:nvPr>
        </p:nvGraphicFramePr>
        <p:xfrm>
          <a:off x="335677" y="3984667"/>
          <a:ext cx="3193417" cy="1122224"/>
        </p:xfrm>
        <a:graphic>
          <a:graphicData uri="http://schemas.openxmlformats.org/drawingml/2006/table">
            <a:tbl>
              <a:tblPr firstRow="1" bandRow="1">
                <a:tableStyleId>{21E4AEA4-8DFA-4A89-87EB-49C32662AFE0}</a:tableStyleId>
              </a:tblPr>
              <a:tblGrid>
                <a:gridCol w="1393334">
                  <a:extLst>
                    <a:ext uri="{9D8B030D-6E8A-4147-A177-3AD203B41FA5}">
                      <a16:colId xmlns:a16="http://schemas.microsoft.com/office/drawing/2014/main" val="2467890897"/>
                    </a:ext>
                  </a:extLst>
                </a:gridCol>
                <a:gridCol w="771277">
                  <a:extLst>
                    <a:ext uri="{9D8B030D-6E8A-4147-A177-3AD203B41FA5}">
                      <a16:colId xmlns:a16="http://schemas.microsoft.com/office/drawing/2014/main" val="3044407317"/>
                    </a:ext>
                  </a:extLst>
                </a:gridCol>
                <a:gridCol w="1028806">
                  <a:extLst>
                    <a:ext uri="{9D8B030D-6E8A-4147-A177-3AD203B41FA5}">
                      <a16:colId xmlns:a16="http://schemas.microsoft.com/office/drawing/2014/main" val="2411663481"/>
                    </a:ext>
                  </a:extLst>
                </a:gridCol>
              </a:tblGrid>
              <a:tr h="175803">
                <a:tc gridSpan="3">
                  <a:txBody>
                    <a:bodyPr/>
                    <a:lstStyle/>
                    <a:p>
                      <a:pPr algn="ctr"/>
                      <a:r>
                        <a:rPr lang="en-US" sz="600" dirty="0"/>
                        <a:t>HR=0.5  Strata=2 (50：50)</a:t>
                      </a:r>
                      <a:endParaRPr lang="en-US" sz="600" dirty="0">
                        <a:latin typeface="Times New Roman" panose="02020603050405020304" pitchFamily="18" charset="0"/>
                        <a:cs typeface="Times New Roman" panose="02020603050405020304" pitchFamily="18" charset="0"/>
                      </a:endParaRP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730411315"/>
                  </a:ext>
                </a:extLst>
              </a:tr>
              <a:tr h="161153">
                <a:tc>
                  <a:txBody>
                    <a:bodyPr/>
                    <a:lstStyle/>
                    <a:p>
                      <a:pPr algn="ctr"/>
                      <a:r>
                        <a:rPr lang="zh-CN" altLang="en-US" sz="500" b="1" dirty="0"/>
                        <a:t>层内中位</a:t>
                      </a:r>
                      <a:endParaRPr lang="en-US" sz="5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algn="ctr"/>
                      <a:r>
                        <a:rPr lang="zh-CN" altLang="en-US" sz="500" b="1" dirty="0"/>
                        <a:t>层间中位比值</a:t>
                      </a:r>
                      <a:endParaRPr lang="en-US" sz="5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tc>
                  <a:txBody>
                    <a:bodyPr/>
                    <a:lstStyle/>
                    <a:p>
                      <a:pPr algn="ctr"/>
                      <a:r>
                        <a:rPr lang="zh-CN" altLang="en-US" sz="500" b="1" dirty="0"/>
                        <a:t>对应预期</a:t>
                      </a:r>
                      <a:r>
                        <a:rPr lang="en-US" altLang="zh-CN" sz="500" b="1" dirty="0"/>
                        <a:t>VRF</a:t>
                      </a:r>
                      <a:endParaRPr lang="en-US" sz="500" b="1" dirty="0">
                        <a:latin typeface="微软雅黑" panose="020B0503020204020204" pitchFamily="34" charset="-122"/>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020430898"/>
                  </a:ext>
                </a:extLst>
              </a:tr>
              <a:tr h="108656">
                <a:tc>
                  <a:txBody>
                    <a:bodyPr/>
                    <a:lstStyle/>
                    <a:p>
                      <a:pPr algn="l" fontAlgn="b">
                        <a:buNone/>
                      </a:pPr>
                      <a:r>
                        <a:rPr lang="zh-CN" altLang="en-US" sz="700" b="0" u="none" strike="noStrike" dirty="0">
                          <a:solidFill>
                            <a:srgbClr val="000000"/>
                          </a:solidFill>
                          <a:effectLst/>
                        </a:rPr>
                        <a:t>层</a:t>
                      </a:r>
                      <a:r>
                        <a:rPr lang="en-US" altLang="zh-CN" sz="700" b="0" u="none" strike="noStrike" dirty="0">
                          <a:solidFill>
                            <a:srgbClr val="000000"/>
                          </a:solidFill>
                          <a:effectLst/>
                        </a:rPr>
                        <a:t>1</a:t>
                      </a:r>
                      <a:r>
                        <a:rPr lang="zh-CN" altLang="en-US" sz="700" b="0" u="none" strike="noStrike" dirty="0">
                          <a:solidFill>
                            <a:srgbClr val="000000"/>
                          </a:solidFill>
                          <a:effectLst/>
                        </a:rPr>
                        <a:t>： </a:t>
                      </a:r>
                      <a:r>
                        <a:rPr lang="en-US" sz="700" b="0" u="none" strike="noStrike" dirty="0">
                          <a:solidFill>
                            <a:srgbClr val="000000"/>
                          </a:solidFill>
                          <a:effectLst/>
                        </a:rPr>
                        <a:t>21.6, 43.2</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2</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1.72</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1245973689"/>
                  </a:ext>
                </a:extLst>
              </a:tr>
              <a:tr h="129668">
                <a:tc>
                  <a:txBody>
                    <a:bodyPr/>
                    <a:lstStyle/>
                    <a:p>
                      <a:pPr algn="l" fontAlgn="b">
                        <a:buNone/>
                      </a:pPr>
                      <a:r>
                        <a:rPr lang="zh-CN" altLang="en-US" sz="700" b="0" u="none" strike="noStrike" dirty="0">
                          <a:solidFill>
                            <a:srgbClr val="000000"/>
                          </a:solidFill>
                          <a:effectLst/>
                        </a:rPr>
                        <a:t>层</a:t>
                      </a:r>
                      <a:r>
                        <a:rPr lang="en-US" altLang="zh-CN" sz="700" b="0" u="none" strike="noStrike" dirty="0">
                          <a:solidFill>
                            <a:srgbClr val="000000"/>
                          </a:solidFill>
                          <a:effectLst/>
                        </a:rPr>
                        <a:t>2</a:t>
                      </a:r>
                      <a:r>
                        <a:rPr lang="zh-CN" altLang="en-US" sz="700" b="0" u="none" strike="noStrike" dirty="0">
                          <a:solidFill>
                            <a:srgbClr val="000000"/>
                          </a:solidFill>
                          <a:effectLst/>
                        </a:rPr>
                        <a:t>： </a:t>
                      </a:r>
                      <a:r>
                        <a:rPr lang="en-US" sz="700" b="0" u="none" strike="noStrike" dirty="0">
                          <a:solidFill>
                            <a:srgbClr val="000000"/>
                          </a:solidFill>
                          <a:effectLst/>
                        </a:rPr>
                        <a:t>10.8, 21.6</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22384927"/>
                  </a:ext>
                </a:extLst>
              </a:tr>
              <a:tr h="130546">
                <a:tc>
                  <a:txBody>
                    <a:bodyPr/>
                    <a:lstStyle/>
                    <a:p>
                      <a:pPr algn="l" fontAlgn="b">
                        <a:buNone/>
                      </a:pPr>
                      <a:r>
                        <a:rPr lang="zh-CN" altLang="en-US" sz="700" b="0" u="none" strike="noStrike" dirty="0">
                          <a:solidFill>
                            <a:srgbClr val="000000"/>
                          </a:solidFill>
                          <a:effectLst/>
                        </a:rPr>
                        <a:t>层</a:t>
                      </a:r>
                      <a:r>
                        <a:rPr lang="en-US" altLang="zh-CN" sz="700" b="0" u="none" strike="noStrike" dirty="0">
                          <a:solidFill>
                            <a:srgbClr val="000000"/>
                          </a:solidFill>
                          <a:effectLst/>
                        </a:rPr>
                        <a:t>1</a:t>
                      </a:r>
                      <a:r>
                        <a:rPr lang="zh-CN" altLang="en-US" sz="700" b="0" u="none" strike="noStrike" dirty="0">
                          <a:solidFill>
                            <a:srgbClr val="000000"/>
                          </a:solidFill>
                          <a:effectLst/>
                        </a:rPr>
                        <a:t>： </a:t>
                      </a:r>
                      <a:r>
                        <a:rPr lang="en-US" sz="700" b="0" u="none" strike="noStrike" dirty="0">
                          <a:solidFill>
                            <a:srgbClr val="000000"/>
                          </a:solidFill>
                          <a:effectLst/>
                        </a:rPr>
                        <a:t>27.2, 54.4</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3</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3.33</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1284464530"/>
                  </a:ext>
                </a:extLst>
              </a:tr>
              <a:tr h="130546">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lang="zh-CN" altLang="en-US" sz="700" b="0" u="none" strike="noStrike" dirty="0">
                          <a:solidFill>
                            <a:srgbClr val="000000"/>
                          </a:solidFill>
                          <a:effectLst/>
                        </a:rPr>
                        <a:t>层</a:t>
                      </a:r>
                      <a:r>
                        <a:rPr lang="en-US" altLang="zh-CN" sz="700" b="0" u="none" strike="noStrike" dirty="0">
                          <a:solidFill>
                            <a:srgbClr val="000000"/>
                          </a:solidFill>
                          <a:effectLst/>
                        </a:rPr>
                        <a:t>2</a:t>
                      </a:r>
                      <a:r>
                        <a:rPr lang="zh-CN" altLang="en-US" sz="700" b="0" u="none" strike="noStrike" dirty="0">
                          <a:solidFill>
                            <a:srgbClr val="000000"/>
                          </a:solidFill>
                          <a:effectLst/>
                        </a:rPr>
                        <a:t>： </a:t>
                      </a:r>
                      <a:r>
                        <a:rPr lang="en-US" sz="700" b="0" u="none" strike="noStrike" dirty="0">
                          <a:solidFill>
                            <a:srgbClr val="000000"/>
                          </a:solidFill>
                          <a:effectLst/>
                        </a:rPr>
                        <a:t>9.06, 18.12</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919206710"/>
                  </a:ext>
                </a:extLst>
              </a:tr>
              <a:tr h="137368">
                <a:tc>
                  <a:txBody>
                    <a:bodyPr/>
                    <a:lstStyle/>
                    <a:p>
                      <a:pPr algn="l" fontAlgn="b">
                        <a:buNone/>
                      </a:pPr>
                      <a:r>
                        <a:rPr lang="zh-CN" altLang="en-US" sz="700" b="0" u="none" strike="noStrike" dirty="0">
                          <a:solidFill>
                            <a:srgbClr val="000000"/>
                          </a:solidFill>
                          <a:effectLst/>
                        </a:rPr>
                        <a:t>层</a:t>
                      </a:r>
                      <a:r>
                        <a:rPr lang="en-US" altLang="zh-CN" sz="700" b="0" u="none" strike="noStrike" dirty="0">
                          <a:solidFill>
                            <a:srgbClr val="000000"/>
                          </a:solidFill>
                          <a:effectLst/>
                        </a:rPr>
                        <a:t>1</a:t>
                      </a:r>
                      <a:r>
                        <a:rPr lang="zh-CN" altLang="en-US" sz="700" b="0" u="none" strike="noStrike" dirty="0">
                          <a:solidFill>
                            <a:srgbClr val="000000"/>
                          </a:solidFill>
                          <a:effectLst/>
                        </a:rPr>
                        <a:t>： </a:t>
                      </a:r>
                      <a:r>
                        <a:rPr lang="en-US" sz="700" b="0" u="none" strike="noStrike" dirty="0">
                          <a:solidFill>
                            <a:srgbClr val="000000"/>
                          </a:solidFill>
                          <a:effectLst/>
                        </a:rPr>
                        <a:t>36.9, 73.8</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5</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rowSpan="2">
                  <a:txBody>
                    <a:bodyPr/>
                    <a:lstStyle/>
                    <a:p>
                      <a:pPr algn="ctr" fontAlgn="b">
                        <a:buNone/>
                      </a:pPr>
                      <a:r>
                        <a:rPr lang="en-US" sz="800" b="0" u="none" strike="noStrike" dirty="0">
                          <a:solidFill>
                            <a:srgbClr val="000000"/>
                          </a:solidFill>
                          <a:effectLst/>
                          <a:latin typeface="Times New Roman" panose="02020603050405020304" pitchFamily="18" charset="0"/>
                          <a:cs typeface="Times New Roman" panose="02020603050405020304" pitchFamily="18" charset="0"/>
                        </a:rPr>
                        <a:t>8.84</a:t>
                      </a:r>
                      <a:endParaRPr lang="en-US"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extLst>
                  <a:ext uri="{0D108BD9-81ED-4DB2-BD59-A6C34878D82A}">
                    <a16:rowId xmlns:a16="http://schemas.microsoft.com/office/drawing/2014/main" val="34367169"/>
                  </a:ext>
                </a:extLst>
              </a:tr>
              <a:tr h="130546">
                <a:tc>
                  <a:txBody>
                    <a:bodyPr/>
                    <a:lstStyle/>
                    <a:p>
                      <a:pPr marL="0" marR="0" lvl="0" indent="0" algn="l" defTabSz="457200" rtl="0" eaLnBrk="1" fontAlgn="b" latinLnBrk="0" hangingPunct="1">
                        <a:lnSpc>
                          <a:spcPct val="100000"/>
                        </a:lnSpc>
                        <a:spcBef>
                          <a:spcPts val="0"/>
                        </a:spcBef>
                        <a:spcAft>
                          <a:spcPts val="0"/>
                        </a:spcAft>
                        <a:buClrTx/>
                        <a:buSzTx/>
                        <a:buFontTx/>
                        <a:buNone/>
                        <a:tabLst/>
                        <a:defRPr/>
                      </a:pPr>
                      <a:r>
                        <a:rPr lang="zh-CN" altLang="en-US" sz="700" b="0" u="none" strike="noStrike" dirty="0">
                          <a:solidFill>
                            <a:srgbClr val="000000"/>
                          </a:solidFill>
                          <a:effectLst/>
                        </a:rPr>
                        <a:t>层</a:t>
                      </a:r>
                      <a:r>
                        <a:rPr lang="en-US" altLang="zh-CN" sz="700" b="0" u="none" strike="noStrike" dirty="0">
                          <a:solidFill>
                            <a:srgbClr val="000000"/>
                          </a:solidFill>
                          <a:effectLst/>
                        </a:rPr>
                        <a:t>2</a:t>
                      </a:r>
                      <a:r>
                        <a:rPr lang="zh-CN" altLang="en-US" sz="700" b="0" u="none" strike="noStrike" dirty="0">
                          <a:solidFill>
                            <a:srgbClr val="000000"/>
                          </a:solidFill>
                          <a:effectLst/>
                        </a:rPr>
                        <a:t>： </a:t>
                      </a:r>
                      <a:r>
                        <a:rPr lang="en-US" sz="700" b="0" u="none" strike="noStrike" dirty="0">
                          <a:solidFill>
                            <a:srgbClr val="000000"/>
                          </a:solidFill>
                          <a:effectLst/>
                        </a:rPr>
                        <a:t>7.4,  14.8</a:t>
                      </a:r>
                      <a:endParaRPr lang="en-US" sz="7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80379921"/>
                  </a:ext>
                </a:extLst>
              </a:tr>
            </a:tbl>
          </a:graphicData>
        </a:graphic>
      </p:graphicFrame>
      <p:sp>
        <p:nvSpPr>
          <p:cNvPr id="27" name="TextBox 26">
            <a:extLst>
              <a:ext uri="{FF2B5EF4-FFF2-40B4-BE49-F238E27FC236}">
                <a16:creationId xmlns:a16="http://schemas.microsoft.com/office/drawing/2014/main" id="{4C956AB4-64C7-DE70-3509-7BC62DF15684}"/>
              </a:ext>
            </a:extLst>
          </p:cNvPr>
          <p:cNvSpPr txBox="1"/>
          <p:nvPr/>
        </p:nvSpPr>
        <p:spPr>
          <a:xfrm>
            <a:off x="234950" y="3755487"/>
            <a:ext cx="2330450" cy="246221"/>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Prognostic effect </a:t>
            </a:r>
            <a:r>
              <a:rPr lang="zh-CN" altLang="en-US" sz="1000" b="1" dirty="0">
                <a:latin typeface="Times New Roman" panose="02020603050405020304" pitchFamily="18" charset="0"/>
                <a:cs typeface="Times New Roman" panose="02020603050405020304" pitchFamily="18" charset="0"/>
              </a:rPr>
              <a:t>和</a:t>
            </a:r>
            <a:r>
              <a:rPr lang="en-US" altLang="zh-CN" sz="1000" b="1" dirty="0">
                <a:latin typeface="Times New Roman" panose="02020603050405020304" pitchFamily="18" charset="0"/>
                <a:cs typeface="Times New Roman" panose="02020603050405020304" pitchFamily="18" charset="0"/>
              </a:rPr>
              <a:t>VRF</a:t>
            </a:r>
            <a:r>
              <a:rPr lang="zh-CN" altLang="en-US" sz="1000" b="1" dirty="0">
                <a:latin typeface="Times New Roman" panose="02020603050405020304" pitchFamily="18" charset="0"/>
                <a:cs typeface="Times New Roman" panose="02020603050405020304" pitchFamily="18" charset="0"/>
              </a:rPr>
              <a:t>关系示例</a:t>
            </a:r>
            <a:endParaRPr lang="en-US" sz="1000" b="1"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23FFDD16-24A5-42C6-AF89-668565483093}"/>
              </a:ext>
            </a:extLst>
          </p:cNvPr>
          <p:cNvSpPr txBox="1"/>
          <p:nvPr/>
        </p:nvSpPr>
        <p:spPr>
          <a:xfrm>
            <a:off x="3629347" y="3122779"/>
            <a:ext cx="5178894" cy="1566967"/>
          </a:xfrm>
          <a:prstGeom prst="rect">
            <a:avLst/>
          </a:prstGeom>
          <a:noFill/>
        </p:spPr>
        <p:txBody>
          <a:bodyPr wrap="square">
            <a:spAutoFit/>
          </a:bodyPr>
          <a:lstStyle/>
          <a:p>
            <a:pPr>
              <a:lnSpc>
                <a:spcPct val="200000"/>
              </a:lnSpc>
            </a:pPr>
            <a:r>
              <a:rPr lang="zh-CN" altLang="en-US" sz="1800" dirty="0"/>
              <a:t>    </a:t>
            </a:r>
            <a:r>
              <a:rPr lang="zh-CN" altLang="en-US" sz="1100" dirty="0">
                <a:latin typeface="Times New Roman" panose="02020603050405020304" pitchFamily="18" charset="0"/>
                <a:ea typeface="微软雅黑" panose="020B0503020204020204" pitchFamily="34" charset="-122"/>
                <a:cs typeface="Times New Roman" panose="02020603050405020304" pitchFamily="18" charset="0"/>
              </a:rPr>
              <a:t>模</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拟结果显示，</a:t>
            </a:r>
            <a:r>
              <a:rPr lang="zh-CN" altLang="en-US" sz="1050" b="1" dirty="0">
                <a:latin typeface="Times New Roman" panose="02020603050405020304" pitchFamily="18" charset="0"/>
                <a:ea typeface="微软雅黑" panose="020B0503020204020204" pitchFamily="34" charset="-122"/>
                <a:cs typeface="Times New Roman" panose="02020603050405020304" pitchFamily="18" charset="0"/>
              </a:rPr>
              <a:t>若分层因素存在较强预后效应</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时，分层随机化相较于不分层可显著提升检验效能。但在总事件数仅</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66</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例、分</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层的情况下，由于层数过多，即便采用分层分析，其效能仍无法达到预设的</a:t>
            </a:r>
            <a:r>
              <a:rPr lang="en-US" altLang="zh-CN" sz="1050" dirty="0">
                <a:latin typeface="Times New Roman" panose="02020603050405020304" pitchFamily="18" charset="0"/>
                <a:ea typeface="微软雅黑" panose="020B0503020204020204" pitchFamily="34" charset="-122"/>
                <a:cs typeface="Times New Roman" panose="02020603050405020304" pitchFamily="18" charset="0"/>
              </a:rPr>
              <a:t>80%</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；且需预后效应更强时，分层优势才变得明显。</a:t>
            </a:r>
            <a:r>
              <a:rPr lang="zh-CN" altLang="en-US" sz="105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无论是否存在预后效应，过度分层均会损害分层</a:t>
            </a:r>
            <a:r>
              <a:rPr lang="en-US" altLang="zh-CN" sz="1050" b="1" dirty="0" err="1">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logrank</a:t>
            </a:r>
            <a:r>
              <a:rPr lang="zh-CN" altLang="en-US" sz="105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检验的效力</a:t>
            </a:r>
            <a:r>
              <a:rPr lang="zh-CN" altLang="en-US" sz="1050" dirty="0">
                <a:latin typeface="Times New Roman" panose="02020603050405020304" pitchFamily="18" charset="0"/>
                <a:ea typeface="微软雅黑" panose="020B0503020204020204" pitchFamily="34" charset="-122"/>
                <a:cs typeface="Times New Roman" panose="02020603050405020304" pitchFamily="18" charset="0"/>
              </a:rPr>
              <a:t>。</a:t>
            </a:r>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EB933BBF-6997-6F5A-F683-4B45654459F6}"/>
              </a:ext>
            </a:extLst>
          </p:cNvPr>
          <p:cNvSpPr/>
          <p:nvPr/>
        </p:nvSpPr>
        <p:spPr>
          <a:xfrm>
            <a:off x="279400" y="464924"/>
            <a:ext cx="3494867" cy="369332"/>
          </a:xfrm>
          <a:prstGeom prst="round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40C6DF8-0A6B-909F-88F5-8EAF46DE4DFE}"/>
              </a:ext>
            </a:extLst>
          </p:cNvPr>
          <p:cNvSpPr txBox="1"/>
          <p:nvPr/>
        </p:nvSpPr>
        <p:spPr>
          <a:xfrm>
            <a:off x="279400" y="494730"/>
            <a:ext cx="3494867" cy="316369"/>
          </a:xfrm>
          <a:prstGeom prst="rect">
            <a:avLst/>
          </a:prstGeom>
          <a:noFill/>
        </p:spPr>
        <p:txBody>
          <a:bodyPr wrap="squar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模拟问题</a:t>
            </a:r>
            <a:r>
              <a:rPr lang="en-US" altLang="zh-CN" sz="1050" b="1" dirty="0">
                <a:latin typeface="微软雅黑" panose="020B0503020204020204" pitchFamily="34" charset="-122"/>
                <a:ea typeface="微软雅黑" panose="020B0503020204020204" pitchFamily="34" charset="-122"/>
              </a:rPr>
              <a:t>1</a:t>
            </a:r>
            <a:r>
              <a:rPr lang="zh-CN" altLang="en-US" sz="1050" b="1" dirty="0">
                <a:latin typeface="微软雅黑" panose="020B0503020204020204" pitchFamily="34" charset="-122"/>
                <a:ea typeface="微软雅黑" panose="020B0503020204020204" pitchFamily="34" charset="-122"/>
              </a:rPr>
              <a:t>：预后效应与分层（不分层）随机</a:t>
            </a:r>
            <a:r>
              <a:rPr lang="en-US" altLang="zh-CN" sz="1050" b="1" dirty="0">
                <a:latin typeface="微软雅黑" panose="020B0503020204020204" pitchFamily="34" charset="-122"/>
                <a:ea typeface="微软雅黑" panose="020B0503020204020204" pitchFamily="34" charset="-122"/>
              </a:rPr>
              <a:t>power</a:t>
            </a:r>
            <a:r>
              <a:rPr lang="zh-CN" altLang="en-US" sz="1050" b="1" dirty="0">
                <a:latin typeface="微软雅黑" panose="020B0503020204020204" pitchFamily="34" charset="-122"/>
                <a:ea typeface="微软雅黑" panose="020B0503020204020204" pitchFamily="34" charset="-122"/>
              </a:rPr>
              <a:t>关系</a:t>
            </a:r>
            <a:endParaRPr lang="en-US" sz="105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889046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DF02443E-40B5-6535-9A32-E0A93C9DB69C}"/>
              </a:ext>
            </a:extLst>
          </p:cNvPr>
          <p:cNvSpPr/>
          <p:nvPr/>
        </p:nvSpPr>
        <p:spPr>
          <a:xfrm>
            <a:off x="347270" y="522905"/>
            <a:ext cx="3505912" cy="529530"/>
          </a:xfrm>
          <a:prstGeom prst="round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 2"/>
          <p:cNvSpPr/>
          <p:nvPr/>
        </p:nvSpPr>
        <p:spPr>
          <a:xfrm>
            <a:off x="378619" y="1217851"/>
            <a:ext cx="1989140" cy="218043"/>
          </a:xfrm>
          <a:prstGeom prst="rect">
            <a:avLst/>
          </a:prstGeom>
          <a:noFill/>
          <a:ln/>
        </p:spPr>
        <p:txBody>
          <a:bodyPr wrap="none" lIns="0" tIns="0" rIns="0" bIns="0" rtlCol="0" anchor="ctr"/>
          <a:lstStyle/>
          <a:p>
            <a:pPr>
              <a:lnSpc>
                <a:spcPct val="100000"/>
              </a:lnSpc>
            </a:pPr>
            <a:r>
              <a:rPr lang="zh-CN" alt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模拟参数</a:t>
            </a:r>
            <a:endParaRPr 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Shape 3"/>
          <p:cNvSpPr/>
          <p:nvPr/>
        </p:nvSpPr>
        <p:spPr>
          <a:xfrm>
            <a:off x="347269" y="1476375"/>
            <a:ext cx="3596082" cy="1092822"/>
          </a:xfrm>
          <a:prstGeom prst="roundRect">
            <a:avLst>
              <a:gd name="adj" fmla="val 3846"/>
            </a:avLst>
          </a:prstGeom>
          <a:solidFill>
            <a:srgbClr val="FAFAFA"/>
          </a:solidFill>
          <a:ln/>
        </p:spPr>
        <p:txBody>
          <a:bodyPr/>
          <a:lstStyle/>
          <a:p>
            <a:endParaRPr 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Shape 4"/>
          <p:cNvSpPr/>
          <p:nvPr/>
        </p:nvSpPr>
        <p:spPr>
          <a:xfrm>
            <a:off x="342900" y="1433512"/>
            <a:ext cx="45719" cy="1169595"/>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5"/>
          <p:cNvSpPr/>
          <p:nvPr/>
        </p:nvSpPr>
        <p:spPr>
          <a:xfrm>
            <a:off x="442913" y="1476376"/>
            <a:ext cx="2857500" cy="142875"/>
          </a:xfrm>
          <a:prstGeom prst="rect">
            <a:avLst/>
          </a:prstGeom>
          <a:noFill/>
          <a:ln/>
        </p:spPr>
        <p:txBody>
          <a:bodyPr wrap="none" lIns="0" tIns="0" rIns="0" bIns="0" rtlCol="0" anchor="ctr"/>
          <a:lstStyle/>
          <a:p>
            <a:pPr>
              <a:lnSpc>
                <a:spcPct val="100000"/>
              </a:lnSpc>
            </a:pPr>
            <a:r>
              <a:rPr lang="en-US"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Endpoint &amp; Survival Model</a:t>
            </a:r>
            <a:endParaRPr lang="en-US" sz="788"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6"/>
          <p:cNvSpPr/>
          <p:nvPr/>
        </p:nvSpPr>
        <p:spPr>
          <a:xfrm>
            <a:off x="432591" y="1686722"/>
            <a:ext cx="3600450" cy="815180"/>
          </a:xfrm>
          <a:prstGeom prst="rect">
            <a:avLst/>
          </a:prstGeom>
          <a:noFill/>
          <a:ln/>
        </p:spPr>
        <p:txBody>
          <a:bodyPr wrap="square" lIns="0" tIns="0" rIns="0" bIns="0" rtlCol="0" anchor="t"/>
          <a:lstStyle/>
          <a:p>
            <a:pPr>
              <a:lnSpc>
                <a:spcPct val="190000"/>
              </a:lnSpc>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Endpoint </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Time-to-Event (TTE)</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Distribution </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Exponential</a:t>
            </a:r>
          </a:p>
          <a:p>
            <a:pPr>
              <a:lnSpc>
                <a:spcPct val="190000"/>
              </a:lnSpc>
              <a:spcBef>
                <a:spcPts val="113"/>
              </a:spcBef>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Treatment HR</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(target events): </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0.756 (400 events) / 0.82 (800 events)</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9" name="Group 38">
            <a:extLst>
              <a:ext uri="{FF2B5EF4-FFF2-40B4-BE49-F238E27FC236}">
                <a16:creationId xmlns:a16="http://schemas.microsoft.com/office/drawing/2014/main" id="{DEE96E9F-FCB6-6532-57EE-E97D134177D0}"/>
              </a:ext>
            </a:extLst>
          </p:cNvPr>
          <p:cNvGrpSpPr/>
          <p:nvPr/>
        </p:nvGrpSpPr>
        <p:grpSpPr>
          <a:xfrm>
            <a:off x="132161" y="2683036"/>
            <a:ext cx="3825477" cy="271463"/>
            <a:chOff x="155983" y="2125877"/>
            <a:chExt cx="3825477" cy="271463"/>
          </a:xfrm>
        </p:grpSpPr>
        <p:sp>
          <p:nvSpPr>
            <p:cNvPr id="9" name="Shape 7"/>
            <p:cNvSpPr/>
            <p:nvPr/>
          </p:nvSpPr>
          <p:spPr>
            <a:xfrm>
              <a:off x="381010" y="2154964"/>
              <a:ext cx="3600450" cy="214312"/>
            </a:xfrm>
            <a:prstGeom prst="roundRect">
              <a:avLst>
                <a:gd name="adj" fmla="val 7692"/>
              </a:avLst>
            </a:prstGeom>
            <a:solidFill>
              <a:srgbClr val="F5F5F5"/>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 8"/>
            <p:cNvSpPr/>
            <p:nvPr/>
          </p:nvSpPr>
          <p:spPr>
            <a:xfrm>
              <a:off x="155983" y="2125877"/>
              <a:ext cx="2953863" cy="271463"/>
            </a:xfrm>
            <a:prstGeom prst="rect">
              <a:avLst/>
            </a:prstGeom>
            <a:noFill/>
            <a:ln/>
          </p:spPr>
          <p:txBody>
            <a:bodyPr wrap="none" lIns="0" tIns="0" rIns="0" bIns="0" rtlCol="0" anchor="ctr"/>
            <a:lstStyle/>
            <a:p>
              <a:pPr algn="ctr">
                <a:lnSpc>
                  <a:spcPct val="100000"/>
                </a:lnSpc>
              </a:pPr>
              <a:r>
                <a:rPr lang="en-US" sz="844"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h(t|Z) = λ₀ · exp[ Σ I(Factorⱼ) · log(HRⱼ) + βₜᵣₜ · Trt ]</a:t>
              </a:r>
              <a:endParaRPr lang="en-US" sz="844"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 name="Shape 9"/>
          <p:cNvSpPr/>
          <p:nvPr/>
        </p:nvSpPr>
        <p:spPr>
          <a:xfrm>
            <a:off x="342901" y="3019425"/>
            <a:ext cx="3771900" cy="1271588"/>
          </a:xfrm>
          <a:prstGeom prst="roundRect">
            <a:avLst>
              <a:gd name="adj" fmla="val 4494"/>
            </a:avLst>
          </a:prstGeom>
          <a:solidFill>
            <a:srgbClr val="FAFAF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10"/>
          <p:cNvSpPr/>
          <p:nvPr/>
        </p:nvSpPr>
        <p:spPr>
          <a:xfrm>
            <a:off x="342900" y="3019425"/>
            <a:ext cx="28575" cy="1271588"/>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11"/>
          <p:cNvSpPr/>
          <p:nvPr/>
        </p:nvSpPr>
        <p:spPr>
          <a:xfrm>
            <a:off x="442913" y="3033712"/>
            <a:ext cx="2286000" cy="142875"/>
          </a:xfrm>
          <a:prstGeom prst="rect">
            <a:avLst/>
          </a:prstGeom>
          <a:noFill/>
          <a:ln/>
        </p:spPr>
        <p:txBody>
          <a:bodyPr wrap="none" lIns="0" tIns="0" rIns="0" bIns="0" rtlCol="0" anchor="ctr"/>
          <a:lstStyle/>
          <a:p>
            <a:pPr>
              <a:lnSpc>
                <a:spcPct val="100000"/>
              </a:lnSpc>
            </a:pPr>
            <a:r>
              <a:rPr lang="en-US"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5 Binary Prognostic Factors</a:t>
            </a:r>
            <a:endParaRPr lang="en-US" sz="788"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Shape 12"/>
          <p:cNvSpPr/>
          <p:nvPr/>
        </p:nvSpPr>
        <p:spPr>
          <a:xfrm>
            <a:off x="2657475" y="3083719"/>
            <a:ext cx="1300163" cy="128588"/>
          </a:xfrm>
          <a:prstGeom prst="roundRect">
            <a:avLst>
              <a:gd name="adj" fmla="val 22223"/>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Text 13"/>
          <p:cNvSpPr/>
          <p:nvPr/>
        </p:nvSpPr>
        <p:spPr>
          <a:xfrm>
            <a:off x="2628899" y="3076574"/>
            <a:ext cx="1357313" cy="128588"/>
          </a:xfrm>
          <a:prstGeom prst="rect">
            <a:avLst/>
          </a:prstGeom>
          <a:noFill/>
          <a:ln/>
        </p:spPr>
        <p:txBody>
          <a:bodyPr wrap="none" lIns="0" tIns="0" rIns="0" bIns="0" rtlCol="0" anchor="ctr"/>
          <a:lstStyle/>
          <a:p>
            <a:pPr algn="ctr">
              <a:lnSpc>
                <a:spcPct val="100000"/>
              </a:lnSpc>
            </a:pPr>
            <a:r>
              <a:rPr lang="en-US" sz="563"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 Scenarios × 4 Distributions = 12 Groups</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3535517952"/>
              </p:ext>
            </p:extLst>
          </p:nvPr>
        </p:nvGraphicFramePr>
        <p:xfrm>
          <a:off x="442913" y="3235642"/>
          <a:ext cx="3600450" cy="768668"/>
        </p:xfrm>
        <a:graphic>
          <a:graphicData uri="http://schemas.openxmlformats.org/drawingml/2006/table">
            <a:tbl>
              <a:tblPr/>
              <a:tblGrid>
                <a:gridCol w="757237">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96900">
                  <a:extLst>
                    <a:ext uri="{9D8B030D-6E8A-4147-A177-3AD203B41FA5}">
                      <a16:colId xmlns:a16="http://schemas.microsoft.com/office/drawing/2014/main" val="20002"/>
                    </a:ext>
                  </a:extLst>
                </a:gridCol>
                <a:gridCol w="577850">
                  <a:extLst>
                    <a:ext uri="{9D8B030D-6E8A-4147-A177-3AD203B41FA5}">
                      <a16:colId xmlns:a16="http://schemas.microsoft.com/office/drawing/2014/main" val="20003"/>
                    </a:ext>
                  </a:extLst>
                </a:gridCol>
                <a:gridCol w="660400">
                  <a:extLst>
                    <a:ext uri="{9D8B030D-6E8A-4147-A177-3AD203B41FA5}">
                      <a16:colId xmlns:a16="http://schemas.microsoft.com/office/drawing/2014/main" val="20004"/>
                    </a:ext>
                  </a:extLst>
                </a:gridCol>
                <a:gridCol w="449263">
                  <a:extLst>
                    <a:ext uri="{9D8B030D-6E8A-4147-A177-3AD203B41FA5}">
                      <a16:colId xmlns:a16="http://schemas.microsoft.com/office/drawing/2014/main" val="20005"/>
                    </a:ext>
                  </a:extLst>
                </a:gridCol>
              </a:tblGrid>
              <a:tr h="178594">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Scenario</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F1</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F2</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F3</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F4</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l"/>
                      <a:r>
                        <a:rPr lang="en-US" sz="700" b="1" u="none" dirty="0">
                          <a:solidFill>
                            <a:srgbClr val="FFFFFF"/>
                          </a:solidFill>
                          <a:latin typeface="QuattrocentoSans" pitchFamily="34" charset="0"/>
                          <a:ea typeface="QuattrocentoSans" pitchFamily="34" charset="-122"/>
                          <a:cs typeface="QuattrocentoSans" pitchFamily="34" charset="-120"/>
                        </a:rPr>
                        <a:t>F5</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extLst>
                  <a:ext uri="{0D108BD9-81ED-4DB2-BD59-A6C34878D82A}">
                    <a16:rowId xmlns:a16="http://schemas.microsoft.com/office/drawing/2014/main" val="10000"/>
                  </a:ext>
                </a:extLst>
              </a:tr>
              <a:tr h="178594">
                <a:tc>
                  <a:txBody>
                    <a:bodyPr/>
                    <a:lstStyle/>
                    <a:p>
                      <a:pPr algn="l"/>
                      <a:r>
                        <a:rPr lang="en-US" sz="800" b="1" u="none" dirty="0">
                          <a:solidFill>
                            <a:srgbClr val="00BA38"/>
                          </a:solidFill>
                          <a:latin typeface="Times New Roman" panose="02020603050405020304" pitchFamily="18" charset="0"/>
                          <a:ea typeface="QuattrocentoSans" pitchFamily="34" charset="-122"/>
                          <a:cs typeface="Times New Roman" panose="02020603050405020304" pitchFamily="18" charset="0"/>
                        </a:rPr>
                        <a:t>Gradual</a:t>
                      </a:r>
                      <a:endParaRPr lang="en-US" sz="800" b="1" dirty="0">
                        <a:solidFill>
                          <a:srgbClr val="00BA38"/>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0.5</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0.7</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0.8</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888888"/>
                          </a:solidFill>
                          <a:latin typeface="QuattrocentoSans" pitchFamily="34" charset="0"/>
                          <a:ea typeface="QuattrocentoSans" pitchFamily="34" charset="-122"/>
                          <a:cs typeface="QuattrocentoSans" pitchFamily="34" charset="-120"/>
                        </a:rPr>
                        <a:t>0.9</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5740">
                <a:tc>
                  <a:txBody>
                    <a:bodyPr/>
                    <a:lstStyle/>
                    <a:p>
                      <a:pPr algn="l"/>
                      <a:r>
                        <a:rPr lang="en-US" sz="800" b="1" u="none" dirty="0">
                          <a:solidFill>
                            <a:srgbClr val="5E9AFF"/>
                          </a:solidFill>
                          <a:latin typeface="Times New Roman" panose="02020603050405020304" pitchFamily="18" charset="0"/>
                          <a:ea typeface="QuattrocentoSans" pitchFamily="34" charset="-122"/>
                          <a:cs typeface="Times New Roman" panose="02020603050405020304" pitchFamily="18" charset="0"/>
                        </a:rPr>
                        <a:t>Homogeneous</a:t>
                      </a:r>
                      <a:endParaRPr lang="en-US" sz="800" b="1" dirty="0">
                        <a:solidFill>
                          <a:srgbClr val="5E9AFF"/>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0.6</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205740">
                <a:tc>
                  <a:txBody>
                    <a:bodyPr/>
                    <a:lstStyle/>
                    <a:p>
                      <a:pPr algn="l"/>
                      <a:r>
                        <a:rPr lang="en-US" sz="800" b="1" u="none" dirty="0">
                          <a:solidFill>
                            <a:srgbClr val="F8766D"/>
                          </a:solidFill>
                          <a:latin typeface="Times New Roman" panose="02020603050405020304" pitchFamily="18" charset="0"/>
                          <a:ea typeface="QuattrocentoSans" pitchFamily="34" charset="-122"/>
                          <a:cs typeface="Times New Roman" panose="02020603050405020304" pitchFamily="18" charset="0"/>
                        </a:rPr>
                        <a:t>Single Strong</a:t>
                      </a:r>
                      <a:endParaRPr lang="en-US" sz="800" b="1" dirty="0">
                        <a:solidFill>
                          <a:srgbClr val="F8766D"/>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333333"/>
                          </a:solidFill>
                          <a:latin typeface="QuattrocentoSans" pitchFamily="34" charset="0"/>
                          <a:ea typeface="QuattrocentoSans" pitchFamily="34" charset="-122"/>
                          <a:cs typeface="QuattrocentoSans" pitchFamily="34" charset="-120"/>
                        </a:rPr>
                        <a:t>0.4</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888888"/>
                          </a:solidFill>
                          <a:latin typeface="QuattrocentoSans" pitchFamily="34" charset="0"/>
                          <a:ea typeface="QuattrocentoSans" pitchFamily="34" charset="-122"/>
                          <a:cs typeface="QuattrocentoSans" pitchFamily="34" charset="-120"/>
                        </a:rPr>
                        <a:t>0.9</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888888"/>
                          </a:solidFill>
                          <a:latin typeface="QuattrocentoSans" pitchFamily="34" charset="0"/>
                          <a:ea typeface="QuattrocentoSans" pitchFamily="34" charset="-122"/>
                          <a:cs typeface="QuattrocentoSans" pitchFamily="34" charset="-120"/>
                        </a:rPr>
                        <a:t>0.9</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888888"/>
                          </a:solidFill>
                          <a:latin typeface="QuattrocentoSans" pitchFamily="34" charset="0"/>
                          <a:ea typeface="QuattrocentoSans" pitchFamily="34" charset="-122"/>
                          <a:cs typeface="QuattrocentoSans" pitchFamily="34" charset="-120"/>
                        </a:rPr>
                        <a:t>0.9</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l"/>
                      <a:r>
                        <a:rPr lang="en-US" sz="700" u="none" dirty="0">
                          <a:solidFill>
                            <a:srgbClr val="888888"/>
                          </a:solidFill>
                          <a:latin typeface="QuattrocentoSans" pitchFamily="34" charset="0"/>
                          <a:ea typeface="QuattrocentoSans" pitchFamily="34" charset="-122"/>
                          <a:cs typeface="QuattrocentoSans" pitchFamily="34" charset="-120"/>
                        </a:rPr>
                        <a:t>0.9</a:t>
                      </a:r>
                      <a:endParaRPr lang="en-US" sz="700" dirty="0">
                        <a:latin typeface="QuattrocentoSans" charset="0"/>
                        <a:ea typeface="QuattrocentoSans" charset="0"/>
                        <a:cs typeface="QuattrocentoSans"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14"/>
          <p:cNvSpPr/>
          <p:nvPr/>
        </p:nvSpPr>
        <p:spPr>
          <a:xfrm>
            <a:off x="471488" y="4033838"/>
            <a:ext cx="3600450" cy="171450"/>
          </a:xfrm>
          <a:prstGeom prst="rect">
            <a:avLst/>
          </a:prstGeom>
          <a:noFill/>
          <a:ln/>
        </p:spPr>
        <p:txBody>
          <a:bodyPr wrap="square" lIns="0" tIns="0" rIns="0" bIns="0" rtlCol="0" anchor="ctr"/>
          <a:lstStyle/>
          <a:p>
            <a:pPr>
              <a:lnSpc>
                <a:spcPct val="190000"/>
              </a:lnSpc>
            </a:pPr>
            <a:r>
              <a:rPr 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Population distribution</a:t>
            </a:r>
            <a:r>
              <a:rPr lang="zh-CN" alt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8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Balanced 50% / Skewed 30% / Rare 20% / Mixed</a:t>
            </a:r>
            <a:endParaRPr lang="en-US"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Shape 15"/>
          <p:cNvSpPr/>
          <p:nvPr/>
        </p:nvSpPr>
        <p:spPr>
          <a:xfrm>
            <a:off x="335757" y="4376738"/>
            <a:ext cx="3763164" cy="685800"/>
          </a:xfrm>
          <a:prstGeom prst="roundRect">
            <a:avLst>
              <a:gd name="adj" fmla="val 4706"/>
            </a:avLst>
          </a:prstGeom>
          <a:solidFill>
            <a:srgbClr val="FAFAF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Shape 16"/>
          <p:cNvSpPr/>
          <p:nvPr/>
        </p:nvSpPr>
        <p:spPr>
          <a:xfrm>
            <a:off x="342900" y="4391025"/>
            <a:ext cx="45719" cy="671513"/>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Text 17"/>
          <p:cNvSpPr/>
          <p:nvPr/>
        </p:nvSpPr>
        <p:spPr>
          <a:xfrm>
            <a:off x="471488" y="4462462"/>
            <a:ext cx="2857500" cy="128588"/>
          </a:xfrm>
          <a:prstGeom prst="rect">
            <a:avLst/>
          </a:prstGeom>
          <a:noFill/>
          <a:ln/>
        </p:spPr>
        <p:txBody>
          <a:bodyPr wrap="none" lIns="0" tIns="0" rIns="0" bIns="0" rtlCol="0" anchor="ctr"/>
          <a:lstStyle/>
          <a:p>
            <a:pPr>
              <a:lnSpc>
                <a:spcPct val="100000"/>
              </a:lnSpc>
            </a:pPr>
            <a:r>
              <a:rPr lang="en-US" sz="788"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Stratification Strategy</a:t>
            </a:r>
            <a:endParaRPr lang="en-US" sz="788"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Text 18"/>
          <p:cNvSpPr/>
          <p:nvPr/>
        </p:nvSpPr>
        <p:spPr>
          <a:xfrm>
            <a:off x="485776" y="4613275"/>
            <a:ext cx="3486150" cy="671513"/>
          </a:xfrm>
          <a:prstGeom prst="rect">
            <a:avLst/>
          </a:prstGeom>
          <a:noFill/>
          <a:ln/>
        </p:spPr>
        <p:txBody>
          <a:bodyPr wrap="square" lIns="0" tIns="0" rIns="0" bIns="0" rtlCol="0" anchor="t"/>
          <a:lstStyle/>
          <a:p>
            <a:pPr>
              <a:lnSpc>
                <a:spcPct val="160000"/>
              </a:lnSpc>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Strata dimensions</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0 → 1 → 2 → 3 → 4 → 5 factors</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Number of strata</a:t>
            </a:r>
            <a:r>
              <a:rPr lang="zh-CN" altLang="en-US" sz="731"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1 → 2 → 4 → 8 → 16 → 32</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7" name="Group 36">
            <a:extLst>
              <a:ext uri="{FF2B5EF4-FFF2-40B4-BE49-F238E27FC236}">
                <a16:creationId xmlns:a16="http://schemas.microsoft.com/office/drawing/2014/main" id="{82D2ECC4-EC5C-50F8-4D23-AE6835AC55FB}"/>
              </a:ext>
            </a:extLst>
          </p:cNvPr>
          <p:cNvGrpSpPr/>
          <p:nvPr/>
        </p:nvGrpSpPr>
        <p:grpSpPr>
          <a:xfrm>
            <a:off x="471488" y="2465149"/>
            <a:ext cx="1460898" cy="157798"/>
            <a:chOff x="439340" y="4641850"/>
            <a:chExt cx="1460898" cy="157798"/>
          </a:xfrm>
        </p:grpSpPr>
        <p:sp>
          <p:nvSpPr>
            <p:cNvPr id="22" name="Shape 19"/>
            <p:cNvSpPr/>
            <p:nvPr/>
          </p:nvSpPr>
          <p:spPr>
            <a:xfrm>
              <a:off x="442913" y="4641850"/>
              <a:ext cx="585788"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 20"/>
            <p:cNvSpPr/>
            <p:nvPr/>
          </p:nvSpPr>
          <p:spPr>
            <a:xfrm>
              <a:off x="439340" y="4656773"/>
              <a:ext cx="585788" cy="142875"/>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Block = 4</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Shape 21"/>
            <p:cNvSpPr/>
            <p:nvPr/>
          </p:nvSpPr>
          <p:spPr>
            <a:xfrm>
              <a:off x="1114425" y="4644231"/>
              <a:ext cx="785813"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Text 22"/>
            <p:cNvSpPr/>
            <p:nvPr/>
          </p:nvSpPr>
          <p:spPr>
            <a:xfrm>
              <a:off x="1079502" y="4651374"/>
              <a:ext cx="785813" cy="142875"/>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1:1 Allocation</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2" name="TextBox 31">
            <a:extLst>
              <a:ext uri="{FF2B5EF4-FFF2-40B4-BE49-F238E27FC236}">
                <a16:creationId xmlns:a16="http://schemas.microsoft.com/office/drawing/2014/main" id="{E24C8E72-6DD6-B633-ADA6-406388EDB01C}"/>
              </a:ext>
            </a:extLst>
          </p:cNvPr>
          <p:cNvSpPr txBox="1"/>
          <p:nvPr/>
        </p:nvSpPr>
        <p:spPr>
          <a:xfrm>
            <a:off x="234950" y="99060"/>
            <a:ext cx="4572000" cy="369332"/>
          </a:xfrm>
          <a:prstGeom prst="rect">
            <a:avLst/>
          </a:prstGeom>
          <a:noFill/>
        </p:spPr>
        <p:txBody>
          <a:bodyPr wrap="square">
            <a:spAutoFit/>
          </a:bodyPr>
          <a:lstStyle/>
          <a:p>
            <a:pPr>
              <a:lnSpc>
                <a:spcPct val="100000"/>
              </a:lnSpc>
            </a:pP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01.3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分层因素选择</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预后效应</a:t>
            </a:r>
            <a:endParaRPr lang="en-US" sz="1800"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4" name="Picture 33">
            <a:extLst>
              <a:ext uri="{FF2B5EF4-FFF2-40B4-BE49-F238E27FC236}">
                <a16:creationId xmlns:a16="http://schemas.microsoft.com/office/drawing/2014/main" id="{42128F30-FF8C-DBD7-97C7-7A2DE50A926D}"/>
              </a:ext>
            </a:extLst>
          </p:cNvPr>
          <p:cNvPicPr>
            <a:picLocks noChangeAspect="1"/>
          </p:cNvPicPr>
          <p:nvPr/>
        </p:nvPicPr>
        <p:blipFill>
          <a:blip r:embed="rId3"/>
          <a:stretch>
            <a:fillRect/>
          </a:stretch>
        </p:blipFill>
        <p:spPr>
          <a:xfrm>
            <a:off x="4248150" y="5034"/>
            <a:ext cx="4743450" cy="2552428"/>
          </a:xfrm>
          <a:prstGeom prst="rect">
            <a:avLst/>
          </a:prstGeom>
        </p:spPr>
      </p:pic>
      <p:pic>
        <p:nvPicPr>
          <p:cNvPr id="36" name="Picture 35">
            <a:extLst>
              <a:ext uri="{FF2B5EF4-FFF2-40B4-BE49-F238E27FC236}">
                <a16:creationId xmlns:a16="http://schemas.microsoft.com/office/drawing/2014/main" id="{CD43ACD5-1674-7006-43CB-E2FCE3BBE2CC}"/>
              </a:ext>
            </a:extLst>
          </p:cNvPr>
          <p:cNvPicPr>
            <a:picLocks noChangeAspect="1"/>
          </p:cNvPicPr>
          <p:nvPr/>
        </p:nvPicPr>
        <p:blipFill>
          <a:blip r:embed="rId4"/>
          <a:stretch>
            <a:fillRect/>
          </a:stretch>
        </p:blipFill>
        <p:spPr>
          <a:xfrm>
            <a:off x="4221955" y="2335509"/>
            <a:ext cx="4743450" cy="2756614"/>
          </a:xfrm>
          <a:prstGeom prst="rect">
            <a:avLst/>
          </a:prstGeom>
        </p:spPr>
      </p:pic>
      <p:sp>
        <p:nvSpPr>
          <p:cNvPr id="43" name="TextBox 42">
            <a:extLst>
              <a:ext uri="{FF2B5EF4-FFF2-40B4-BE49-F238E27FC236}">
                <a16:creationId xmlns:a16="http://schemas.microsoft.com/office/drawing/2014/main" id="{9BD3ED5F-62A0-611A-CA9A-1C076650AA11}"/>
              </a:ext>
            </a:extLst>
          </p:cNvPr>
          <p:cNvSpPr txBox="1"/>
          <p:nvPr/>
        </p:nvSpPr>
        <p:spPr>
          <a:xfrm>
            <a:off x="357187" y="490617"/>
            <a:ext cx="3596082" cy="570284"/>
          </a:xfrm>
          <a:prstGeom prst="rect">
            <a:avLst/>
          </a:prstGeom>
          <a:noFill/>
        </p:spPr>
        <p:txBody>
          <a:bodyPr wrap="squar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模拟问题</a:t>
            </a:r>
            <a:r>
              <a:rPr lang="en-US" altLang="zh-CN" sz="1050" b="1" dirty="0">
                <a:latin typeface="微软雅黑" panose="020B0503020204020204" pitchFamily="34" charset="-122"/>
                <a:ea typeface="微软雅黑" panose="020B0503020204020204" pitchFamily="34" charset="-122"/>
              </a:rPr>
              <a:t>2</a:t>
            </a:r>
            <a:r>
              <a:rPr lang="zh-CN" altLang="en-US" sz="1050" b="1" dirty="0">
                <a:latin typeface="微软雅黑" panose="020B0503020204020204" pitchFamily="34" charset="-122"/>
                <a:ea typeface="微软雅黑" panose="020B0503020204020204" pitchFamily="34" charset="-122"/>
              </a:rPr>
              <a:t>：</a:t>
            </a:r>
            <a:r>
              <a:rPr lang="en-US" altLang="zh-CN" sz="1050" b="1" dirty="0">
                <a:latin typeface="微软雅黑" panose="020B0503020204020204" pitchFamily="34" charset="-122"/>
                <a:ea typeface="微软雅黑" panose="020B0503020204020204" pitchFamily="34" charset="-122"/>
              </a:rPr>
              <a:t>TTE</a:t>
            </a:r>
            <a:r>
              <a:rPr lang="zh-CN" altLang="en-US" sz="1050" b="1" dirty="0">
                <a:latin typeface="微软雅黑" panose="020B0503020204020204" pitchFamily="34" charset="-122"/>
                <a:ea typeface="微软雅黑" panose="020B0503020204020204" pitchFamily="34" charset="-122"/>
              </a:rPr>
              <a:t>事件充足的情况下是否纳入越多的预后分层因素越好？</a:t>
            </a:r>
            <a:endParaRPr lang="en-US" sz="1050" b="1"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428625" y="657225"/>
            <a:ext cx="8286750" cy="21431"/>
          </a:xfrm>
          <a:prstGeom prst="rect">
            <a:avLst/>
          </a:prstGeom>
          <a:solidFill>
            <a:srgbClr val="9B3D3D"/>
          </a:solidFill>
          <a:ln/>
        </p:spPr>
        <p:txBody>
          <a:bodyPr/>
          <a:lstStyle/>
          <a:p>
            <a:endParaRPr lang="en-US"/>
          </a:p>
        </p:txBody>
      </p:sp>
      <p:sp>
        <p:nvSpPr>
          <p:cNvPr id="4" name="Shape 2"/>
          <p:cNvSpPr/>
          <p:nvPr/>
        </p:nvSpPr>
        <p:spPr>
          <a:xfrm>
            <a:off x="428625" y="821531"/>
            <a:ext cx="2643188" cy="2178844"/>
          </a:xfrm>
          <a:prstGeom prst="roundRect">
            <a:avLst>
              <a:gd name="adj" fmla="val 3000"/>
            </a:avLst>
          </a:prstGeom>
          <a:solidFill>
            <a:srgbClr val="F5F0EE"/>
          </a:solidFill>
          <a:ln/>
        </p:spPr>
        <p:txBody>
          <a:bodyPr/>
          <a:lstStyle/>
          <a:p>
            <a:endParaRPr lang="en-US"/>
          </a:p>
        </p:txBody>
      </p:sp>
      <p:sp>
        <p:nvSpPr>
          <p:cNvPr id="5" name="Shape 3"/>
          <p:cNvSpPr/>
          <p:nvPr/>
        </p:nvSpPr>
        <p:spPr>
          <a:xfrm>
            <a:off x="428625" y="821531"/>
            <a:ext cx="35719" cy="2178844"/>
          </a:xfrm>
          <a:prstGeom prst="rect">
            <a:avLst/>
          </a:prstGeom>
          <a:solidFill>
            <a:srgbClr val="9B3D3D"/>
          </a:solidFill>
          <a:ln/>
        </p:spPr>
        <p:txBody>
          <a:bodyPr/>
          <a:lstStyle/>
          <a:p>
            <a:endParaRPr lang="en-US"/>
          </a:p>
        </p:txBody>
      </p:sp>
      <p:sp>
        <p:nvSpPr>
          <p:cNvPr id="6" name="Shape 4"/>
          <p:cNvSpPr/>
          <p:nvPr/>
        </p:nvSpPr>
        <p:spPr>
          <a:xfrm>
            <a:off x="557212" y="928687"/>
            <a:ext cx="271463" cy="271463"/>
          </a:xfrm>
          <a:prstGeom prst="ellipse">
            <a:avLst/>
          </a:prstGeom>
          <a:solidFill>
            <a:srgbClr val="9B3D3D"/>
          </a:solidFill>
          <a:ln/>
        </p:spPr>
        <p:txBody>
          <a:bodyPr/>
          <a:lstStyle/>
          <a:p>
            <a:endParaRPr lang="en-US"/>
          </a:p>
        </p:txBody>
      </p:sp>
      <p:sp>
        <p:nvSpPr>
          <p:cNvPr id="7" name="Text 5"/>
          <p:cNvSpPr/>
          <p:nvPr/>
        </p:nvSpPr>
        <p:spPr>
          <a:xfrm>
            <a:off x="557212" y="928687"/>
            <a:ext cx="271463" cy="271463"/>
          </a:xfrm>
          <a:prstGeom prst="rect">
            <a:avLst/>
          </a:prstGeom>
          <a:noFill/>
          <a:ln/>
        </p:spPr>
        <p:txBody>
          <a:bodyPr wrap="none" lIns="0" tIns="0" rIns="0" bIns="0" rtlCol="0" anchor="ctr"/>
          <a:lstStyle/>
          <a:p>
            <a:pPr algn="ctr">
              <a:lnSpc>
                <a:spcPct val="120000"/>
              </a:lnSpc>
            </a:pPr>
            <a:r>
              <a:rPr lang="en-US" sz="788" dirty="0">
                <a:solidFill>
                  <a:srgbClr val="FFFFFF"/>
                </a:solidFill>
                <a:latin typeface="MiSans" pitchFamily="34" charset="0"/>
                <a:ea typeface="MiSans" pitchFamily="34" charset="-122"/>
                <a:cs typeface="MiSans" pitchFamily="34" charset="-120"/>
              </a:rPr>
              <a:t>01</a:t>
            </a:r>
            <a:endParaRPr lang="en-US" sz="788" dirty="0"/>
          </a:p>
        </p:txBody>
      </p:sp>
      <p:sp>
        <p:nvSpPr>
          <p:cNvPr id="8" name="Text 6"/>
          <p:cNvSpPr/>
          <p:nvPr/>
        </p:nvSpPr>
        <p:spPr>
          <a:xfrm>
            <a:off x="885825" y="942975"/>
            <a:ext cx="2043113" cy="242888"/>
          </a:xfrm>
          <a:prstGeom prst="rect">
            <a:avLst/>
          </a:prstGeom>
          <a:noFill/>
          <a:ln/>
        </p:spPr>
        <p:txBody>
          <a:bodyPr wrap="none" lIns="0" tIns="0" rIns="0" bIns="0" rtlCol="0" anchor="ctr"/>
          <a:lstStyle/>
          <a:p>
            <a:pPr>
              <a:lnSpc>
                <a:spcPct val="140000"/>
              </a:lnSpc>
            </a:pPr>
            <a:r>
              <a:rPr lang="en-US" sz="1125" b="1" dirty="0">
                <a:solidFill>
                  <a:srgbClr val="2D2D2D"/>
                </a:solidFill>
                <a:latin typeface="MiSans" pitchFamily="34" charset="0"/>
                <a:ea typeface="MiSans" pitchFamily="34" charset="-122"/>
                <a:cs typeface="MiSans" pitchFamily="34" charset="-120"/>
              </a:rPr>
              <a:t>过度分层无益甚至有害</a:t>
            </a:r>
            <a:endParaRPr lang="en-US" sz="1125" dirty="0"/>
          </a:p>
        </p:txBody>
      </p:sp>
      <p:sp>
        <p:nvSpPr>
          <p:cNvPr id="9" name="Text 7"/>
          <p:cNvSpPr/>
          <p:nvPr/>
        </p:nvSpPr>
        <p:spPr>
          <a:xfrm>
            <a:off x="571500" y="1285875"/>
            <a:ext cx="2357438" cy="1571625"/>
          </a:xfrm>
          <a:prstGeom prst="rect">
            <a:avLst/>
          </a:prstGeom>
          <a:noFill/>
          <a:ln/>
        </p:spPr>
        <p:txBody>
          <a:bodyPr wrap="square" lIns="0" tIns="0" rIns="0" bIns="0" rtlCol="0" anchor="t"/>
          <a:lstStyle/>
          <a:p>
            <a:pPr>
              <a:lnSpc>
                <a:spcPct val="150000"/>
              </a:lnSpc>
            </a:pPr>
            <a:r>
              <a:rPr lang="en-US" sz="1013" dirty="0">
                <a:solidFill>
                  <a:srgbClr val="2D2D2D"/>
                </a:solidFill>
                <a:latin typeface="MiSans" pitchFamily="34" charset="0"/>
                <a:ea typeface="MiSans" pitchFamily="34" charset="-122"/>
                <a:cs typeface="MiSans" pitchFamily="34" charset="-120"/>
              </a:rPr>
              <a:t>当先对</a:t>
            </a:r>
            <a:r>
              <a:rPr lang="en-US" sz="1013" b="1" dirty="0">
                <a:solidFill>
                  <a:srgbClr val="2D2D2D"/>
                </a:solidFill>
                <a:latin typeface="MiSans" pitchFamily="34" charset="0"/>
                <a:ea typeface="MiSans" pitchFamily="34" charset="-122"/>
                <a:cs typeface="MiSans" pitchFamily="34" charset="-120"/>
              </a:rPr>
              <a:t>强预后因素</a:t>
            </a:r>
            <a:r>
              <a:rPr lang="en-US" sz="1013" dirty="0">
                <a:solidFill>
                  <a:srgbClr val="2D2D2D"/>
                </a:solidFill>
                <a:latin typeface="MiSans" pitchFamily="34" charset="0"/>
                <a:ea typeface="MiSans" pitchFamily="34" charset="-122"/>
                <a:cs typeface="MiSans" pitchFamily="34" charset="-120"/>
              </a:rPr>
              <a:t>进行矫正后，再额外纳入</a:t>
            </a:r>
            <a:r>
              <a:rPr lang="en-US" sz="1013" b="1" dirty="0">
                <a:solidFill>
                  <a:srgbClr val="2D2D2D"/>
                </a:solidFill>
                <a:latin typeface="MiSans" pitchFamily="34" charset="0"/>
                <a:ea typeface="MiSans" pitchFamily="34" charset="-122"/>
                <a:cs typeface="MiSans" pitchFamily="34" charset="-120"/>
              </a:rPr>
              <a:t>弱预后因素</a:t>
            </a:r>
            <a:r>
              <a:rPr lang="en-US" sz="1013" dirty="0">
                <a:solidFill>
                  <a:srgbClr val="2D2D2D"/>
                </a:solidFill>
                <a:latin typeface="MiSans" pitchFamily="34" charset="0"/>
                <a:ea typeface="MiSans" pitchFamily="34" charset="-122"/>
                <a:cs typeface="MiSans" pitchFamily="34" charset="-120"/>
              </a:rPr>
              <a:t>进行分层，检验效能不会提升，甚至可能下降。</a:t>
            </a:r>
            <a:endParaRPr lang="en-US" sz="1013" dirty="0"/>
          </a:p>
          <a:p>
            <a:pPr>
              <a:lnSpc>
                <a:spcPct val="150000"/>
              </a:lnSpc>
              <a:spcBef>
                <a:spcPts val="563"/>
              </a:spcBef>
            </a:pPr>
            <a:r>
              <a:rPr lang="en-US" sz="1013" dirty="0" err="1">
                <a:solidFill>
                  <a:srgbClr val="2D2D2D"/>
                </a:solidFill>
                <a:latin typeface="MiSans" pitchFamily="34" charset="0"/>
                <a:ea typeface="MiSans" pitchFamily="34" charset="-122"/>
                <a:cs typeface="MiSans" pitchFamily="34" charset="-120"/>
              </a:rPr>
              <a:t>弱效应因素带来的分层增益无法抵消其消耗的</a:t>
            </a:r>
            <a:r>
              <a:rPr lang="en-US" sz="1013" b="1" dirty="0" err="1">
                <a:solidFill>
                  <a:srgbClr val="2D2D2D"/>
                </a:solidFill>
                <a:latin typeface="MiSans" pitchFamily="34" charset="0"/>
                <a:ea typeface="MiSans" pitchFamily="34" charset="-122"/>
                <a:cs typeface="MiSans" pitchFamily="34" charset="-120"/>
              </a:rPr>
              <a:t>自由度</a:t>
            </a:r>
            <a:r>
              <a:rPr lang="en-US" sz="1013" dirty="0" err="1">
                <a:solidFill>
                  <a:srgbClr val="2D2D2D"/>
                </a:solidFill>
                <a:latin typeface="MiSans" pitchFamily="34" charset="0"/>
                <a:ea typeface="MiSans" pitchFamily="34" charset="-122"/>
                <a:cs typeface="MiSans" pitchFamily="34" charset="-120"/>
              </a:rPr>
              <a:t>和层内样本量</a:t>
            </a:r>
            <a:r>
              <a:rPr lang="en-US" sz="1013" dirty="0">
                <a:solidFill>
                  <a:srgbClr val="2D2D2D"/>
                </a:solidFill>
                <a:latin typeface="MiSans" pitchFamily="34" charset="0"/>
                <a:ea typeface="MiSans" pitchFamily="34" charset="-122"/>
                <a:cs typeface="MiSans" pitchFamily="34" charset="-120"/>
              </a:rPr>
              <a:t>/</a:t>
            </a:r>
            <a:r>
              <a:rPr lang="zh-CN" altLang="en-US" sz="1013" dirty="0">
                <a:solidFill>
                  <a:srgbClr val="2D2D2D"/>
                </a:solidFill>
                <a:latin typeface="MiSans" pitchFamily="34" charset="0"/>
                <a:ea typeface="MiSans" pitchFamily="34" charset="-122"/>
                <a:cs typeface="MiSans" pitchFamily="34" charset="-120"/>
              </a:rPr>
              <a:t>事件数</a:t>
            </a:r>
            <a:r>
              <a:rPr lang="en-US" sz="1013" dirty="0" err="1">
                <a:solidFill>
                  <a:srgbClr val="2D2D2D"/>
                </a:solidFill>
                <a:latin typeface="MiSans" pitchFamily="34" charset="0"/>
                <a:ea typeface="MiSans" pitchFamily="34" charset="-122"/>
                <a:cs typeface="MiSans" pitchFamily="34" charset="-120"/>
              </a:rPr>
              <a:t>缩减的代价</a:t>
            </a:r>
            <a:r>
              <a:rPr lang="en-US" sz="1013" dirty="0">
                <a:solidFill>
                  <a:srgbClr val="2D2D2D"/>
                </a:solidFill>
                <a:latin typeface="MiSans" pitchFamily="34" charset="0"/>
                <a:ea typeface="MiSans" pitchFamily="34" charset="-122"/>
                <a:cs typeface="MiSans" pitchFamily="34" charset="-120"/>
              </a:rPr>
              <a:t>。</a:t>
            </a:r>
            <a:endParaRPr lang="en-US" sz="1013" dirty="0"/>
          </a:p>
        </p:txBody>
      </p:sp>
      <p:sp>
        <p:nvSpPr>
          <p:cNvPr id="10" name="Shape 8"/>
          <p:cNvSpPr/>
          <p:nvPr/>
        </p:nvSpPr>
        <p:spPr>
          <a:xfrm>
            <a:off x="3250406" y="821531"/>
            <a:ext cx="2643188" cy="2178844"/>
          </a:xfrm>
          <a:prstGeom prst="roundRect">
            <a:avLst>
              <a:gd name="adj" fmla="val 3000"/>
            </a:avLst>
          </a:prstGeom>
          <a:solidFill>
            <a:srgbClr val="F5F0EE"/>
          </a:solidFill>
          <a:ln/>
        </p:spPr>
        <p:txBody>
          <a:bodyPr/>
          <a:lstStyle/>
          <a:p>
            <a:endParaRPr lang="en-US"/>
          </a:p>
        </p:txBody>
      </p:sp>
      <p:sp>
        <p:nvSpPr>
          <p:cNvPr id="11" name="Shape 9"/>
          <p:cNvSpPr/>
          <p:nvPr/>
        </p:nvSpPr>
        <p:spPr>
          <a:xfrm>
            <a:off x="3250406" y="821531"/>
            <a:ext cx="35719" cy="2178844"/>
          </a:xfrm>
          <a:prstGeom prst="rect">
            <a:avLst/>
          </a:prstGeom>
          <a:solidFill>
            <a:srgbClr val="9B3D3D"/>
          </a:solidFill>
          <a:ln/>
        </p:spPr>
        <p:txBody>
          <a:bodyPr/>
          <a:lstStyle/>
          <a:p>
            <a:endParaRPr lang="en-US"/>
          </a:p>
        </p:txBody>
      </p:sp>
      <p:sp>
        <p:nvSpPr>
          <p:cNvPr id="12" name="Shape 10"/>
          <p:cNvSpPr/>
          <p:nvPr/>
        </p:nvSpPr>
        <p:spPr>
          <a:xfrm>
            <a:off x="3378994" y="928687"/>
            <a:ext cx="271463" cy="271463"/>
          </a:xfrm>
          <a:prstGeom prst="ellipse">
            <a:avLst/>
          </a:prstGeom>
          <a:solidFill>
            <a:srgbClr val="9B3D3D"/>
          </a:solidFill>
          <a:ln/>
        </p:spPr>
        <p:txBody>
          <a:bodyPr/>
          <a:lstStyle/>
          <a:p>
            <a:endParaRPr lang="en-US"/>
          </a:p>
        </p:txBody>
      </p:sp>
      <p:sp>
        <p:nvSpPr>
          <p:cNvPr id="13" name="Text 11"/>
          <p:cNvSpPr/>
          <p:nvPr/>
        </p:nvSpPr>
        <p:spPr>
          <a:xfrm>
            <a:off x="3378994" y="928687"/>
            <a:ext cx="271463" cy="271463"/>
          </a:xfrm>
          <a:prstGeom prst="rect">
            <a:avLst/>
          </a:prstGeom>
          <a:noFill/>
          <a:ln/>
        </p:spPr>
        <p:txBody>
          <a:bodyPr wrap="none" lIns="0" tIns="0" rIns="0" bIns="0" rtlCol="0" anchor="ctr"/>
          <a:lstStyle/>
          <a:p>
            <a:pPr algn="ctr">
              <a:lnSpc>
                <a:spcPct val="120000"/>
              </a:lnSpc>
            </a:pPr>
            <a:r>
              <a:rPr lang="en-US" sz="788" dirty="0">
                <a:solidFill>
                  <a:srgbClr val="FFFFFF"/>
                </a:solidFill>
                <a:latin typeface="MiSans" pitchFamily="34" charset="0"/>
                <a:ea typeface="MiSans" pitchFamily="34" charset="-122"/>
                <a:cs typeface="MiSans" pitchFamily="34" charset="-120"/>
              </a:rPr>
              <a:t>02</a:t>
            </a:r>
            <a:endParaRPr lang="en-US" sz="788" dirty="0"/>
          </a:p>
        </p:txBody>
      </p:sp>
      <p:sp>
        <p:nvSpPr>
          <p:cNvPr id="14" name="Text 12"/>
          <p:cNvSpPr/>
          <p:nvPr/>
        </p:nvSpPr>
        <p:spPr>
          <a:xfrm>
            <a:off x="3707606" y="942975"/>
            <a:ext cx="2043113" cy="242888"/>
          </a:xfrm>
          <a:prstGeom prst="rect">
            <a:avLst/>
          </a:prstGeom>
          <a:noFill/>
          <a:ln/>
        </p:spPr>
        <p:txBody>
          <a:bodyPr wrap="none" lIns="0" tIns="0" rIns="0" bIns="0" rtlCol="0" anchor="ctr"/>
          <a:lstStyle/>
          <a:p>
            <a:pPr>
              <a:lnSpc>
                <a:spcPct val="140000"/>
              </a:lnSpc>
            </a:pPr>
            <a:r>
              <a:rPr lang="en-US" sz="1125" b="1" dirty="0">
                <a:solidFill>
                  <a:srgbClr val="2D2D2D"/>
                </a:solidFill>
                <a:latin typeface="MiSans" pitchFamily="34" charset="0"/>
                <a:ea typeface="MiSans" pitchFamily="34" charset="-122"/>
                <a:cs typeface="MiSans" pitchFamily="34" charset="-120"/>
              </a:rPr>
              <a:t>分层边际效能递减</a:t>
            </a:r>
            <a:endParaRPr lang="en-US" sz="1125" dirty="0"/>
          </a:p>
        </p:txBody>
      </p:sp>
      <p:sp>
        <p:nvSpPr>
          <p:cNvPr id="15" name="Text 13"/>
          <p:cNvSpPr/>
          <p:nvPr/>
        </p:nvSpPr>
        <p:spPr>
          <a:xfrm>
            <a:off x="3393281" y="1285875"/>
            <a:ext cx="2357438" cy="1571625"/>
          </a:xfrm>
          <a:prstGeom prst="rect">
            <a:avLst/>
          </a:prstGeom>
          <a:noFill/>
          <a:ln/>
        </p:spPr>
        <p:txBody>
          <a:bodyPr wrap="square" lIns="0" tIns="0" rIns="0" bIns="0" rtlCol="0" anchor="t"/>
          <a:lstStyle/>
          <a:p>
            <a:pPr>
              <a:lnSpc>
                <a:spcPct val="150000"/>
              </a:lnSpc>
            </a:pPr>
            <a:r>
              <a:rPr lang="en-US" sz="1013" dirty="0">
                <a:solidFill>
                  <a:srgbClr val="2D2D2D"/>
                </a:solidFill>
                <a:latin typeface="MiSans" pitchFamily="34" charset="0"/>
                <a:ea typeface="MiSans" pitchFamily="34" charset="-122"/>
                <a:cs typeface="MiSans" pitchFamily="34" charset="-120"/>
              </a:rPr>
              <a:t>若所有分层因素均为</a:t>
            </a:r>
            <a:r>
              <a:rPr lang="en-US" sz="1013" b="1" dirty="0">
                <a:solidFill>
                  <a:srgbClr val="2D2D2D"/>
                </a:solidFill>
                <a:latin typeface="MiSans" pitchFamily="34" charset="0"/>
                <a:ea typeface="MiSans" pitchFamily="34" charset="-122"/>
                <a:cs typeface="MiSans" pitchFamily="34" charset="-120"/>
              </a:rPr>
              <a:t>强预后因素</a:t>
            </a:r>
            <a:r>
              <a:rPr lang="en-US" sz="1013" dirty="0">
                <a:solidFill>
                  <a:srgbClr val="2D2D2D"/>
                </a:solidFill>
                <a:latin typeface="MiSans" pitchFamily="34" charset="0"/>
                <a:ea typeface="MiSans" pitchFamily="34" charset="-122"/>
                <a:cs typeface="MiSans" pitchFamily="34" charset="-120"/>
              </a:rPr>
              <a:t>，每增加一个分层因素均能提高 power，但提高幅度逐次缩小。</a:t>
            </a:r>
            <a:endParaRPr lang="en-US" sz="1013" dirty="0"/>
          </a:p>
          <a:p>
            <a:pPr>
              <a:lnSpc>
                <a:spcPct val="150000"/>
              </a:lnSpc>
              <a:spcBef>
                <a:spcPts val="563"/>
              </a:spcBef>
            </a:pPr>
            <a:r>
              <a:rPr lang="en-US" sz="1013" dirty="0">
                <a:solidFill>
                  <a:srgbClr val="2D2D2D"/>
                </a:solidFill>
                <a:latin typeface="MiSans" pitchFamily="34" charset="0"/>
                <a:ea typeface="MiSans" pitchFamily="34" charset="-122"/>
                <a:cs typeface="MiSans" pitchFamily="34" charset="-120"/>
              </a:rPr>
              <a:t>从第4个到第5个因素的增益已微乎其微，存在明显的</a:t>
            </a:r>
            <a:r>
              <a:rPr lang="en-US" sz="1013" b="1" dirty="0">
                <a:solidFill>
                  <a:srgbClr val="2D2D2D"/>
                </a:solidFill>
                <a:latin typeface="MiSans" pitchFamily="34" charset="0"/>
                <a:ea typeface="MiSans" pitchFamily="34" charset="-122"/>
                <a:cs typeface="MiSans" pitchFamily="34" charset="-120"/>
              </a:rPr>
              <a:t>"分层边际效能递减"</a:t>
            </a:r>
            <a:r>
              <a:rPr lang="en-US" sz="1013" dirty="0">
                <a:solidFill>
                  <a:srgbClr val="2D2D2D"/>
                </a:solidFill>
                <a:latin typeface="MiSans" pitchFamily="34" charset="0"/>
                <a:ea typeface="MiSans" pitchFamily="34" charset="-122"/>
                <a:cs typeface="MiSans" pitchFamily="34" charset="-120"/>
              </a:rPr>
              <a:t>现象。</a:t>
            </a:r>
            <a:endParaRPr lang="en-US" sz="1013" dirty="0"/>
          </a:p>
        </p:txBody>
      </p:sp>
      <p:sp>
        <p:nvSpPr>
          <p:cNvPr id="16" name="Shape 14"/>
          <p:cNvSpPr/>
          <p:nvPr/>
        </p:nvSpPr>
        <p:spPr>
          <a:xfrm>
            <a:off x="6072187" y="821531"/>
            <a:ext cx="2643188" cy="2178844"/>
          </a:xfrm>
          <a:prstGeom prst="roundRect">
            <a:avLst>
              <a:gd name="adj" fmla="val 3000"/>
            </a:avLst>
          </a:prstGeom>
          <a:solidFill>
            <a:srgbClr val="F5F0EE"/>
          </a:solidFill>
          <a:ln/>
        </p:spPr>
        <p:txBody>
          <a:bodyPr/>
          <a:lstStyle/>
          <a:p>
            <a:endParaRPr lang="en-US"/>
          </a:p>
        </p:txBody>
      </p:sp>
      <p:sp>
        <p:nvSpPr>
          <p:cNvPr id="17" name="Shape 15"/>
          <p:cNvSpPr/>
          <p:nvPr/>
        </p:nvSpPr>
        <p:spPr>
          <a:xfrm>
            <a:off x="6072187" y="821531"/>
            <a:ext cx="35719" cy="2178844"/>
          </a:xfrm>
          <a:prstGeom prst="rect">
            <a:avLst/>
          </a:prstGeom>
          <a:solidFill>
            <a:srgbClr val="9B3D3D"/>
          </a:solidFill>
          <a:ln/>
        </p:spPr>
        <p:txBody>
          <a:bodyPr/>
          <a:lstStyle/>
          <a:p>
            <a:endParaRPr lang="en-US"/>
          </a:p>
        </p:txBody>
      </p:sp>
      <p:sp>
        <p:nvSpPr>
          <p:cNvPr id="18" name="Shape 16"/>
          <p:cNvSpPr/>
          <p:nvPr/>
        </p:nvSpPr>
        <p:spPr>
          <a:xfrm>
            <a:off x="6200775" y="928687"/>
            <a:ext cx="271463" cy="271463"/>
          </a:xfrm>
          <a:prstGeom prst="ellipse">
            <a:avLst/>
          </a:prstGeom>
          <a:solidFill>
            <a:srgbClr val="9B3D3D"/>
          </a:solidFill>
          <a:ln/>
        </p:spPr>
        <p:txBody>
          <a:bodyPr/>
          <a:lstStyle/>
          <a:p>
            <a:endParaRPr lang="en-US"/>
          </a:p>
        </p:txBody>
      </p:sp>
      <p:sp>
        <p:nvSpPr>
          <p:cNvPr id="19" name="Text 17"/>
          <p:cNvSpPr/>
          <p:nvPr/>
        </p:nvSpPr>
        <p:spPr>
          <a:xfrm>
            <a:off x="6200775" y="928687"/>
            <a:ext cx="271463" cy="271463"/>
          </a:xfrm>
          <a:prstGeom prst="rect">
            <a:avLst/>
          </a:prstGeom>
          <a:noFill/>
          <a:ln/>
        </p:spPr>
        <p:txBody>
          <a:bodyPr wrap="none" lIns="0" tIns="0" rIns="0" bIns="0" rtlCol="0" anchor="ctr"/>
          <a:lstStyle/>
          <a:p>
            <a:pPr algn="ctr">
              <a:lnSpc>
                <a:spcPct val="120000"/>
              </a:lnSpc>
            </a:pPr>
            <a:r>
              <a:rPr lang="en-US" sz="788" dirty="0">
                <a:solidFill>
                  <a:srgbClr val="FFFFFF"/>
                </a:solidFill>
                <a:latin typeface="MiSans" pitchFamily="34" charset="0"/>
                <a:ea typeface="MiSans" pitchFamily="34" charset="-122"/>
                <a:cs typeface="MiSans" pitchFamily="34" charset="-120"/>
              </a:rPr>
              <a:t>03</a:t>
            </a:r>
            <a:endParaRPr lang="en-US" sz="788" dirty="0"/>
          </a:p>
        </p:txBody>
      </p:sp>
      <p:sp>
        <p:nvSpPr>
          <p:cNvPr id="20" name="Text 18"/>
          <p:cNvSpPr/>
          <p:nvPr/>
        </p:nvSpPr>
        <p:spPr>
          <a:xfrm>
            <a:off x="6529387" y="942975"/>
            <a:ext cx="2043113" cy="242888"/>
          </a:xfrm>
          <a:prstGeom prst="rect">
            <a:avLst/>
          </a:prstGeom>
          <a:noFill/>
          <a:ln/>
        </p:spPr>
        <p:txBody>
          <a:bodyPr wrap="none" lIns="0" tIns="0" rIns="0" bIns="0" rtlCol="0" anchor="ctr"/>
          <a:lstStyle/>
          <a:p>
            <a:pPr>
              <a:lnSpc>
                <a:spcPct val="140000"/>
              </a:lnSpc>
            </a:pPr>
            <a:r>
              <a:rPr lang="en-US" sz="1125" b="1" dirty="0">
                <a:solidFill>
                  <a:srgbClr val="2D2D2D"/>
                </a:solidFill>
                <a:latin typeface="微软雅黑" panose="020B0503020204020204" pitchFamily="34" charset="-122"/>
                <a:ea typeface="微软雅黑" panose="020B0503020204020204" pitchFamily="34" charset="-122"/>
                <a:cs typeface="MiSans" pitchFamily="34" charset="-120"/>
              </a:rPr>
              <a:t>存在最优分层个数拐点</a:t>
            </a:r>
            <a:endParaRPr lang="en-US" sz="1125" dirty="0">
              <a:latin typeface="微软雅黑" panose="020B0503020204020204" pitchFamily="34" charset="-122"/>
              <a:ea typeface="微软雅黑" panose="020B0503020204020204" pitchFamily="34" charset="-122"/>
            </a:endParaRPr>
          </a:p>
        </p:txBody>
      </p:sp>
      <p:sp>
        <p:nvSpPr>
          <p:cNvPr id="21" name="Text 19"/>
          <p:cNvSpPr/>
          <p:nvPr/>
        </p:nvSpPr>
        <p:spPr>
          <a:xfrm>
            <a:off x="6215062" y="1285875"/>
            <a:ext cx="2357438" cy="1714500"/>
          </a:xfrm>
          <a:prstGeom prst="rect">
            <a:avLst/>
          </a:prstGeom>
          <a:noFill/>
          <a:ln/>
        </p:spPr>
        <p:txBody>
          <a:bodyPr wrap="square" lIns="0" tIns="0" rIns="0" bIns="0" rtlCol="0" anchor="t"/>
          <a:lstStyle/>
          <a:p>
            <a:pPr>
              <a:lnSpc>
                <a:spcPct val="150000"/>
              </a:lnSpc>
            </a:pPr>
            <a:r>
              <a:rPr lang="en-US" sz="1013" dirty="0">
                <a:solidFill>
                  <a:srgbClr val="2D2D2D"/>
                </a:solidFill>
                <a:latin typeface="微软雅黑" panose="020B0503020204020204" pitchFamily="34" charset="-122"/>
                <a:ea typeface="微软雅黑" panose="020B0503020204020204" pitchFamily="34" charset="-122"/>
                <a:cs typeface="MiSans" pitchFamily="34" charset="-120"/>
              </a:rPr>
              <a:t>当因素效应强度由弱至强（0.5→0.9），前三个因素分层后 power 显著提升。</a:t>
            </a:r>
            <a:endParaRPr lang="en-US" sz="1013" dirty="0">
              <a:latin typeface="微软雅黑" panose="020B0503020204020204" pitchFamily="34" charset="-122"/>
              <a:ea typeface="微软雅黑" panose="020B0503020204020204" pitchFamily="34" charset="-122"/>
            </a:endParaRPr>
          </a:p>
          <a:p>
            <a:pPr>
              <a:lnSpc>
                <a:spcPct val="150000"/>
              </a:lnSpc>
              <a:spcBef>
                <a:spcPts val="450"/>
              </a:spcBef>
            </a:pPr>
            <a:r>
              <a:rPr lang="en-US" sz="1013" dirty="0">
                <a:solidFill>
                  <a:srgbClr val="2D2D2D"/>
                </a:solidFill>
                <a:latin typeface="微软雅黑" panose="020B0503020204020204" pitchFamily="34" charset="-122"/>
                <a:ea typeface="微软雅黑" panose="020B0503020204020204" pitchFamily="34" charset="-122"/>
                <a:cs typeface="MiSans" pitchFamily="34" charset="-120"/>
              </a:rPr>
              <a:t>增加第四个因素收益已很小；增加第五个因素 power 反而回落。超过</a:t>
            </a:r>
            <a:r>
              <a:rPr lang="en-US" sz="1013" b="1" dirty="0">
                <a:solidFill>
                  <a:srgbClr val="2D2D2D"/>
                </a:solidFill>
                <a:latin typeface="微软雅黑" panose="020B0503020204020204" pitchFamily="34" charset="-122"/>
                <a:ea typeface="微软雅黑" panose="020B0503020204020204" pitchFamily="34" charset="-122"/>
                <a:cs typeface="MiSans" pitchFamily="34" charset="-120"/>
              </a:rPr>
              <a:t>3~4个因素</a:t>
            </a:r>
            <a:r>
              <a:rPr lang="en-US" sz="1013" dirty="0">
                <a:solidFill>
                  <a:srgbClr val="2D2D2D"/>
                </a:solidFill>
                <a:latin typeface="微软雅黑" panose="020B0503020204020204" pitchFamily="34" charset="-122"/>
                <a:ea typeface="微软雅黑" panose="020B0503020204020204" pitchFamily="34" charset="-122"/>
                <a:cs typeface="MiSans" pitchFamily="34" charset="-120"/>
              </a:rPr>
              <a:t>后，继续分层不仅无益，甚至导致估计不稳定。</a:t>
            </a:r>
            <a:endParaRPr lang="en-US" sz="1013" dirty="0">
              <a:latin typeface="微软雅黑" panose="020B0503020204020204" pitchFamily="34" charset="-122"/>
              <a:ea typeface="微软雅黑" panose="020B0503020204020204" pitchFamily="34" charset="-122"/>
            </a:endParaRPr>
          </a:p>
        </p:txBody>
      </p:sp>
      <p:sp>
        <p:nvSpPr>
          <p:cNvPr id="22" name="Shape 20"/>
          <p:cNvSpPr/>
          <p:nvPr/>
        </p:nvSpPr>
        <p:spPr>
          <a:xfrm>
            <a:off x="458787" y="3286125"/>
            <a:ext cx="8226425" cy="1066801"/>
          </a:xfrm>
          <a:prstGeom prst="roundRect">
            <a:avLst>
              <a:gd name="adj" fmla="val 2500"/>
            </a:avLst>
          </a:prstGeom>
          <a:solidFill>
            <a:srgbClr val="9B3D3D"/>
          </a:solidFill>
          <a:ln/>
        </p:spPr>
        <p:txBody>
          <a:bodyPr/>
          <a:lstStyle/>
          <a:p>
            <a:endParaRPr lang="en-US"/>
          </a:p>
        </p:txBody>
      </p:sp>
      <p:sp>
        <p:nvSpPr>
          <p:cNvPr id="23" name="Shape 21"/>
          <p:cNvSpPr/>
          <p:nvPr/>
        </p:nvSpPr>
        <p:spPr>
          <a:xfrm>
            <a:off x="669727" y="3357562"/>
            <a:ext cx="160734" cy="214313"/>
          </a:xfrm>
          <a:custGeom>
            <a:avLst/>
            <a:gdLst/>
            <a:ahLst/>
            <a:cxnLst/>
            <a:rect l="l" t="t" r="r" b="b"/>
            <a:pathLst>
              <a:path w="285750" h="381000">
                <a:moveTo>
                  <a:pt x="217959" y="285750"/>
                </a:moveTo>
                <a:cubicBezTo>
                  <a:pt x="223391" y="269156"/>
                  <a:pt x="234255" y="254124"/>
                  <a:pt x="246534" y="241176"/>
                </a:cubicBezTo>
                <a:cubicBezTo>
                  <a:pt x="270867" y="215578"/>
                  <a:pt x="285750" y="180975"/>
                  <a:pt x="285750" y="142875"/>
                </a:cubicBezTo>
                <a:cubicBezTo>
                  <a:pt x="285750" y="63996"/>
                  <a:pt x="221754" y="0"/>
                  <a:pt x="142875" y="0"/>
                </a:cubicBezTo>
                <a:cubicBezTo>
                  <a:pt x="63996" y="0"/>
                  <a:pt x="0" y="63996"/>
                  <a:pt x="0" y="142875"/>
                </a:cubicBezTo>
                <a:cubicBezTo>
                  <a:pt x="0" y="180975"/>
                  <a:pt x="14883" y="215578"/>
                  <a:pt x="39216" y="241176"/>
                </a:cubicBezTo>
                <a:cubicBezTo>
                  <a:pt x="51495" y="254124"/>
                  <a:pt x="62433" y="269156"/>
                  <a:pt x="67791" y="285750"/>
                </a:cubicBezTo>
                <a:lnTo>
                  <a:pt x="217884" y="285750"/>
                </a:lnTo>
                <a:close/>
                <a:moveTo>
                  <a:pt x="214313" y="321469"/>
                </a:moveTo>
                <a:lnTo>
                  <a:pt x="71438" y="321469"/>
                </a:lnTo>
                <a:lnTo>
                  <a:pt x="71438" y="333375"/>
                </a:lnTo>
                <a:cubicBezTo>
                  <a:pt x="71438" y="366266"/>
                  <a:pt x="98078" y="392906"/>
                  <a:pt x="130969" y="392906"/>
                </a:cubicBezTo>
                <a:lnTo>
                  <a:pt x="154781" y="392906"/>
                </a:lnTo>
                <a:cubicBezTo>
                  <a:pt x="187672" y="392906"/>
                  <a:pt x="214313" y="366266"/>
                  <a:pt x="214313" y="333375"/>
                </a:cubicBezTo>
                <a:lnTo>
                  <a:pt x="214313" y="321469"/>
                </a:lnTo>
                <a:close/>
                <a:moveTo>
                  <a:pt x="136922" y="83344"/>
                </a:moveTo>
                <a:cubicBezTo>
                  <a:pt x="107305" y="83344"/>
                  <a:pt x="83344" y="107305"/>
                  <a:pt x="83344" y="136922"/>
                </a:cubicBezTo>
                <a:cubicBezTo>
                  <a:pt x="83344" y="146819"/>
                  <a:pt x="75381" y="154781"/>
                  <a:pt x="65484" y="154781"/>
                </a:cubicBezTo>
                <a:cubicBezTo>
                  <a:pt x="55587" y="154781"/>
                  <a:pt x="47625" y="146819"/>
                  <a:pt x="47625" y="136922"/>
                </a:cubicBezTo>
                <a:cubicBezTo>
                  <a:pt x="47625" y="87585"/>
                  <a:pt x="87585" y="47625"/>
                  <a:pt x="136922" y="47625"/>
                </a:cubicBezTo>
                <a:cubicBezTo>
                  <a:pt x="146819" y="47625"/>
                  <a:pt x="154781" y="55587"/>
                  <a:pt x="154781" y="65484"/>
                </a:cubicBezTo>
                <a:cubicBezTo>
                  <a:pt x="154781" y="75381"/>
                  <a:pt x="146819" y="83344"/>
                  <a:pt x="136922" y="83344"/>
                </a:cubicBezTo>
                <a:close/>
              </a:path>
            </a:pathLst>
          </a:custGeom>
          <a:solidFill>
            <a:srgbClr val="FFFFFF"/>
          </a:solidFill>
          <a:ln/>
        </p:spPr>
        <p:txBody>
          <a:bodyPr/>
          <a:lstStyle/>
          <a:p>
            <a:endParaRPr lang="en-US"/>
          </a:p>
        </p:txBody>
      </p:sp>
      <p:sp>
        <p:nvSpPr>
          <p:cNvPr id="24" name="Text 22"/>
          <p:cNvSpPr/>
          <p:nvPr/>
        </p:nvSpPr>
        <p:spPr>
          <a:xfrm>
            <a:off x="928688" y="3343275"/>
            <a:ext cx="1428750" cy="242888"/>
          </a:xfrm>
          <a:prstGeom prst="rect">
            <a:avLst/>
          </a:prstGeom>
          <a:noFill/>
          <a:ln/>
        </p:spPr>
        <p:txBody>
          <a:bodyPr wrap="none" lIns="0" tIns="0" rIns="0" bIns="0" rtlCol="0" anchor="ctr"/>
          <a:lstStyle/>
          <a:p>
            <a:pPr>
              <a:lnSpc>
                <a:spcPct val="100000"/>
              </a:lnSpc>
            </a:pPr>
            <a:r>
              <a:rPr lang="en-US" sz="1125" b="1" dirty="0">
                <a:solidFill>
                  <a:srgbClr val="FFFFFF"/>
                </a:solidFill>
                <a:latin typeface="MiSans" pitchFamily="34" charset="0"/>
                <a:ea typeface="MiSans" pitchFamily="34" charset="-122"/>
                <a:cs typeface="MiSans" pitchFamily="34" charset="-120"/>
              </a:rPr>
              <a:t>最终建议</a:t>
            </a:r>
            <a:endParaRPr lang="en-US" sz="900" dirty="0"/>
          </a:p>
        </p:txBody>
      </p:sp>
      <p:sp>
        <p:nvSpPr>
          <p:cNvPr id="25" name="Text 23"/>
          <p:cNvSpPr/>
          <p:nvPr/>
        </p:nvSpPr>
        <p:spPr>
          <a:xfrm>
            <a:off x="642938" y="3679031"/>
            <a:ext cx="7858125" cy="1035844"/>
          </a:xfrm>
          <a:prstGeom prst="rect">
            <a:avLst/>
          </a:prstGeom>
          <a:noFill/>
          <a:ln/>
        </p:spPr>
        <p:txBody>
          <a:bodyPr wrap="square" lIns="0" tIns="0" rIns="0" bIns="0" rtlCol="0" anchor="t"/>
          <a:lstStyle/>
          <a:p>
            <a:pPr>
              <a:lnSpc>
                <a:spcPct val="160000"/>
              </a:lnSpc>
            </a:pPr>
            <a:r>
              <a:rPr lang="en-US" sz="1013" dirty="0">
                <a:solidFill>
                  <a:srgbClr val="FFFFFF"/>
                </a:solidFill>
                <a:latin typeface="微软雅黑" panose="020B0503020204020204" pitchFamily="34" charset="-122"/>
                <a:ea typeface="微软雅黑" panose="020B0503020204020204" pitchFamily="34" charset="-122"/>
                <a:cs typeface="MiSans" pitchFamily="34" charset="-120"/>
              </a:rPr>
              <a:t>在预后因素分层随机模拟或实际临床试验设计中，</a:t>
            </a:r>
            <a:r>
              <a:rPr lang="en-US" sz="1013" b="1" dirty="0">
                <a:solidFill>
                  <a:srgbClr val="FFFFFF"/>
                </a:solidFill>
                <a:latin typeface="微软雅黑" panose="020B0503020204020204" pitchFamily="34" charset="-122"/>
                <a:ea typeface="微软雅黑" panose="020B0503020204020204" pitchFamily="34" charset="-122"/>
                <a:cs typeface="MiSans" pitchFamily="34" charset="-120"/>
              </a:rPr>
              <a:t>不宜一味追求纳入更多分层因素</a:t>
            </a:r>
            <a:r>
              <a:rPr lang="en-US" sz="1013" dirty="0">
                <a:solidFill>
                  <a:srgbClr val="FFFFFF"/>
                </a:solidFill>
                <a:latin typeface="微软雅黑" panose="020B0503020204020204" pitchFamily="34" charset="-122"/>
                <a:ea typeface="微软雅黑" panose="020B0503020204020204" pitchFamily="34" charset="-122"/>
                <a:cs typeface="MiSans" pitchFamily="34" charset="-120"/>
              </a:rPr>
              <a:t>。应优先选择效应最强的</a:t>
            </a:r>
            <a:r>
              <a:rPr lang="en-US" sz="1013" b="1" dirty="0">
                <a:solidFill>
                  <a:srgbClr val="FFFFFF"/>
                </a:solidFill>
                <a:latin typeface="微软雅黑" panose="020B0503020204020204" pitchFamily="34" charset="-122"/>
                <a:ea typeface="微软雅黑" panose="020B0503020204020204" pitchFamily="34" charset="-122"/>
                <a:cs typeface="MiSans" pitchFamily="34" charset="-120"/>
              </a:rPr>
              <a:t>1~3个核心预后因素</a:t>
            </a:r>
            <a:r>
              <a:rPr lang="en-US" sz="1013" dirty="0">
                <a:solidFill>
                  <a:srgbClr val="FFFFFF"/>
                </a:solidFill>
                <a:latin typeface="微软雅黑" panose="020B0503020204020204" pitchFamily="34" charset="-122"/>
                <a:ea typeface="微软雅黑" panose="020B0503020204020204" pitchFamily="34" charset="-122"/>
                <a:cs typeface="MiSans" pitchFamily="34" charset="-120"/>
              </a:rPr>
              <a:t>进行分层，之后若仍有均衡需求，可考虑采用</a:t>
            </a:r>
            <a:r>
              <a:rPr lang="en-US" sz="1013" b="1" dirty="0">
                <a:solidFill>
                  <a:srgbClr val="FFFFFF"/>
                </a:solidFill>
                <a:latin typeface="微软雅黑" panose="020B0503020204020204" pitchFamily="34" charset="-122"/>
                <a:ea typeface="微软雅黑" panose="020B0503020204020204" pitchFamily="34" charset="-122"/>
                <a:cs typeface="MiSans" pitchFamily="34" charset="-120"/>
              </a:rPr>
              <a:t>协变量调整</a:t>
            </a:r>
            <a:r>
              <a:rPr lang="en-US" sz="1013" dirty="0">
                <a:solidFill>
                  <a:srgbClr val="FFFFFF"/>
                </a:solidFill>
                <a:latin typeface="微软雅黑" panose="020B0503020204020204" pitchFamily="34" charset="-122"/>
                <a:ea typeface="微软雅黑" panose="020B0503020204020204" pitchFamily="34" charset="-122"/>
                <a:cs typeface="MiSans" pitchFamily="34" charset="-120"/>
              </a:rPr>
              <a:t>等方法，而非继续增加分层维度。</a:t>
            </a:r>
            <a:endParaRPr lang="en-US" sz="900" dirty="0">
              <a:latin typeface="微软雅黑" panose="020B0503020204020204" pitchFamily="34" charset="-122"/>
              <a:ea typeface="微软雅黑" panose="020B0503020204020204" pitchFamily="34" charset="-122"/>
            </a:endParaRPr>
          </a:p>
        </p:txBody>
      </p:sp>
      <p:sp>
        <p:nvSpPr>
          <p:cNvPr id="26" name="TextBox 25">
            <a:extLst>
              <a:ext uri="{FF2B5EF4-FFF2-40B4-BE49-F238E27FC236}">
                <a16:creationId xmlns:a16="http://schemas.microsoft.com/office/drawing/2014/main" id="{92E5F338-3B1D-6994-3BD3-550450FDC3E9}"/>
              </a:ext>
            </a:extLst>
          </p:cNvPr>
          <p:cNvSpPr txBox="1"/>
          <p:nvPr/>
        </p:nvSpPr>
        <p:spPr>
          <a:xfrm>
            <a:off x="323850" y="276066"/>
            <a:ext cx="4572000" cy="369332"/>
          </a:xfrm>
          <a:prstGeom prst="rect">
            <a:avLst/>
          </a:prstGeom>
          <a:noFill/>
        </p:spPr>
        <p:txBody>
          <a:bodyPr wrap="square">
            <a:spAutoFit/>
          </a:bodyPr>
          <a:lstStyle/>
          <a:p>
            <a:pPr>
              <a:lnSpc>
                <a:spcPct val="100000"/>
              </a:lnSpc>
            </a:pP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01.3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分层因素选择</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预后效应</a:t>
            </a:r>
            <a:endParaRPr lang="en-US" sz="1800"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90CA-393F-D4C5-0810-B48698B4C20C}"/>
            </a:ext>
          </a:extLst>
        </p:cNvPr>
        <p:cNvGrpSpPr/>
        <p:nvPr/>
      </p:nvGrpSpPr>
      <p:grpSpPr>
        <a:xfrm>
          <a:off x="0" y="0"/>
          <a:ext cx="0" cy="0"/>
          <a:chOff x="0" y="0"/>
          <a:chExt cx="0" cy="0"/>
        </a:xfrm>
      </p:grpSpPr>
      <p:sp>
        <p:nvSpPr>
          <p:cNvPr id="45" name="Rectangle: Rounded Corners 44">
            <a:extLst>
              <a:ext uri="{FF2B5EF4-FFF2-40B4-BE49-F238E27FC236}">
                <a16:creationId xmlns:a16="http://schemas.microsoft.com/office/drawing/2014/main" id="{37A27A47-D09D-0926-9B17-6562BF23E83E}"/>
              </a:ext>
            </a:extLst>
          </p:cNvPr>
          <p:cNvSpPr/>
          <p:nvPr/>
        </p:nvSpPr>
        <p:spPr>
          <a:xfrm>
            <a:off x="315852" y="630295"/>
            <a:ext cx="3062559" cy="576928"/>
          </a:xfrm>
          <a:prstGeom prst="round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 2">
            <a:extLst>
              <a:ext uri="{FF2B5EF4-FFF2-40B4-BE49-F238E27FC236}">
                <a16:creationId xmlns:a16="http://schemas.microsoft.com/office/drawing/2014/main" id="{E730B190-D201-1CD4-5EF0-6B0F50D36C42}"/>
              </a:ext>
            </a:extLst>
          </p:cNvPr>
          <p:cNvSpPr/>
          <p:nvPr/>
        </p:nvSpPr>
        <p:spPr>
          <a:xfrm>
            <a:off x="352543" y="1351348"/>
            <a:ext cx="1989140" cy="218044"/>
          </a:xfrm>
          <a:prstGeom prst="rect">
            <a:avLst/>
          </a:prstGeom>
          <a:noFill/>
          <a:ln/>
        </p:spPr>
        <p:txBody>
          <a:bodyPr wrap="none" lIns="0" tIns="0" rIns="0" bIns="0" rtlCol="0" anchor="ctr"/>
          <a:lstStyle/>
          <a:p>
            <a:pPr>
              <a:lnSpc>
                <a:spcPct val="100000"/>
              </a:lnSpc>
            </a:pPr>
            <a:r>
              <a:rPr lang="zh-CN" alt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模拟参数</a:t>
            </a:r>
            <a:endParaRPr lang="en-US" sz="14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Shape 9">
            <a:extLst>
              <a:ext uri="{FF2B5EF4-FFF2-40B4-BE49-F238E27FC236}">
                <a16:creationId xmlns:a16="http://schemas.microsoft.com/office/drawing/2014/main" id="{7FA68F81-6CB1-73D6-571C-1B740791F55E}"/>
              </a:ext>
            </a:extLst>
          </p:cNvPr>
          <p:cNvSpPr/>
          <p:nvPr/>
        </p:nvSpPr>
        <p:spPr>
          <a:xfrm>
            <a:off x="268445" y="3555771"/>
            <a:ext cx="3235010" cy="1483520"/>
          </a:xfrm>
          <a:prstGeom prst="roundRect">
            <a:avLst>
              <a:gd name="adj" fmla="val 4494"/>
            </a:avLst>
          </a:prstGeom>
          <a:solidFill>
            <a:srgbClr val="FAFAF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Shape 10">
            <a:extLst>
              <a:ext uri="{FF2B5EF4-FFF2-40B4-BE49-F238E27FC236}">
                <a16:creationId xmlns:a16="http://schemas.microsoft.com/office/drawing/2014/main" id="{2CCA46D1-1E02-5D27-3BC4-8505BD389C12}"/>
              </a:ext>
            </a:extLst>
          </p:cNvPr>
          <p:cNvSpPr/>
          <p:nvPr/>
        </p:nvSpPr>
        <p:spPr>
          <a:xfrm>
            <a:off x="342900" y="3599655"/>
            <a:ext cx="45719" cy="1349773"/>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11">
            <a:extLst>
              <a:ext uri="{FF2B5EF4-FFF2-40B4-BE49-F238E27FC236}">
                <a16:creationId xmlns:a16="http://schemas.microsoft.com/office/drawing/2014/main" id="{51490481-40FA-53DC-AD97-3FDC30CF8C2D}"/>
              </a:ext>
            </a:extLst>
          </p:cNvPr>
          <p:cNvSpPr/>
          <p:nvPr/>
        </p:nvSpPr>
        <p:spPr>
          <a:xfrm>
            <a:off x="342900" y="3402896"/>
            <a:ext cx="2286000" cy="142876"/>
          </a:xfrm>
          <a:prstGeom prst="rect">
            <a:avLst/>
          </a:prstGeom>
          <a:noFill/>
          <a:ln/>
        </p:spPr>
        <p:txBody>
          <a:bodyPr wrap="none" lIns="0" tIns="0" rIns="0" bIns="0" rtlCol="0" anchor="ctr"/>
          <a:lstStyle/>
          <a:p>
            <a:pPr>
              <a:lnSpc>
                <a:spcPct val="100000"/>
              </a:lnSpc>
            </a:pPr>
            <a:r>
              <a:rPr lang="en-US" sz="9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1 Binary Prognostic &amp; Predictive Factors</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 name="Group 2">
            <a:extLst>
              <a:ext uri="{FF2B5EF4-FFF2-40B4-BE49-F238E27FC236}">
                <a16:creationId xmlns:a16="http://schemas.microsoft.com/office/drawing/2014/main" id="{09715B50-7A7C-CA91-843C-AAC3F12B9086}"/>
              </a:ext>
            </a:extLst>
          </p:cNvPr>
          <p:cNvGrpSpPr/>
          <p:nvPr/>
        </p:nvGrpSpPr>
        <p:grpSpPr>
          <a:xfrm>
            <a:off x="442913" y="3662823"/>
            <a:ext cx="1573211" cy="186136"/>
            <a:chOff x="2814637" y="2435226"/>
            <a:chExt cx="1371600" cy="250032"/>
          </a:xfrm>
        </p:grpSpPr>
        <p:sp>
          <p:nvSpPr>
            <p:cNvPr id="14" name="Shape 12">
              <a:extLst>
                <a:ext uri="{FF2B5EF4-FFF2-40B4-BE49-F238E27FC236}">
                  <a16:creationId xmlns:a16="http://schemas.microsoft.com/office/drawing/2014/main" id="{1BD601DE-B002-36D5-CE61-393B2D46CA5B}"/>
                </a:ext>
              </a:extLst>
            </p:cNvPr>
            <p:cNvSpPr/>
            <p:nvPr/>
          </p:nvSpPr>
          <p:spPr>
            <a:xfrm>
              <a:off x="2828924" y="2435226"/>
              <a:ext cx="1357313" cy="250032"/>
            </a:xfrm>
            <a:prstGeom prst="roundRect">
              <a:avLst>
                <a:gd name="adj" fmla="val 22223"/>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Text 13">
              <a:extLst>
                <a:ext uri="{FF2B5EF4-FFF2-40B4-BE49-F238E27FC236}">
                  <a16:creationId xmlns:a16="http://schemas.microsoft.com/office/drawing/2014/main" id="{A2517B47-0802-EAB4-66F9-254D90455AA8}"/>
                </a:ext>
              </a:extLst>
            </p:cNvPr>
            <p:cNvSpPr/>
            <p:nvPr/>
          </p:nvSpPr>
          <p:spPr>
            <a:xfrm>
              <a:off x="2814637" y="2492773"/>
              <a:ext cx="1357313" cy="128588"/>
            </a:xfrm>
            <a:prstGeom prst="rect">
              <a:avLst/>
            </a:prstGeom>
            <a:noFill/>
            <a:ln/>
          </p:spPr>
          <p:txBody>
            <a:bodyPr wrap="none" lIns="0" tIns="0" rIns="0" bIns="0" rtlCol="0" anchor="ctr"/>
            <a:lstStyle/>
            <a:p>
              <a:pPr algn="ctr">
                <a:lnSpc>
                  <a:spcPct val="100000"/>
                </a:lnSpc>
              </a:pPr>
              <a:r>
                <a:rPr lang="en-US" sz="8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prognostic × 7  predictive= 35 Groups</a:t>
              </a:r>
              <a:endParaRPr lang="en-US" sz="105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aphicFrame>
        <p:nvGraphicFramePr>
          <p:cNvPr id="16" name="Table 0">
            <a:extLst>
              <a:ext uri="{FF2B5EF4-FFF2-40B4-BE49-F238E27FC236}">
                <a16:creationId xmlns:a16="http://schemas.microsoft.com/office/drawing/2014/main" id="{DE26B902-4D46-ECC6-E14D-4A622BA660E4}"/>
              </a:ext>
            </a:extLst>
          </p:cNvPr>
          <p:cNvGraphicFramePr>
            <a:graphicFrameLocks noGrp="1"/>
          </p:cNvGraphicFramePr>
          <p:nvPr>
            <p:extLst>
              <p:ext uri="{D42A27DB-BD31-4B8C-83A1-F6EECF244321}">
                <p14:modId xmlns:p14="http://schemas.microsoft.com/office/powerpoint/2010/main" val="2490178557"/>
              </p:ext>
            </p:extLst>
          </p:nvPr>
        </p:nvGraphicFramePr>
        <p:xfrm>
          <a:off x="442913" y="3918547"/>
          <a:ext cx="2886075" cy="357188"/>
        </p:xfrm>
        <a:graphic>
          <a:graphicData uri="http://schemas.openxmlformats.org/drawingml/2006/table">
            <a:tbl>
              <a:tblPr/>
              <a:tblGrid>
                <a:gridCol w="852487">
                  <a:extLst>
                    <a:ext uri="{9D8B030D-6E8A-4147-A177-3AD203B41FA5}">
                      <a16:colId xmlns:a16="http://schemas.microsoft.com/office/drawing/2014/main" val="20000"/>
                    </a:ext>
                  </a:extLst>
                </a:gridCol>
                <a:gridCol w="400050">
                  <a:extLst>
                    <a:ext uri="{9D8B030D-6E8A-4147-A177-3AD203B41FA5}">
                      <a16:colId xmlns:a16="http://schemas.microsoft.com/office/drawing/2014/main" val="20001"/>
                    </a:ext>
                  </a:extLst>
                </a:gridCol>
                <a:gridCol w="393700">
                  <a:extLst>
                    <a:ext uri="{9D8B030D-6E8A-4147-A177-3AD203B41FA5}">
                      <a16:colId xmlns:a16="http://schemas.microsoft.com/office/drawing/2014/main" val="20002"/>
                    </a:ext>
                  </a:extLst>
                </a:gridCol>
                <a:gridCol w="43815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369888">
                  <a:extLst>
                    <a:ext uri="{9D8B030D-6E8A-4147-A177-3AD203B41FA5}">
                      <a16:colId xmlns:a16="http://schemas.microsoft.com/office/drawing/2014/main" val="20005"/>
                    </a:ext>
                  </a:extLst>
                </a:gridCol>
              </a:tblGrid>
              <a:tr h="178594">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Scenario</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F1</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F2</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F3</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F4</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F5</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extLst>
                  <a:ext uri="{0D108BD9-81ED-4DB2-BD59-A6C34878D82A}">
                    <a16:rowId xmlns:a16="http://schemas.microsoft.com/office/drawing/2014/main" val="10000"/>
                  </a:ext>
                </a:extLst>
              </a:tr>
              <a:tr h="178594">
                <a:tc>
                  <a:txBody>
                    <a:bodyPr/>
                    <a:lstStyle/>
                    <a:p>
                      <a:pPr algn="ctr"/>
                      <a:r>
                        <a:rPr lang="en-US" sz="8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Prognostic effect</a:t>
                      </a:r>
                      <a:endParaRPr lang="en-US" sz="8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1</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1.25</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1.5</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chemeClr val="tx1"/>
                          </a:solidFill>
                          <a:latin typeface="Times New Roman" panose="02020603050405020304" pitchFamily="18" charset="0"/>
                          <a:ea typeface="QuattrocentoSans" pitchFamily="34" charset="-122"/>
                          <a:cs typeface="Times New Roman" panose="02020603050405020304" pitchFamily="18" charset="0"/>
                        </a:rPr>
                        <a:t>1.75</a:t>
                      </a:r>
                      <a:endParaRPr lang="en-US" sz="900" b="1"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chemeClr val="tx1"/>
                          </a:solidFill>
                          <a:latin typeface="Times New Roman" panose="02020603050405020304" pitchFamily="18" charset="0"/>
                          <a:ea typeface="QuattrocentoSans" pitchFamily="34" charset="-122"/>
                          <a:cs typeface="Times New Roman" panose="02020603050405020304" pitchFamily="18" charset="0"/>
                        </a:rPr>
                        <a:t>2</a:t>
                      </a:r>
                      <a:endParaRPr lang="en-US" sz="900" b="1"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7" name="Text 14">
            <a:extLst>
              <a:ext uri="{FF2B5EF4-FFF2-40B4-BE49-F238E27FC236}">
                <a16:creationId xmlns:a16="http://schemas.microsoft.com/office/drawing/2014/main" id="{E6284597-DF54-0369-0A4D-1B1EFEF9E39B}"/>
              </a:ext>
            </a:extLst>
          </p:cNvPr>
          <p:cNvSpPr/>
          <p:nvPr/>
        </p:nvSpPr>
        <p:spPr>
          <a:xfrm>
            <a:off x="459300" y="4777979"/>
            <a:ext cx="3600450" cy="171450"/>
          </a:xfrm>
          <a:prstGeom prst="rect">
            <a:avLst/>
          </a:prstGeom>
          <a:noFill/>
          <a:ln/>
        </p:spPr>
        <p:txBody>
          <a:bodyPr wrap="square" lIns="0" tIns="0" rIns="0" bIns="0" rtlCol="0" anchor="ctr"/>
          <a:lstStyle/>
          <a:p>
            <a:pPr>
              <a:lnSpc>
                <a:spcPct val="190000"/>
              </a:lnSpc>
            </a:pPr>
            <a:r>
              <a:rPr 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Population distribution</a:t>
            </a:r>
            <a:r>
              <a:rPr lang="zh-CN" altLang="en-US" sz="8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8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Balanced 50%  </a:t>
            </a:r>
            <a:endParaRPr lang="en-US" sz="8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9" name="Group 38">
            <a:extLst>
              <a:ext uri="{FF2B5EF4-FFF2-40B4-BE49-F238E27FC236}">
                <a16:creationId xmlns:a16="http://schemas.microsoft.com/office/drawing/2014/main" id="{F6DF6B23-D798-F4D3-B96C-5E9D8469E866}"/>
              </a:ext>
            </a:extLst>
          </p:cNvPr>
          <p:cNvGrpSpPr/>
          <p:nvPr/>
        </p:nvGrpSpPr>
        <p:grpSpPr>
          <a:xfrm>
            <a:off x="292182" y="1694269"/>
            <a:ext cx="3729468" cy="1278960"/>
            <a:chOff x="260235" y="1008320"/>
            <a:chExt cx="3729468" cy="1278960"/>
          </a:xfrm>
        </p:grpSpPr>
        <p:sp>
          <p:nvSpPr>
            <p:cNvPr id="5" name="Shape 3">
              <a:extLst>
                <a:ext uri="{FF2B5EF4-FFF2-40B4-BE49-F238E27FC236}">
                  <a16:creationId xmlns:a16="http://schemas.microsoft.com/office/drawing/2014/main" id="{CDB98423-15CD-6FE9-DE9D-95FF3B50A4B2}"/>
                </a:ext>
              </a:extLst>
            </p:cNvPr>
            <p:cNvSpPr/>
            <p:nvPr/>
          </p:nvSpPr>
          <p:spPr>
            <a:xfrm>
              <a:off x="260235" y="1008320"/>
              <a:ext cx="3068753" cy="1260084"/>
            </a:xfrm>
            <a:prstGeom prst="roundRect">
              <a:avLst>
                <a:gd name="adj" fmla="val 3846"/>
              </a:avLst>
            </a:prstGeom>
            <a:solidFill>
              <a:srgbClr val="FAFAF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8" name="Group 37">
              <a:extLst>
                <a:ext uri="{FF2B5EF4-FFF2-40B4-BE49-F238E27FC236}">
                  <a16:creationId xmlns:a16="http://schemas.microsoft.com/office/drawing/2014/main" id="{82A3BEBE-7644-9CBB-1742-5B397C2329AA}"/>
                </a:ext>
              </a:extLst>
            </p:cNvPr>
            <p:cNvGrpSpPr/>
            <p:nvPr/>
          </p:nvGrpSpPr>
          <p:grpSpPr>
            <a:xfrm>
              <a:off x="289240" y="1019229"/>
              <a:ext cx="3700463" cy="1268051"/>
              <a:chOff x="342900" y="1062683"/>
              <a:chExt cx="3700463" cy="1268051"/>
            </a:xfrm>
          </p:grpSpPr>
          <p:sp>
            <p:nvSpPr>
              <p:cNvPr id="6" name="Shape 4">
                <a:extLst>
                  <a:ext uri="{FF2B5EF4-FFF2-40B4-BE49-F238E27FC236}">
                    <a16:creationId xmlns:a16="http://schemas.microsoft.com/office/drawing/2014/main" id="{8A8C5C74-2BF6-E22F-CE97-86705B74148C}"/>
                  </a:ext>
                </a:extLst>
              </p:cNvPr>
              <p:cNvSpPr/>
              <p:nvPr/>
            </p:nvSpPr>
            <p:spPr>
              <a:xfrm>
                <a:off x="342900" y="1070650"/>
                <a:ext cx="62713" cy="1260084"/>
              </a:xfrm>
              <a:prstGeom prst="rect">
                <a:avLst/>
              </a:prstGeom>
              <a:solidFill>
                <a:srgbClr val="A52A2A"/>
              </a:solidFill>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5">
                <a:extLst>
                  <a:ext uri="{FF2B5EF4-FFF2-40B4-BE49-F238E27FC236}">
                    <a16:creationId xmlns:a16="http://schemas.microsoft.com/office/drawing/2014/main" id="{5A4A2B6F-E6D7-427F-828F-3032A9FB661A}"/>
                  </a:ext>
                </a:extLst>
              </p:cNvPr>
              <p:cNvSpPr/>
              <p:nvPr/>
            </p:nvSpPr>
            <p:spPr>
              <a:xfrm>
                <a:off x="442913" y="1062683"/>
                <a:ext cx="2857500" cy="142875"/>
              </a:xfrm>
              <a:prstGeom prst="rect">
                <a:avLst/>
              </a:prstGeom>
              <a:noFill/>
              <a:ln/>
            </p:spPr>
            <p:txBody>
              <a:bodyPr wrap="none" lIns="0" tIns="0" rIns="0" bIns="0" rtlCol="0" anchor="ctr"/>
              <a:lstStyle/>
              <a:p>
                <a:pPr>
                  <a:lnSpc>
                    <a:spcPct val="100000"/>
                  </a:lnSpc>
                </a:pPr>
                <a:r>
                  <a:rPr lang="en-US" sz="9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Endpoint &amp; Survival Model</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6">
                <a:extLst>
                  <a:ext uri="{FF2B5EF4-FFF2-40B4-BE49-F238E27FC236}">
                    <a16:creationId xmlns:a16="http://schemas.microsoft.com/office/drawing/2014/main" id="{3234DCC3-89B2-C62D-1A3B-168346BA3E75}"/>
                  </a:ext>
                </a:extLst>
              </p:cNvPr>
              <p:cNvSpPr/>
              <p:nvPr/>
            </p:nvSpPr>
            <p:spPr>
              <a:xfrm>
                <a:off x="442913" y="1178720"/>
                <a:ext cx="3600450" cy="942975"/>
              </a:xfrm>
              <a:prstGeom prst="rect">
                <a:avLst/>
              </a:prstGeom>
              <a:noFill/>
              <a:ln/>
            </p:spPr>
            <p:txBody>
              <a:bodyPr wrap="square" lIns="0" tIns="0" rIns="0" bIns="0" rtlCol="0" anchor="t"/>
              <a:lstStyle/>
              <a:p>
                <a:pPr>
                  <a:lnSpc>
                    <a:spcPct val="190000"/>
                  </a:lnSpc>
                </a:pPr>
                <a:r>
                  <a:rPr 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Endpoint </a:t>
                </a:r>
                <a:r>
                  <a:rPr lang="zh-CN" alt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9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Time-to-Event (TTE)</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r>
                  <a:rPr 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Distribution </a:t>
                </a:r>
                <a:r>
                  <a:rPr lang="zh-CN" alt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9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Exponential</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90000"/>
                  </a:lnSpc>
                  <a:spcBef>
                    <a:spcPts val="113"/>
                  </a:spcBef>
                </a:pPr>
                <a:r>
                  <a:rPr 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Treatment HR</a:t>
                </a:r>
                <a:r>
                  <a:rPr lang="zh-CN" altLang="en-US"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00" dirty="0">
                    <a:solidFill>
                      <a:srgbClr val="666666"/>
                    </a:solidFill>
                    <a:latin typeface="Times New Roman" panose="02020603050405020304" pitchFamily="18" charset="0"/>
                    <a:ea typeface="微软雅黑" panose="020B0503020204020204" pitchFamily="34" charset="-122"/>
                    <a:cs typeface="Times New Roman" panose="02020603050405020304" pitchFamily="18" charset="0"/>
                  </a:rPr>
                  <a:t>(target events): </a:t>
                </a:r>
                <a:r>
                  <a:rPr lang="en-US" sz="900"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0.65 (170events</a:t>
                </a:r>
                <a:r>
                  <a:rPr lang="en-US" sz="731" b="1"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  </a:t>
                </a:r>
                <a:endParaRPr lang="en-US" sz="73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6" name="Group 25">
                <a:extLst>
                  <a:ext uri="{FF2B5EF4-FFF2-40B4-BE49-F238E27FC236}">
                    <a16:creationId xmlns:a16="http://schemas.microsoft.com/office/drawing/2014/main" id="{0D3FF0FD-1EE9-9C5C-7908-7202AEAA56BC}"/>
                  </a:ext>
                </a:extLst>
              </p:cNvPr>
              <p:cNvGrpSpPr/>
              <p:nvPr/>
            </p:nvGrpSpPr>
            <p:grpSpPr>
              <a:xfrm>
                <a:off x="1212257" y="2051941"/>
                <a:ext cx="647979" cy="221042"/>
                <a:chOff x="442913" y="4641850"/>
                <a:chExt cx="585788" cy="142875"/>
              </a:xfrm>
            </p:grpSpPr>
            <p:sp>
              <p:nvSpPr>
                <p:cNvPr id="22" name="Shape 19">
                  <a:extLst>
                    <a:ext uri="{FF2B5EF4-FFF2-40B4-BE49-F238E27FC236}">
                      <a16:creationId xmlns:a16="http://schemas.microsoft.com/office/drawing/2014/main" id="{9B38FE24-72AF-1562-CF63-282692C1E827}"/>
                    </a:ext>
                  </a:extLst>
                </p:cNvPr>
                <p:cNvSpPr/>
                <p:nvPr/>
              </p:nvSpPr>
              <p:spPr>
                <a:xfrm>
                  <a:off x="442913" y="4641850"/>
                  <a:ext cx="585788"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Text 20">
                  <a:extLst>
                    <a:ext uri="{FF2B5EF4-FFF2-40B4-BE49-F238E27FC236}">
                      <a16:creationId xmlns:a16="http://schemas.microsoft.com/office/drawing/2014/main" id="{FAC57CFF-C45F-F106-21B9-B214F73C4C80}"/>
                    </a:ext>
                  </a:extLst>
                </p:cNvPr>
                <p:cNvSpPr/>
                <p:nvPr/>
              </p:nvSpPr>
              <p:spPr>
                <a:xfrm>
                  <a:off x="442913" y="4650978"/>
                  <a:ext cx="585788" cy="127952"/>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Block = 4</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7" name="Group 26">
                <a:extLst>
                  <a:ext uri="{FF2B5EF4-FFF2-40B4-BE49-F238E27FC236}">
                    <a16:creationId xmlns:a16="http://schemas.microsoft.com/office/drawing/2014/main" id="{5E27E110-E535-F889-FE09-888C3D7AFBF0}"/>
                  </a:ext>
                </a:extLst>
              </p:cNvPr>
              <p:cNvGrpSpPr/>
              <p:nvPr/>
            </p:nvGrpSpPr>
            <p:grpSpPr>
              <a:xfrm>
                <a:off x="459300" y="2040950"/>
                <a:ext cx="668863" cy="230844"/>
                <a:chOff x="1079502" y="4644231"/>
                <a:chExt cx="854392" cy="150018"/>
              </a:xfrm>
            </p:grpSpPr>
            <p:sp>
              <p:nvSpPr>
                <p:cNvPr id="24" name="Shape 21">
                  <a:extLst>
                    <a:ext uri="{FF2B5EF4-FFF2-40B4-BE49-F238E27FC236}">
                      <a16:creationId xmlns:a16="http://schemas.microsoft.com/office/drawing/2014/main" id="{608A9727-3649-93E6-A8E9-5AB172643823}"/>
                    </a:ext>
                  </a:extLst>
                </p:cNvPr>
                <p:cNvSpPr/>
                <p:nvPr/>
              </p:nvSpPr>
              <p:spPr>
                <a:xfrm>
                  <a:off x="1148081" y="4644231"/>
                  <a:ext cx="785813" cy="142875"/>
                </a:xfrm>
                <a:prstGeom prst="roundRect">
                  <a:avLst>
                    <a:gd name="adj" fmla="val 18182"/>
                  </a:avLst>
                </a:prstGeom>
                <a:solidFill>
                  <a:srgbClr val="FFFFFF"/>
                </a:solidFill>
                <a:ln w="12700">
                  <a:solidFill>
                    <a:srgbClr val="A52A2A"/>
                  </a:solidFill>
                  <a:prstDash val="solid"/>
                </a:ln>
              </p:spPr>
              <p:txBody>
                <a:bodyPr/>
                <a:lstStyle/>
                <a:p>
                  <a:endParaRPr 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Text 22">
                  <a:extLst>
                    <a:ext uri="{FF2B5EF4-FFF2-40B4-BE49-F238E27FC236}">
                      <a16:creationId xmlns:a16="http://schemas.microsoft.com/office/drawing/2014/main" id="{55BB0F8F-9BDC-1986-7CEB-14280F11BB70}"/>
                    </a:ext>
                  </a:extLst>
                </p:cNvPr>
                <p:cNvSpPr/>
                <p:nvPr/>
              </p:nvSpPr>
              <p:spPr>
                <a:xfrm>
                  <a:off x="1079502" y="4651374"/>
                  <a:ext cx="785813" cy="142875"/>
                </a:xfrm>
                <a:prstGeom prst="rect">
                  <a:avLst/>
                </a:prstGeom>
                <a:noFill/>
                <a:ln/>
              </p:spPr>
              <p:txBody>
                <a:bodyPr wrap="none" lIns="0" tIns="0" rIns="0" bIns="0" rtlCol="0" anchor="ctr"/>
                <a:lstStyle/>
                <a:p>
                  <a:pPr algn="ctr">
                    <a:lnSpc>
                      <a:spcPct val="100000"/>
                    </a:lnSpc>
                  </a:pPr>
                  <a:r>
                    <a:rPr lang="en-US" sz="619"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1:1 Allocation</a:t>
                  </a:r>
                  <a:endParaRPr lang="en-US" sz="9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grpSp>
      <p:sp>
        <p:nvSpPr>
          <p:cNvPr id="32" name="TextBox 31">
            <a:extLst>
              <a:ext uri="{FF2B5EF4-FFF2-40B4-BE49-F238E27FC236}">
                <a16:creationId xmlns:a16="http://schemas.microsoft.com/office/drawing/2014/main" id="{AB854099-239A-0A6C-26D1-5EC16E815024}"/>
              </a:ext>
            </a:extLst>
          </p:cNvPr>
          <p:cNvSpPr txBox="1"/>
          <p:nvPr/>
        </p:nvSpPr>
        <p:spPr>
          <a:xfrm>
            <a:off x="190500" y="171450"/>
            <a:ext cx="4572000" cy="369332"/>
          </a:xfrm>
          <a:prstGeom prst="rect">
            <a:avLst/>
          </a:prstGeom>
          <a:noFill/>
        </p:spPr>
        <p:txBody>
          <a:bodyPr wrap="square">
            <a:spAutoFit/>
          </a:bodyPr>
          <a:lstStyle/>
          <a:p>
            <a:pPr>
              <a:lnSpc>
                <a:spcPct val="100000"/>
              </a:lnSpc>
            </a:pP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01.4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分层因素选择</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预后 </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vs.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预测效应</a:t>
            </a:r>
            <a:endParaRPr lang="en-US" sz="1800"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4" name="Picture 43">
            <a:extLst>
              <a:ext uri="{FF2B5EF4-FFF2-40B4-BE49-F238E27FC236}">
                <a16:creationId xmlns:a16="http://schemas.microsoft.com/office/drawing/2014/main" id="{2919AF53-FC1B-7CBB-B6CE-8696762EC874}"/>
              </a:ext>
            </a:extLst>
          </p:cNvPr>
          <p:cNvPicPr>
            <a:picLocks noChangeAspect="1"/>
          </p:cNvPicPr>
          <p:nvPr/>
        </p:nvPicPr>
        <p:blipFill>
          <a:blip r:embed="rId3"/>
          <a:stretch>
            <a:fillRect/>
          </a:stretch>
        </p:blipFill>
        <p:spPr>
          <a:xfrm>
            <a:off x="3460645" y="777774"/>
            <a:ext cx="5584473" cy="4257478"/>
          </a:xfrm>
          <a:prstGeom prst="rect">
            <a:avLst/>
          </a:prstGeom>
        </p:spPr>
      </p:pic>
      <p:graphicFrame>
        <p:nvGraphicFramePr>
          <p:cNvPr id="2" name="Table 1">
            <a:extLst>
              <a:ext uri="{FF2B5EF4-FFF2-40B4-BE49-F238E27FC236}">
                <a16:creationId xmlns:a16="http://schemas.microsoft.com/office/drawing/2014/main" id="{71CEADFF-1657-48EF-973E-0A79DF3C496C}"/>
              </a:ext>
            </a:extLst>
          </p:cNvPr>
          <p:cNvGraphicFramePr>
            <a:graphicFrameLocks noGrp="1"/>
          </p:cNvGraphicFramePr>
          <p:nvPr>
            <p:extLst>
              <p:ext uri="{D42A27DB-BD31-4B8C-83A1-F6EECF244321}">
                <p14:modId xmlns:p14="http://schemas.microsoft.com/office/powerpoint/2010/main" val="1026849311"/>
              </p:ext>
            </p:extLst>
          </p:nvPr>
        </p:nvGraphicFramePr>
        <p:xfrm>
          <a:off x="442913" y="4383504"/>
          <a:ext cx="2886076" cy="382588"/>
        </p:xfrm>
        <a:graphic>
          <a:graphicData uri="http://schemas.openxmlformats.org/drawingml/2006/table">
            <a:tbl>
              <a:tblPr/>
              <a:tblGrid>
                <a:gridCol w="833437">
                  <a:extLst>
                    <a:ext uri="{9D8B030D-6E8A-4147-A177-3AD203B41FA5}">
                      <a16:colId xmlns:a16="http://schemas.microsoft.com/office/drawing/2014/main" val="1456589119"/>
                    </a:ext>
                  </a:extLst>
                </a:gridCol>
                <a:gridCol w="285750">
                  <a:extLst>
                    <a:ext uri="{9D8B030D-6E8A-4147-A177-3AD203B41FA5}">
                      <a16:colId xmlns:a16="http://schemas.microsoft.com/office/drawing/2014/main" val="3693861077"/>
                    </a:ext>
                  </a:extLst>
                </a:gridCol>
                <a:gridCol w="254000">
                  <a:extLst>
                    <a:ext uri="{9D8B030D-6E8A-4147-A177-3AD203B41FA5}">
                      <a16:colId xmlns:a16="http://schemas.microsoft.com/office/drawing/2014/main" val="461339282"/>
                    </a:ext>
                  </a:extLst>
                </a:gridCol>
                <a:gridCol w="311150">
                  <a:extLst>
                    <a:ext uri="{9D8B030D-6E8A-4147-A177-3AD203B41FA5}">
                      <a16:colId xmlns:a16="http://schemas.microsoft.com/office/drawing/2014/main" val="3687246489"/>
                    </a:ext>
                  </a:extLst>
                </a:gridCol>
                <a:gridCol w="317500">
                  <a:extLst>
                    <a:ext uri="{9D8B030D-6E8A-4147-A177-3AD203B41FA5}">
                      <a16:colId xmlns:a16="http://schemas.microsoft.com/office/drawing/2014/main" val="129054991"/>
                    </a:ext>
                  </a:extLst>
                </a:gridCol>
                <a:gridCol w="266700">
                  <a:extLst>
                    <a:ext uri="{9D8B030D-6E8A-4147-A177-3AD203B41FA5}">
                      <a16:colId xmlns:a16="http://schemas.microsoft.com/office/drawing/2014/main" val="2728763959"/>
                    </a:ext>
                  </a:extLst>
                </a:gridCol>
                <a:gridCol w="317500">
                  <a:extLst>
                    <a:ext uri="{9D8B030D-6E8A-4147-A177-3AD203B41FA5}">
                      <a16:colId xmlns:a16="http://schemas.microsoft.com/office/drawing/2014/main" val="1939456329"/>
                    </a:ext>
                  </a:extLst>
                </a:gridCol>
                <a:gridCol w="300039">
                  <a:extLst>
                    <a:ext uri="{9D8B030D-6E8A-4147-A177-3AD203B41FA5}">
                      <a16:colId xmlns:a16="http://schemas.microsoft.com/office/drawing/2014/main" val="3927978641"/>
                    </a:ext>
                  </a:extLst>
                </a:gridCol>
              </a:tblGrid>
              <a:tr h="152126">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Scenario</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F1</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F2</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F3</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F4</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u="none" dirty="0">
                          <a:solidFill>
                            <a:schemeClr val="bg1"/>
                          </a:solidFill>
                          <a:latin typeface="Times New Roman" panose="02020603050405020304" pitchFamily="18" charset="0"/>
                          <a:ea typeface="QuattrocentoSans" pitchFamily="34" charset="-122"/>
                          <a:cs typeface="Times New Roman" panose="02020603050405020304" pitchFamily="18" charset="0"/>
                        </a:rPr>
                        <a:t>F5</a:t>
                      </a:r>
                      <a:endParaRPr lang="en-US" sz="9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dirty="0">
                          <a:solidFill>
                            <a:schemeClr val="bg1"/>
                          </a:solidFill>
                          <a:latin typeface="Times New Roman" panose="02020603050405020304" pitchFamily="18" charset="0"/>
                          <a:ea typeface="QuattrocentoSans" charset="0"/>
                          <a:cs typeface="Times New Roman" panose="02020603050405020304" pitchFamily="18" charset="0"/>
                        </a:rPr>
                        <a:t>F6</a:t>
                      </a: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tc>
                  <a:txBody>
                    <a:bodyPr/>
                    <a:lstStyle/>
                    <a:p>
                      <a:pPr algn="ctr"/>
                      <a:r>
                        <a:rPr lang="en-US" sz="900" b="1" dirty="0">
                          <a:solidFill>
                            <a:schemeClr val="bg1"/>
                          </a:solidFill>
                          <a:latin typeface="Times New Roman" panose="02020603050405020304" pitchFamily="18" charset="0"/>
                          <a:ea typeface="QuattrocentoSans" charset="0"/>
                          <a:cs typeface="Times New Roman" panose="02020603050405020304" pitchFamily="18" charset="0"/>
                        </a:rPr>
                        <a:t>F7</a:t>
                      </a: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A52A2A"/>
                    </a:solidFill>
                  </a:tcPr>
                </a:tc>
                <a:extLst>
                  <a:ext uri="{0D108BD9-81ED-4DB2-BD59-A6C34878D82A}">
                    <a16:rowId xmlns:a16="http://schemas.microsoft.com/office/drawing/2014/main" val="1110101"/>
                  </a:ext>
                </a:extLst>
              </a:tr>
              <a:tr h="230462">
                <a:tc>
                  <a:txBody>
                    <a:bodyPr/>
                    <a:lstStyle/>
                    <a:p>
                      <a:pPr algn="ctr"/>
                      <a:r>
                        <a:rPr lang="en-US" sz="8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Predictive effect</a:t>
                      </a:r>
                      <a:endParaRPr lang="en-US" sz="8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0.6</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0.8</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1</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rgbClr val="333333"/>
                          </a:solidFill>
                          <a:latin typeface="Times New Roman" panose="02020603050405020304" pitchFamily="18" charset="0"/>
                          <a:ea typeface="QuattrocentoSans" pitchFamily="34" charset="-122"/>
                          <a:cs typeface="Times New Roman" panose="02020603050405020304" pitchFamily="18" charset="0"/>
                        </a:rPr>
                        <a:t>1.2</a:t>
                      </a:r>
                      <a:endParaRPr lang="en-US" sz="900" b="1"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u="none" dirty="0">
                          <a:solidFill>
                            <a:schemeClr val="tx1"/>
                          </a:solidFill>
                          <a:latin typeface="Times New Roman" panose="02020603050405020304" pitchFamily="18" charset="0"/>
                          <a:ea typeface="QuattrocentoSans" pitchFamily="34" charset="-122"/>
                          <a:cs typeface="Times New Roman" panose="02020603050405020304" pitchFamily="18" charset="0"/>
                        </a:rPr>
                        <a:t>1.4</a:t>
                      </a:r>
                      <a:endParaRPr lang="en-US" sz="900" b="1"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dirty="0">
                          <a:solidFill>
                            <a:schemeClr val="tx1"/>
                          </a:solidFill>
                          <a:latin typeface="Times New Roman" panose="02020603050405020304" pitchFamily="18" charset="0"/>
                          <a:ea typeface="QuattrocentoSans" charset="0"/>
                          <a:cs typeface="Times New Roman" panose="02020603050405020304" pitchFamily="18" charset="0"/>
                        </a:rPr>
                        <a:t>1.6</a:t>
                      </a: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algn="ctr"/>
                      <a:r>
                        <a:rPr lang="en-US" sz="900" b="1" dirty="0">
                          <a:solidFill>
                            <a:schemeClr val="tx1"/>
                          </a:solidFill>
                          <a:latin typeface="Times New Roman" panose="02020603050405020304" pitchFamily="18" charset="0"/>
                          <a:ea typeface="QuattrocentoSans" charset="0"/>
                          <a:cs typeface="Times New Roman" panose="02020603050405020304" pitchFamily="18" charset="0"/>
                        </a:rPr>
                        <a:t>2</a:t>
                      </a:r>
                    </a:p>
                  </a:txBody>
                  <a:tcPr marL="51435" marR="51435" marT="0" marB="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159016501"/>
                  </a:ext>
                </a:extLst>
              </a:tr>
            </a:tbl>
          </a:graphicData>
        </a:graphic>
      </p:graphicFrame>
      <p:sp>
        <p:nvSpPr>
          <p:cNvPr id="28" name="TextBox 27">
            <a:extLst>
              <a:ext uri="{FF2B5EF4-FFF2-40B4-BE49-F238E27FC236}">
                <a16:creationId xmlns:a16="http://schemas.microsoft.com/office/drawing/2014/main" id="{20F627CC-678E-317B-B8E2-F8B3F5181474}"/>
              </a:ext>
            </a:extLst>
          </p:cNvPr>
          <p:cNvSpPr txBox="1"/>
          <p:nvPr/>
        </p:nvSpPr>
        <p:spPr>
          <a:xfrm>
            <a:off x="6451600" y="3525193"/>
            <a:ext cx="1546225" cy="338554"/>
          </a:xfrm>
          <a:prstGeom prst="rect">
            <a:avLst/>
          </a:prstGeom>
          <a:noFill/>
        </p:spPr>
        <p:txBody>
          <a:bodyPr wrap="square" rtlCol="0">
            <a:spAutoFit/>
          </a:bodyPr>
          <a:lstStyle/>
          <a:p>
            <a:r>
              <a:rPr lang="zh-CN" altLang="en-US" sz="800" b="1" dirty="0">
                <a:latin typeface="微软雅黑" panose="020B0503020204020204" pitchFamily="34" charset="-122"/>
                <a:ea typeface="微软雅黑" panose="020B0503020204020204" pitchFamily="34" charset="-122"/>
              </a:rPr>
              <a:t>预后差的受试者</a:t>
            </a:r>
            <a:endParaRPr lang="en-US" altLang="zh-CN" sz="800" b="1" dirty="0">
              <a:latin typeface="微软雅黑" panose="020B0503020204020204" pitchFamily="34" charset="-122"/>
              <a:ea typeface="微软雅黑" panose="020B0503020204020204" pitchFamily="34" charset="-122"/>
            </a:endParaRPr>
          </a:p>
          <a:p>
            <a:r>
              <a:rPr lang="zh-CN" altLang="en-US" sz="800" b="1" dirty="0">
                <a:latin typeface="微软雅黑" panose="020B0503020204020204" pitchFamily="34" charset="-122"/>
                <a:ea typeface="微软雅黑" panose="020B0503020204020204" pitchFamily="34" charset="-122"/>
              </a:rPr>
              <a:t>治疗获益更高</a:t>
            </a:r>
            <a:endParaRPr lang="en-US" sz="800" b="1" dirty="0">
              <a:latin typeface="微软雅黑" panose="020B0503020204020204" pitchFamily="34" charset="-122"/>
              <a:ea typeface="微软雅黑" panose="020B0503020204020204" pitchFamily="34" charset="-122"/>
            </a:endParaRPr>
          </a:p>
        </p:txBody>
      </p:sp>
      <p:cxnSp>
        <p:nvCxnSpPr>
          <p:cNvPr id="29" name="Straight Arrow Connector 28">
            <a:extLst>
              <a:ext uri="{FF2B5EF4-FFF2-40B4-BE49-F238E27FC236}">
                <a16:creationId xmlns:a16="http://schemas.microsoft.com/office/drawing/2014/main" id="{D028E8FA-A077-70AD-2F08-4A20B9BA6FA7}"/>
              </a:ext>
            </a:extLst>
          </p:cNvPr>
          <p:cNvCxnSpPr/>
          <p:nvPr/>
        </p:nvCxnSpPr>
        <p:spPr>
          <a:xfrm>
            <a:off x="7353300" y="3429000"/>
            <a:ext cx="1638300"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8CE0416A-5DC1-5B2E-7AA4-BD6A7B7DFE78}"/>
              </a:ext>
            </a:extLst>
          </p:cNvPr>
          <p:cNvCxnSpPr>
            <a:cxnSpLocks/>
          </p:cNvCxnSpPr>
          <p:nvPr/>
        </p:nvCxnSpPr>
        <p:spPr>
          <a:xfrm flipH="1">
            <a:off x="6451600" y="3429000"/>
            <a:ext cx="787400"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DC20ADF-35D9-B3F7-A04D-75E11CC6AD9C}"/>
              </a:ext>
            </a:extLst>
          </p:cNvPr>
          <p:cNvSpPr txBox="1"/>
          <p:nvPr/>
        </p:nvSpPr>
        <p:spPr>
          <a:xfrm>
            <a:off x="7445375" y="3515440"/>
            <a:ext cx="1546225" cy="338554"/>
          </a:xfrm>
          <a:prstGeom prst="rect">
            <a:avLst/>
          </a:prstGeom>
          <a:noFill/>
        </p:spPr>
        <p:txBody>
          <a:bodyPr wrap="square" rtlCol="0">
            <a:spAutoFit/>
          </a:bodyPr>
          <a:lstStyle/>
          <a:p>
            <a:r>
              <a:rPr lang="zh-CN" altLang="en-US" sz="800" b="1" dirty="0">
                <a:latin typeface="微软雅黑" panose="020B0503020204020204" pitchFamily="34" charset="-122"/>
                <a:ea typeface="微软雅黑" panose="020B0503020204020204" pitchFamily="34" charset="-122"/>
              </a:rPr>
              <a:t>预后好的受试者</a:t>
            </a:r>
            <a:endParaRPr lang="en-US" altLang="zh-CN" sz="800" b="1" dirty="0">
              <a:latin typeface="微软雅黑" panose="020B0503020204020204" pitchFamily="34" charset="-122"/>
              <a:ea typeface="微软雅黑" panose="020B0503020204020204" pitchFamily="34" charset="-122"/>
            </a:endParaRPr>
          </a:p>
          <a:p>
            <a:r>
              <a:rPr lang="zh-CN" altLang="en-US" sz="800" b="1" dirty="0">
                <a:latin typeface="微软雅黑" panose="020B0503020204020204" pitchFamily="34" charset="-122"/>
                <a:ea typeface="微软雅黑" panose="020B0503020204020204" pitchFamily="34" charset="-122"/>
              </a:rPr>
              <a:t>治疗获益更高</a:t>
            </a:r>
            <a:endParaRPr lang="en-US" sz="800" b="1" dirty="0">
              <a:latin typeface="微软雅黑" panose="020B0503020204020204" pitchFamily="34" charset="-122"/>
              <a:ea typeface="微软雅黑" panose="020B0503020204020204" pitchFamily="34" charset="-122"/>
            </a:endParaRPr>
          </a:p>
        </p:txBody>
      </p:sp>
      <p:grpSp>
        <p:nvGrpSpPr>
          <p:cNvPr id="40" name="Group 39">
            <a:extLst>
              <a:ext uri="{FF2B5EF4-FFF2-40B4-BE49-F238E27FC236}">
                <a16:creationId xmlns:a16="http://schemas.microsoft.com/office/drawing/2014/main" id="{1B950080-893B-C322-352F-5FD1BCECA6FD}"/>
              </a:ext>
            </a:extLst>
          </p:cNvPr>
          <p:cNvGrpSpPr/>
          <p:nvPr/>
        </p:nvGrpSpPr>
        <p:grpSpPr>
          <a:xfrm>
            <a:off x="144601" y="3062660"/>
            <a:ext cx="3363911" cy="262418"/>
            <a:chOff x="308511" y="2120488"/>
            <a:chExt cx="3363911" cy="262418"/>
          </a:xfrm>
        </p:grpSpPr>
        <p:sp>
          <p:nvSpPr>
            <p:cNvPr id="41" name="Shape 7">
              <a:extLst>
                <a:ext uri="{FF2B5EF4-FFF2-40B4-BE49-F238E27FC236}">
                  <a16:creationId xmlns:a16="http://schemas.microsoft.com/office/drawing/2014/main" id="{CCA29220-A482-2BBA-CABD-EC606A534458}"/>
                </a:ext>
              </a:extLst>
            </p:cNvPr>
            <p:cNvSpPr/>
            <p:nvPr/>
          </p:nvSpPr>
          <p:spPr>
            <a:xfrm>
              <a:off x="479762" y="2151457"/>
              <a:ext cx="3021411" cy="226533"/>
            </a:xfrm>
            <a:prstGeom prst="roundRect">
              <a:avLst>
                <a:gd name="adj" fmla="val 7692"/>
              </a:avLst>
            </a:prstGeom>
            <a:solidFill>
              <a:srgbClr val="F5F5F5"/>
            </a:solidFill>
            <a:ln/>
          </p:spPr>
          <p:txBody>
            <a:bodyPr/>
            <a:lstStyle/>
            <a:p>
              <a:endParaRPr lang="en-US" sz="14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Text 8">
              <a:extLst>
                <a:ext uri="{FF2B5EF4-FFF2-40B4-BE49-F238E27FC236}">
                  <a16:creationId xmlns:a16="http://schemas.microsoft.com/office/drawing/2014/main" id="{F4657B51-E7A5-46C2-91C7-FD5ACD166651}"/>
                </a:ext>
              </a:extLst>
            </p:cNvPr>
            <p:cNvSpPr/>
            <p:nvPr/>
          </p:nvSpPr>
          <p:spPr>
            <a:xfrm>
              <a:off x="308511" y="2120488"/>
              <a:ext cx="3363911" cy="262418"/>
            </a:xfrm>
            <a:prstGeom prst="rect">
              <a:avLst/>
            </a:prstGeom>
            <a:noFill/>
            <a:ln/>
          </p:spPr>
          <p:txBody>
            <a:bodyPr wrap="none" lIns="0" tIns="0" rIns="0" bIns="0" rtlCol="0" anchor="ctr"/>
            <a:lstStyle/>
            <a:p>
              <a:pPr algn="ctr">
                <a:lnSpc>
                  <a:spcPct val="100000"/>
                </a:lnSpc>
              </a:pPr>
              <a:r>
                <a:rPr lang="en-US" sz="700"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h(t|Z) = λ₀ · exp[ Σ I(Factorⱼ) · log(HRⱼ) + Σ I(Factorⱼ) · log(HRⱼ) ⸱ </a:t>
              </a:r>
              <a:r>
                <a:rPr lang="en-US" sz="700" dirty="0" err="1">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Trt</a:t>
              </a:r>
              <a:r>
                <a:rPr lang="en-US" sz="700" dirty="0">
                  <a:solidFill>
                    <a:srgbClr val="A52A2A"/>
                  </a:solidFill>
                  <a:latin typeface="Times New Roman" panose="02020603050405020304" pitchFamily="18" charset="0"/>
                  <a:ea typeface="微软雅黑" panose="020B0503020204020204" pitchFamily="34" charset="-122"/>
                  <a:cs typeface="Times New Roman" panose="02020603050405020304" pitchFamily="18" charset="0"/>
                </a:rPr>
                <a:t> + βₜᵣₜ · Trt ]</a:t>
              </a:r>
              <a:endParaRPr lang="en-US" sz="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3" name="TextBox 42">
            <a:extLst>
              <a:ext uri="{FF2B5EF4-FFF2-40B4-BE49-F238E27FC236}">
                <a16:creationId xmlns:a16="http://schemas.microsoft.com/office/drawing/2014/main" id="{53D51FB8-D1FB-D367-F99B-C63AF9550DDC}"/>
              </a:ext>
            </a:extLst>
          </p:cNvPr>
          <p:cNvSpPr txBox="1"/>
          <p:nvPr/>
        </p:nvSpPr>
        <p:spPr>
          <a:xfrm>
            <a:off x="292183" y="636939"/>
            <a:ext cx="3086228" cy="570284"/>
          </a:xfrm>
          <a:prstGeom prst="rect">
            <a:avLst/>
          </a:prstGeom>
          <a:noFill/>
        </p:spPr>
        <p:txBody>
          <a:bodyPr wrap="square" rtlCol="0">
            <a:spAutoFit/>
          </a:bodyPr>
          <a:lstStyle/>
          <a:p>
            <a:pPr>
              <a:lnSpc>
                <a:spcPct val="150000"/>
              </a:lnSpc>
            </a:pPr>
            <a:r>
              <a:rPr lang="zh-CN" altLang="en-US" sz="1050" b="1" dirty="0">
                <a:latin typeface="微软雅黑" panose="020B0503020204020204" pitchFamily="34" charset="-122"/>
                <a:ea typeface="微软雅黑" panose="020B0503020204020204" pitchFamily="34" charset="-122"/>
              </a:rPr>
              <a:t>模拟问题</a:t>
            </a:r>
            <a:r>
              <a:rPr lang="en-US" altLang="zh-CN" sz="1050" b="1" dirty="0">
                <a:latin typeface="微软雅黑" panose="020B0503020204020204" pitchFamily="34" charset="-122"/>
                <a:ea typeface="微软雅黑" panose="020B0503020204020204" pitchFamily="34" charset="-122"/>
              </a:rPr>
              <a:t>3</a:t>
            </a:r>
            <a:r>
              <a:rPr lang="zh-CN" altLang="en-US" sz="1050" b="1" dirty="0">
                <a:latin typeface="微软雅黑" panose="020B0503020204020204" pitchFamily="34" charset="-122"/>
                <a:ea typeface="微软雅黑" panose="020B0503020204020204" pitchFamily="34" charset="-122"/>
              </a:rPr>
              <a:t>：预后效应与预测效应同时存在的情况下，分层随机对于</a:t>
            </a:r>
            <a:r>
              <a:rPr lang="en-US" altLang="zh-CN" sz="1050" b="1" dirty="0">
                <a:latin typeface="微软雅黑" panose="020B0503020204020204" pitchFamily="34" charset="-122"/>
                <a:ea typeface="微软雅黑" panose="020B0503020204020204" pitchFamily="34" charset="-122"/>
              </a:rPr>
              <a:t>power</a:t>
            </a:r>
            <a:r>
              <a:rPr lang="zh-CN" altLang="en-US" sz="1050" b="1" dirty="0">
                <a:latin typeface="微软雅黑" panose="020B0503020204020204" pitchFamily="34" charset="-122"/>
                <a:ea typeface="微软雅黑" panose="020B0503020204020204" pitchFamily="34" charset="-122"/>
              </a:rPr>
              <a:t>如何影响</a:t>
            </a:r>
            <a:r>
              <a:rPr lang="zh-CN" altLang="en-US" sz="1050" dirty="0">
                <a:latin typeface="微软雅黑" panose="020B0503020204020204" pitchFamily="34" charset="-122"/>
                <a:ea typeface="微软雅黑" panose="020B0503020204020204" pitchFamily="34" charset="-122"/>
              </a:rPr>
              <a:t>？</a:t>
            </a:r>
            <a:endParaRPr lang="en-US" sz="105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898385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428625" y="557213"/>
            <a:ext cx="1285875" cy="21431"/>
          </a:xfrm>
          <a:prstGeom prst="rect">
            <a:avLst/>
          </a:prstGeom>
          <a:solidFill>
            <a:srgbClr val="9C3D3D"/>
          </a:solidFill>
          <a:ln/>
        </p:spPr>
        <p:txBody>
          <a:bodyPr/>
          <a:lstStyle/>
          <a:p>
            <a:endParaRPr lang="en-US"/>
          </a:p>
        </p:txBody>
      </p:sp>
      <p:sp>
        <p:nvSpPr>
          <p:cNvPr id="4" name="Text 2"/>
          <p:cNvSpPr/>
          <p:nvPr/>
        </p:nvSpPr>
        <p:spPr>
          <a:xfrm>
            <a:off x="428625" y="628650"/>
            <a:ext cx="5715000" cy="157163"/>
          </a:xfrm>
          <a:prstGeom prst="rect">
            <a:avLst/>
          </a:prstGeom>
          <a:noFill/>
          <a:ln/>
        </p:spPr>
        <p:txBody>
          <a:bodyPr wrap="none" lIns="0" tIns="0" rIns="0" bIns="0" rtlCol="0" anchor="ctr"/>
          <a:lstStyle/>
          <a:p>
            <a:pPr defTabSz="514350"/>
            <a:r>
              <a:rPr lang="en-US" sz="788" dirty="0">
                <a:solidFill>
                  <a:srgbClr val="666666"/>
                </a:solidFill>
                <a:latin typeface="Quattrocento Sans" pitchFamily="34" charset="0"/>
                <a:ea typeface="Quattrocento Sans" pitchFamily="34" charset="-122"/>
                <a:cs typeface="Quattrocento Sans" pitchFamily="34" charset="-120"/>
              </a:rPr>
              <a:t>基于预后效应与预测效应的不同组合，制定分层策略决策</a:t>
            </a:r>
            <a:endParaRPr lang="en-US" sz="900" dirty="0">
              <a:solidFill>
                <a:srgbClr val="000000"/>
              </a:solidFill>
              <a:latin typeface="Calibri" panose="020F0502020204030204"/>
            </a:endParaRPr>
          </a:p>
        </p:txBody>
      </p:sp>
      <p:sp>
        <p:nvSpPr>
          <p:cNvPr id="5" name="Shape 3"/>
          <p:cNvSpPr/>
          <p:nvPr/>
        </p:nvSpPr>
        <p:spPr>
          <a:xfrm>
            <a:off x="428625" y="892969"/>
            <a:ext cx="2664619" cy="3964781"/>
          </a:xfrm>
          <a:prstGeom prst="roundRect">
            <a:avLst>
              <a:gd name="adj" fmla="val 8000"/>
            </a:avLst>
          </a:prstGeom>
          <a:solidFill>
            <a:srgbClr val="F5E6E6"/>
          </a:solidFill>
          <a:ln/>
        </p:spPr>
        <p:txBody>
          <a:bodyPr/>
          <a:lstStyle/>
          <a:p>
            <a:endParaRPr lang="en-US"/>
          </a:p>
        </p:txBody>
      </p:sp>
      <p:sp>
        <p:nvSpPr>
          <p:cNvPr id="6" name="Shape 4"/>
          <p:cNvSpPr/>
          <p:nvPr/>
        </p:nvSpPr>
        <p:spPr>
          <a:xfrm>
            <a:off x="428625" y="892969"/>
            <a:ext cx="2664619" cy="35719"/>
          </a:xfrm>
          <a:prstGeom prst="rect">
            <a:avLst/>
          </a:prstGeom>
          <a:solidFill>
            <a:srgbClr val="9C3D3D"/>
          </a:solidFill>
          <a:ln/>
        </p:spPr>
        <p:txBody>
          <a:bodyPr/>
          <a:lstStyle/>
          <a:p>
            <a:endParaRPr lang="en-US"/>
          </a:p>
        </p:txBody>
      </p:sp>
      <p:sp>
        <p:nvSpPr>
          <p:cNvPr id="7" name="Text 5"/>
          <p:cNvSpPr/>
          <p:nvPr/>
        </p:nvSpPr>
        <p:spPr>
          <a:xfrm>
            <a:off x="571500" y="1014412"/>
            <a:ext cx="714375" cy="157163"/>
          </a:xfrm>
          <a:prstGeom prst="rect">
            <a:avLst/>
          </a:prstGeom>
          <a:noFill/>
          <a:ln/>
        </p:spPr>
        <p:txBody>
          <a:bodyPr wrap="none" lIns="0" tIns="0" rIns="0" bIns="0" rtlCol="0" anchor="ctr"/>
          <a:lstStyle/>
          <a:p>
            <a:pPr defTabSz="514350"/>
            <a:r>
              <a:rPr lang="en-US" sz="731" b="1" kern="0" spc="113" dirty="0">
                <a:solidFill>
                  <a:srgbClr val="9C3D3D"/>
                </a:solidFill>
                <a:latin typeface="Quattrocento Sans" pitchFamily="34" charset="0"/>
                <a:ea typeface="Quattrocento Sans" pitchFamily="34" charset="-122"/>
                <a:cs typeface="Quattrocento Sans" pitchFamily="34" charset="-120"/>
              </a:rPr>
              <a:t>场景一</a:t>
            </a:r>
            <a:endParaRPr lang="en-US" sz="900" dirty="0">
              <a:solidFill>
                <a:srgbClr val="000000"/>
              </a:solidFill>
              <a:latin typeface="Calibri" panose="020F0502020204030204"/>
            </a:endParaRPr>
          </a:p>
        </p:txBody>
      </p:sp>
      <p:sp>
        <p:nvSpPr>
          <p:cNvPr id="8" name="Shape 6"/>
          <p:cNvSpPr/>
          <p:nvPr/>
        </p:nvSpPr>
        <p:spPr>
          <a:xfrm>
            <a:off x="1593056" y="1250156"/>
            <a:ext cx="342900" cy="342900"/>
          </a:xfrm>
          <a:custGeom>
            <a:avLst/>
            <a:gdLst/>
            <a:ahLst/>
            <a:cxnLst/>
            <a:rect l="l" t="t" r="r" b="b"/>
            <a:pathLst>
              <a:path w="609600" h="609600">
                <a:moveTo>
                  <a:pt x="437197" y="491133"/>
                </a:moveTo>
                <a:lnTo>
                  <a:pt x="118467" y="172403"/>
                </a:lnTo>
                <a:cubicBezTo>
                  <a:pt x="91797" y="209788"/>
                  <a:pt x="76200" y="255508"/>
                  <a:pt x="76200" y="304800"/>
                </a:cubicBezTo>
                <a:cubicBezTo>
                  <a:pt x="76200" y="431006"/>
                  <a:pt x="178594" y="533400"/>
                  <a:pt x="304800" y="533400"/>
                </a:cubicBezTo>
                <a:cubicBezTo>
                  <a:pt x="354211" y="533400"/>
                  <a:pt x="399931" y="517803"/>
                  <a:pt x="437197" y="491133"/>
                </a:cubicBezTo>
                <a:close/>
                <a:moveTo>
                  <a:pt x="491133" y="437197"/>
                </a:moveTo>
                <a:cubicBezTo>
                  <a:pt x="517803" y="399812"/>
                  <a:pt x="533400" y="354092"/>
                  <a:pt x="533400" y="304800"/>
                </a:cubicBezTo>
                <a:cubicBezTo>
                  <a:pt x="533400" y="178594"/>
                  <a:pt x="431006" y="76200"/>
                  <a:pt x="304800" y="76200"/>
                </a:cubicBezTo>
                <a:cubicBezTo>
                  <a:pt x="255389" y="76200"/>
                  <a:pt x="209669" y="91797"/>
                  <a:pt x="172403" y="118467"/>
                </a:cubicBezTo>
                <a:lnTo>
                  <a:pt x="491133" y="437197"/>
                </a:lnTo>
                <a:close/>
                <a:moveTo>
                  <a:pt x="0" y="304800"/>
                </a:moveTo>
                <a:cubicBezTo>
                  <a:pt x="0" y="136576"/>
                  <a:pt x="136576" y="0"/>
                  <a:pt x="304800" y="0"/>
                </a:cubicBezTo>
                <a:cubicBezTo>
                  <a:pt x="473024" y="0"/>
                  <a:pt x="609600" y="136576"/>
                  <a:pt x="609600" y="304800"/>
                </a:cubicBezTo>
                <a:cubicBezTo>
                  <a:pt x="609600" y="473024"/>
                  <a:pt x="473024" y="609600"/>
                  <a:pt x="304800" y="609600"/>
                </a:cubicBezTo>
                <a:cubicBezTo>
                  <a:pt x="136576" y="609600"/>
                  <a:pt x="0" y="473024"/>
                  <a:pt x="0" y="304800"/>
                </a:cubicBezTo>
                <a:close/>
              </a:path>
            </a:pathLst>
          </a:custGeom>
          <a:solidFill>
            <a:srgbClr val="9C3D3D"/>
          </a:solidFill>
          <a:ln/>
        </p:spPr>
        <p:txBody>
          <a:bodyPr/>
          <a:lstStyle/>
          <a:p>
            <a:endParaRPr lang="en-US"/>
          </a:p>
        </p:txBody>
      </p:sp>
      <p:sp>
        <p:nvSpPr>
          <p:cNvPr id="9" name="Text 7"/>
          <p:cNvSpPr/>
          <p:nvPr/>
        </p:nvSpPr>
        <p:spPr>
          <a:xfrm>
            <a:off x="571500" y="1700212"/>
            <a:ext cx="2378869" cy="214313"/>
          </a:xfrm>
          <a:prstGeom prst="rect">
            <a:avLst/>
          </a:prstGeom>
          <a:noFill/>
          <a:ln/>
        </p:spPr>
        <p:txBody>
          <a:bodyPr wrap="none" lIns="0" tIns="0" rIns="0" bIns="0" rtlCol="0" anchor="ctr"/>
          <a:lstStyle/>
          <a:p>
            <a:pPr algn="ctr" defTabSz="514350"/>
            <a:r>
              <a:rPr lang="en-US" sz="1238" b="1" dirty="0">
                <a:solidFill>
                  <a:srgbClr val="9C3D3D"/>
                </a:solidFill>
                <a:latin typeface="QuattrocentoSans" pitchFamily="34" charset="0"/>
                <a:ea typeface="QuattrocentoSans" pitchFamily="34" charset="-122"/>
                <a:cs typeface="QuattrocentoSans" pitchFamily="34" charset="-120"/>
              </a:rPr>
              <a:t>仅有预后效应，无预测效应</a:t>
            </a:r>
            <a:endParaRPr lang="en-US" sz="1238" dirty="0">
              <a:solidFill>
                <a:srgbClr val="000000"/>
              </a:solidFill>
              <a:latin typeface="Calibri" panose="020F0502020204030204"/>
            </a:endParaRPr>
          </a:p>
        </p:txBody>
      </p:sp>
      <p:sp>
        <p:nvSpPr>
          <p:cNvPr id="10" name="Shape 8"/>
          <p:cNvSpPr/>
          <p:nvPr/>
        </p:nvSpPr>
        <p:spPr>
          <a:xfrm>
            <a:off x="571500" y="2000250"/>
            <a:ext cx="2378869" cy="300038"/>
          </a:xfrm>
          <a:prstGeom prst="roundRect">
            <a:avLst>
              <a:gd name="adj" fmla="val 6000"/>
            </a:avLst>
          </a:prstGeom>
          <a:solidFill>
            <a:srgbClr val="9C3D3D">
              <a:alpha val="9412"/>
            </a:srgbClr>
          </a:solidFill>
          <a:ln/>
        </p:spPr>
        <p:txBody>
          <a:bodyPr/>
          <a:lstStyle/>
          <a:p>
            <a:endParaRPr lang="en-US"/>
          </a:p>
        </p:txBody>
      </p:sp>
      <p:sp>
        <p:nvSpPr>
          <p:cNvPr id="11" name="Text 9"/>
          <p:cNvSpPr/>
          <p:nvPr/>
        </p:nvSpPr>
        <p:spPr>
          <a:xfrm>
            <a:off x="571500" y="2000250"/>
            <a:ext cx="2378869" cy="300038"/>
          </a:xfrm>
          <a:prstGeom prst="rect">
            <a:avLst/>
          </a:prstGeom>
          <a:noFill/>
          <a:ln/>
        </p:spPr>
        <p:txBody>
          <a:bodyPr wrap="none" lIns="0" tIns="0" rIns="0" bIns="0" rtlCol="0" anchor="ctr"/>
          <a:lstStyle/>
          <a:p>
            <a:pPr algn="ctr" defTabSz="514350"/>
            <a:r>
              <a:rPr lang="en-US" sz="1013" b="1" dirty="0">
                <a:solidFill>
                  <a:srgbClr val="7A2E2E"/>
                </a:solidFill>
                <a:latin typeface="Quattrocento Sans" pitchFamily="34" charset="0"/>
                <a:ea typeface="Quattrocento Sans" pitchFamily="34" charset="-122"/>
                <a:cs typeface="Quattrocento Sans" pitchFamily="34" charset="-120"/>
              </a:rPr>
              <a:t>一般不应纳入分层因素考虑</a:t>
            </a:r>
            <a:endParaRPr lang="en-US" sz="900" dirty="0">
              <a:solidFill>
                <a:srgbClr val="000000"/>
              </a:solidFill>
              <a:latin typeface="Calibri" panose="020F0502020204030204"/>
            </a:endParaRPr>
          </a:p>
        </p:txBody>
      </p:sp>
      <p:sp>
        <p:nvSpPr>
          <p:cNvPr id="12" name="Shape 10"/>
          <p:cNvSpPr/>
          <p:nvPr/>
        </p:nvSpPr>
        <p:spPr>
          <a:xfrm>
            <a:off x="642937" y="2414587"/>
            <a:ext cx="2235994" cy="7144"/>
          </a:xfrm>
          <a:prstGeom prst="rect">
            <a:avLst/>
          </a:prstGeom>
          <a:solidFill>
            <a:srgbClr val="9C3D3D">
              <a:alpha val="25098"/>
            </a:srgbClr>
          </a:solidFill>
          <a:ln/>
        </p:spPr>
        <p:txBody>
          <a:bodyPr/>
          <a:lstStyle/>
          <a:p>
            <a:endParaRPr lang="en-US"/>
          </a:p>
        </p:txBody>
      </p:sp>
      <p:sp>
        <p:nvSpPr>
          <p:cNvPr id="13" name="Text 11"/>
          <p:cNvSpPr/>
          <p:nvPr/>
        </p:nvSpPr>
        <p:spPr>
          <a:xfrm>
            <a:off x="571500" y="2514600"/>
            <a:ext cx="2378869" cy="1571625"/>
          </a:xfrm>
          <a:prstGeom prst="rect">
            <a:avLst/>
          </a:prstGeom>
          <a:noFill/>
          <a:ln/>
        </p:spPr>
        <p:txBody>
          <a:bodyPr wrap="square" lIns="0" tIns="0" rIns="0" bIns="0" rtlCol="0" anchor="t"/>
          <a:lstStyle/>
          <a:p>
            <a:pPr defTabSz="514350">
              <a:lnSpc>
                <a:spcPct val="160000"/>
              </a:lnSpc>
            </a:pPr>
            <a:r>
              <a:rPr lang="en-US" sz="1013" dirty="0">
                <a:solidFill>
                  <a:srgbClr val="2D2D2D"/>
                </a:solidFill>
                <a:latin typeface="QuattrocentoSans" pitchFamily="34" charset="0"/>
                <a:ea typeface="QuattrocentoSans" pitchFamily="34" charset="-122"/>
                <a:cs typeface="QuattrocentoSans" pitchFamily="34" charset="-120"/>
              </a:rPr>
              <a:t>当因素仅具有</a:t>
            </a:r>
            <a:r>
              <a:rPr lang="en-US" sz="1013" b="1" dirty="0">
                <a:solidFill>
                  <a:srgbClr val="2D2D2D"/>
                </a:solidFill>
                <a:latin typeface="QuattrocentoSans" pitchFamily="34" charset="0"/>
                <a:ea typeface="QuattrocentoSans" pitchFamily="34" charset="-122"/>
                <a:cs typeface="QuattrocentoSans" pitchFamily="34" charset="-120"/>
              </a:rPr>
              <a:t>预后效应</a:t>
            </a:r>
            <a:r>
              <a:rPr lang="en-US" sz="1013" dirty="0">
                <a:solidFill>
                  <a:srgbClr val="2D2D2D"/>
                </a:solidFill>
                <a:latin typeface="QuattrocentoSans" pitchFamily="34" charset="0"/>
                <a:ea typeface="QuattrocentoSans" pitchFamily="34" charset="-122"/>
                <a:cs typeface="QuattrocentoSans" pitchFamily="34" charset="-120"/>
              </a:rPr>
              <a:t>（影响疾病自然进程）但不具有</a:t>
            </a:r>
            <a:r>
              <a:rPr lang="en-US" sz="1013" b="1" dirty="0">
                <a:solidFill>
                  <a:srgbClr val="2D2D2D"/>
                </a:solidFill>
                <a:latin typeface="QuattrocentoSans" pitchFamily="34" charset="0"/>
                <a:ea typeface="QuattrocentoSans" pitchFamily="34" charset="-122"/>
                <a:cs typeface="QuattrocentoSans" pitchFamily="34" charset="-120"/>
              </a:rPr>
              <a:t>预测效应</a:t>
            </a:r>
            <a:r>
              <a:rPr lang="en-US" sz="1013" dirty="0">
                <a:solidFill>
                  <a:srgbClr val="2D2D2D"/>
                </a:solidFill>
                <a:latin typeface="QuattrocentoSans" pitchFamily="34" charset="0"/>
                <a:ea typeface="QuattrocentoSans" pitchFamily="34" charset="-122"/>
                <a:cs typeface="QuattrocentoSans" pitchFamily="34" charset="-120"/>
              </a:rPr>
              <a:t>（不影响治疗效果）时，分层通常不会提升统计效能，只会增加试验设计复杂性。</a:t>
            </a:r>
            <a:endParaRPr lang="en-US" sz="1013" dirty="0">
              <a:solidFill>
                <a:srgbClr val="000000"/>
              </a:solidFill>
              <a:latin typeface="Calibri" panose="020F0502020204030204"/>
            </a:endParaRPr>
          </a:p>
        </p:txBody>
      </p:sp>
      <p:sp>
        <p:nvSpPr>
          <p:cNvPr id="14" name="Shape 12"/>
          <p:cNvSpPr/>
          <p:nvPr/>
        </p:nvSpPr>
        <p:spPr>
          <a:xfrm>
            <a:off x="571500" y="4157663"/>
            <a:ext cx="2378869" cy="200025"/>
          </a:xfrm>
          <a:prstGeom prst="roundRect">
            <a:avLst>
              <a:gd name="adj" fmla="val 6000"/>
            </a:avLst>
          </a:prstGeom>
          <a:solidFill>
            <a:srgbClr val="FFFFFF"/>
          </a:solidFill>
          <a:ln/>
        </p:spPr>
        <p:txBody>
          <a:bodyPr/>
          <a:lstStyle/>
          <a:p>
            <a:endParaRPr lang="en-US"/>
          </a:p>
        </p:txBody>
      </p:sp>
      <p:sp>
        <p:nvSpPr>
          <p:cNvPr id="15" name="Shape 13"/>
          <p:cNvSpPr/>
          <p:nvPr/>
        </p:nvSpPr>
        <p:spPr>
          <a:xfrm>
            <a:off x="676870" y="4179094"/>
            <a:ext cx="117872" cy="157163"/>
          </a:xfrm>
          <a:custGeom>
            <a:avLst/>
            <a:gdLst/>
            <a:ahLst/>
            <a:cxnLst/>
            <a:rect l="l" t="t" r="r" b="b"/>
            <a:pathLst>
              <a:path w="209550" h="279400">
                <a:moveTo>
                  <a:pt x="159836" y="209550"/>
                </a:moveTo>
                <a:cubicBezTo>
                  <a:pt x="163820" y="197381"/>
                  <a:pt x="171787" y="186358"/>
                  <a:pt x="180791" y="176862"/>
                </a:cubicBezTo>
                <a:cubicBezTo>
                  <a:pt x="198636" y="158090"/>
                  <a:pt x="209550" y="132715"/>
                  <a:pt x="209550" y="104775"/>
                </a:cubicBezTo>
                <a:cubicBezTo>
                  <a:pt x="209550" y="46930"/>
                  <a:pt x="162620" y="0"/>
                  <a:pt x="104775" y="0"/>
                </a:cubicBezTo>
                <a:cubicBezTo>
                  <a:pt x="46930" y="0"/>
                  <a:pt x="0" y="46930"/>
                  <a:pt x="0" y="104775"/>
                </a:cubicBezTo>
                <a:cubicBezTo>
                  <a:pt x="0" y="132715"/>
                  <a:pt x="10914" y="158090"/>
                  <a:pt x="28759" y="176862"/>
                </a:cubicBezTo>
                <a:cubicBezTo>
                  <a:pt x="37763" y="186358"/>
                  <a:pt x="45784" y="197381"/>
                  <a:pt x="49714" y="209550"/>
                </a:cubicBezTo>
                <a:lnTo>
                  <a:pt x="159782" y="209550"/>
                </a:lnTo>
                <a:close/>
                <a:moveTo>
                  <a:pt x="157163" y="235744"/>
                </a:moveTo>
                <a:lnTo>
                  <a:pt x="52388" y="235744"/>
                </a:lnTo>
                <a:lnTo>
                  <a:pt x="52388" y="244475"/>
                </a:lnTo>
                <a:cubicBezTo>
                  <a:pt x="52388" y="268595"/>
                  <a:pt x="71924" y="288131"/>
                  <a:pt x="96044" y="288131"/>
                </a:cubicBezTo>
                <a:lnTo>
                  <a:pt x="113506" y="288131"/>
                </a:lnTo>
                <a:cubicBezTo>
                  <a:pt x="137626" y="288131"/>
                  <a:pt x="157163" y="268595"/>
                  <a:pt x="157163" y="244475"/>
                </a:cubicBezTo>
                <a:lnTo>
                  <a:pt x="157163" y="235744"/>
                </a:lnTo>
                <a:close/>
                <a:moveTo>
                  <a:pt x="100409" y="61119"/>
                </a:moveTo>
                <a:cubicBezTo>
                  <a:pt x="78690" y="61119"/>
                  <a:pt x="61119" y="78690"/>
                  <a:pt x="61119" y="100409"/>
                </a:cubicBezTo>
                <a:cubicBezTo>
                  <a:pt x="61119" y="107667"/>
                  <a:pt x="55280" y="113506"/>
                  <a:pt x="48022" y="113506"/>
                </a:cubicBezTo>
                <a:cubicBezTo>
                  <a:pt x="40764" y="113506"/>
                  <a:pt x="34925" y="107667"/>
                  <a:pt x="34925" y="100409"/>
                </a:cubicBezTo>
                <a:cubicBezTo>
                  <a:pt x="34925" y="64229"/>
                  <a:pt x="64229" y="34925"/>
                  <a:pt x="100409" y="34925"/>
                </a:cubicBezTo>
                <a:cubicBezTo>
                  <a:pt x="107667" y="34925"/>
                  <a:pt x="113506" y="40764"/>
                  <a:pt x="113506" y="48022"/>
                </a:cubicBezTo>
                <a:cubicBezTo>
                  <a:pt x="113506" y="55280"/>
                  <a:pt x="107667" y="61119"/>
                  <a:pt x="100409" y="61119"/>
                </a:cubicBezTo>
                <a:close/>
              </a:path>
            </a:pathLst>
          </a:custGeom>
          <a:solidFill>
            <a:srgbClr val="9C3D3D"/>
          </a:solidFill>
          <a:ln/>
        </p:spPr>
        <p:txBody>
          <a:bodyPr/>
          <a:lstStyle/>
          <a:p>
            <a:endParaRPr lang="en-US"/>
          </a:p>
        </p:txBody>
      </p:sp>
      <p:sp>
        <p:nvSpPr>
          <p:cNvPr id="16" name="Text 14"/>
          <p:cNvSpPr/>
          <p:nvPr/>
        </p:nvSpPr>
        <p:spPr>
          <a:xfrm>
            <a:off x="857250" y="4157663"/>
            <a:ext cx="2000250" cy="200025"/>
          </a:xfrm>
          <a:prstGeom prst="rect">
            <a:avLst/>
          </a:prstGeom>
          <a:noFill/>
          <a:ln/>
        </p:spPr>
        <p:txBody>
          <a:bodyPr wrap="square" lIns="0" tIns="0" rIns="0" bIns="0" rtlCol="0" anchor="ctr"/>
          <a:lstStyle/>
          <a:p>
            <a:pPr defTabSz="514350"/>
            <a:r>
              <a:rPr lang="en-US" sz="731" dirty="0">
                <a:solidFill>
                  <a:srgbClr val="666666"/>
                </a:solidFill>
                <a:latin typeface="Quattrocento Sans" pitchFamily="34" charset="0"/>
                <a:ea typeface="Quattrocento Sans" pitchFamily="34" charset="-122"/>
                <a:cs typeface="Quattrocento Sans" pitchFamily="34" charset="-120"/>
              </a:rPr>
              <a:t>区分预后效应与预测效应是分层决策的基础</a:t>
            </a:r>
            <a:endParaRPr lang="en-US" sz="900" dirty="0">
              <a:solidFill>
                <a:srgbClr val="000000"/>
              </a:solidFill>
              <a:latin typeface="Calibri" panose="020F0502020204030204"/>
            </a:endParaRPr>
          </a:p>
        </p:txBody>
      </p:sp>
      <p:sp>
        <p:nvSpPr>
          <p:cNvPr id="17" name="Shape 15"/>
          <p:cNvSpPr/>
          <p:nvPr/>
        </p:nvSpPr>
        <p:spPr>
          <a:xfrm>
            <a:off x="3236119" y="892969"/>
            <a:ext cx="2664619" cy="3964781"/>
          </a:xfrm>
          <a:prstGeom prst="roundRect">
            <a:avLst>
              <a:gd name="adj" fmla="val 8000"/>
            </a:avLst>
          </a:prstGeom>
          <a:solidFill>
            <a:srgbClr val="F5E6E6"/>
          </a:solidFill>
          <a:ln/>
        </p:spPr>
        <p:txBody>
          <a:bodyPr/>
          <a:lstStyle/>
          <a:p>
            <a:endParaRPr lang="en-US"/>
          </a:p>
        </p:txBody>
      </p:sp>
      <p:sp>
        <p:nvSpPr>
          <p:cNvPr id="18" name="Shape 16"/>
          <p:cNvSpPr/>
          <p:nvPr/>
        </p:nvSpPr>
        <p:spPr>
          <a:xfrm>
            <a:off x="3236119" y="892969"/>
            <a:ext cx="2664619" cy="35719"/>
          </a:xfrm>
          <a:prstGeom prst="rect">
            <a:avLst/>
          </a:prstGeom>
          <a:solidFill>
            <a:srgbClr val="9C3D3D"/>
          </a:solidFill>
          <a:ln/>
        </p:spPr>
        <p:txBody>
          <a:bodyPr/>
          <a:lstStyle/>
          <a:p>
            <a:endParaRPr lang="en-US"/>
          </a:p>
        </p:txBody>
      </p:sp>
      <p:sp>
        <p:nvSpPr>
          <p:cNvPr id="19" name="Text 17"/>
          <p:cNvSpPr/>
          <p:nvPr/>
        </p:nvSpPr>
        <p:spPr>
          <a:xfrm>
            <a:off x="3378994" y="1014412"/>
            <a:ext cx="714375" cy="157163"/>
          </a:xfrm>
          <a:prstGeom prst="rect">
            <a:avLst/>
          </a:prstGeom>
          <a:noFill/>
          <a:ln/>
        </p:spPr>
        <p:txBody>
          <a:bodyPr wrap="none" lIns="0" tIns="0" rIns="0" bIns="0" rtlCol="0" anchor="ctr"/>
          <a:lstStyle/>
          <a:p>
            <a:pPr defTabSz="514350"/>
            <a:r>
              <a:rPr lang="en-US" sz="731" b="1" kern="0" spc="113" dirty="0">
                <a:solidFill>
                  <a:srgbClr val="9C3D3D"/>
                </a:solidFill>
                <a:latin typeface="Quattrocento Sans" pitchFamily="34" charset="0"/>
                <a:ea typeface="Quattrocento Sans" pitchFamily="34" charset="-122"/>
                <a:cs typeface="Quattrocento Sans" pitchFamily="34" charset="-120"/>
              </a:rPr>
              <a:t>场景二</a:t>
            </a:r>
            <a:endParaRPr lang="en-US" sz="900" dirty="0">
              <a:solidFill>
                <a:srgbClr val="000000"/>
              </a:solidFill>
              <a:latin typeface="Calibri" panose="020F0502020204030204"/>
            </a:endParaRPr>
          </a:p>
        </p:txBody>
      </p:sp>
      <p:sp>
        <p:nvSpPr>
          <p:cNvPr id="20" name="Shape 18"/>
          <p:cNvSpPr/>
          <p:nvPr/>
        </p:nvSpPr>
        <p:spPr>
          <a:xfrm>
            <a:off x="4400550" y="1250156"/>
            <a:ext cx="342900" cy="342900"/>
          </a:xfrm>
          <a:custGeom>
            <a:avLst/>
            <a:gdLst/>
            <a:ahLst/>
            <a:cxnLst/>
            <a:rect l="l" t="t" r="r" b="b"/>
            <a:pathLst>
              <a:path w="609600" h="609600">
                <a:moveTo>
                  <a:pt x="304800" y="0"/>
                </a:moveTo>
                <a:cubicBezTo>
                  <a:pt x="322302" y="0"/>
                  <a:pt x="338376" y="9644"/>
                  <a:pt x="346710" y="25003"/>
                </a:cubicBezTo>
                <a:lnTo>
                  <a:pt x="603885" y="501253"/>
                </a:lnTo>
                <a:cubicBezTo>
                  <a:pt x="611862" y="516017"/>
                  <a:pt x="611505" y="533876"/>
                  <a:pt x="602933" y="548283"/>
                </a:cubicBezTo>
                <a:cubicBezTo>
                  <a:pt x="594360" y="562689"/>
                  <a:pt x="578763" y="571500"/>
                  <a:pt x="561975" y="571500"/>
                </a:cubicBezTo>
                <a:lnTo>
                  <a:pt x="47625" y="571500"/>
                </a:lnTo>
                <a:cubicBezTo>
                  <a:pt x="30837" y="571500"/>
                  <a:pt x="15359" y="562689"/>
                  <a:pt x="6668" y="548283"/>
                </a:cubicBezTo>
                <a:cubicBezTo>
                  <a:pt x="-2024" y="533876"/>
                  <a:pt x="-2262" y="516017"/>
                  <a:pt x="5715" y="501253"/>
                </a:cubicBezTo>
                <a:lnTo>
                  <a:pt x="262890" y="25003"/>
                </a:lnTo>
                <a:cubicBezTo>
                  <a:pt x="271224" y="9644"/>
                  <a:pt x="287298" y="0"/>
                  <a:pt x="304800" y="0"/>
                </a:cubicBezTo>
                <a:close/>
                <a:moveTo>
                  <a:pt x="304800" y="200025"/>
                </a:moveTo>
                <a:cubicBezTo>
                  <a:pt x="288965" y="200025"/>
                  <a:pt x="276225" y="212765"/>
                  <a:pt x="276225" y="228600"/>
                </a:cubicBezTo>
                <a:lnTo>
                  <a:pt x="276225" y="361950"/>
                </a:lnTo>
                <a:cubicBezTo>
                  <a:pt x="276225" y="377785"/>
                  <a:pt x="288965" y="390525"/>
                  <a:pt x="304800" y="390525"/>
                </a:cubicBezTo>
                <a:cubicBezTo>
                  <a:pt x="320635" y="390525"/>
                  <a:pt x="333375" y="377785"/>
                  <a:pt x="333375" y="361950"/>
                </a:cubicBezTo>
                <a:lnTo>
                  <a:pt x="333375" y="228600"/>
                </a:lnTo>
                <a:cubicBezTo>
                  <a:pt x="333375" y="212765"/>
                  <a:pt x="320635" y="200025"/>
                  <a:pt x="304800" y="200025"/>
                </a:cubicBezTo>
                <a:close/>
                <a:moveTo>
                  <a:pt x="336590" y="457200"/>
                </a:moveTo>
                <a:cubicBezTo>
                  <a:pt x="337313" y="445400"/>
                  <a:pt x="331428" y="434173"/>
                  <a:pt x="321313" y="428055"/>
                </a:cubicBezTo>
                <a:cubicBezTo>
                  <a:pt x="311197" y="421936"/>
                  <a:pt x="298522" y="421936"/>
                  <a:pt x="288406" y="428055"/>
                </a:cubicBezTo>
                <a:cubicBezTo>
                  <a:pt x="278291" y="434173"/>
                  <a:pt x="272406" y="445400"/>
                  <a:pt x="273129" y="457200"/>
                </a:cubicBezTo>
                <a:cubicBezTo>
                  <a:pt x="272406" y="469000"/>
                  <a:pt x="278291" y="480227"/>
                  <a:pt x="288406" y="486345"/>
                </a:cubicBezTo>
                <a:cubicBezTo>
                  <a:pt x="298522" y="492464"/>
                  <a:pt x="311197" y="492464"/>
                  <a:pt x="321313" y="486345"/>
                </a:cubicBezTo>
                <a:cubicBezTo>
                  <a:pt x="331428" y="480227"/>
                  <a:pt x="337313" y="469000"/>
                  <a:pt x="336590" y="457200"/>
                </a:cubicBezTo>
                <a:close/>
              </a:path>
            </a:pathLst>
          </a:custGeom>
          <a:solidFill>
            <a:srgbClr val="9C3D3D"/>
          </a:solidFill>
          <a:ln/>
        </p:spPr>
        <p:txBody>
          <a:bodyPr/>
          <a:lstStyle/>
          <a:p>
            <a:endParaRPr lang="en-US"/>
          </a:p>
        </p:txBody>
      </p:sp>
      <p:sp>
        <p:nvSpPr>
          <p:cNvPr id="21" name="Text 19"/>
          <p:cNvSpPr/>
          <p:nvPr/>
        </p:nvSpPr>
        <p:spPr>
          <a:xfrm>
            <a:off x="3378994" y="1700212"/>
            <a:ext cx="2378869" cy="214313"/>
          </a:xfrm>
          <a:prstGeom prst="rect">
            <a:avLst/>
          </a:prstGeom>
          <a:noFill/>
          <a:ln/>
        </p:spPr>
        <p:txBody>
          <a:bodyPr wrap="none" lIns="0" tIns="0" rIns="0" bIns="0" rtlCol="0" anchor="ctr"/>
          <a:lstStyle/>
          <a:p>
            <a:pPr algn="ctr" defTabSz="514350"/>
            <a:r>
              <a:rPr lang="en-US" sz="1238" b="1" dirty="0">
                <a:solidFill>
                  <a:srgbClr val="9C3D3D"/>
                </a:solidFill>
                <a:latin typeface="QuattrocentoSans" pitchFamily="34" charset="0"/>
                <a:ea typeface="QuattrocentoSans" pitchFamily="34" charset="-122"/>
                <a:cs typeface="QuattrocentoSans" pitchFamily="34" charset="-120"/>
              </a:rPr>
              <a:t>预后差且疗效更优</a:t>
            </a:r>
            <a:endParaRPr lang="en-US" sz="1238" dirty="0">
              <a:solidFill>
                <a:srgbClr val="000000"/>
              </a:solidFill>
              <a:latin typeface="Calibri" panose="020F0502020204030204"/>
            </a:endParaRPr>
          </a:p>
        </p:txBody>
      </p:sp>
      <p:sp>
        <p:nvSpPr>
          <p:cNvPr id="22" name="Shape 20"/>
          <p:cNvSpPr/>
          <p:nvPr/>
        </p:nvSpPr>
        <p:spPr>
          <a:xfrm>
            <a:off x="3378994" y="2000250"/>
            <a:ext cx="2378869" cy="300038"/>
          </a:xfrm>
          <a:prstGeom prst="roundRect">
            <a:avLst>
              <a:gd name="adj" fmla="val 6000"/>
            </a:avLst>
          </a:prstGeom>
          <a:solidFill>
            <a:srgbClr val="9C3D3D">
              <a:alpha val="9412"/>
            </a:srgbClr>
          </a:solidFill>
          <a:ln/>
        </p:spPr>
        <p:txBody>
          <a:bodyPr/>
          <a:lstStyle/>
          <a:p>
            <a:endParaRPr lang="en-US"/>
          </a:p>
        </p:txBody>
      </p:sp>
      <p:sp>
        <p:nvSpPr>
          <p:cNvPr id="23" name="Text 21"/>
          <p:cNvSpPr/>
          <p:nvPr/>
        </p:nvSpPr>
        <p:spPr>
          <a:xfrm>
            <a:off x="3378994" y="2000250"/>
            <a:ext cx="2378869" cy="300038"/>
          </a:xfrm>
          <a:prstGeom prst="rect">
            <a:avLst/>
          </a:prstGeom>
          <a:noFill/>
          <a:ln/>
        </p:spPr>
        <p:txBody>
          <a:bodyPr wrap="none" lIns="0" tIns="0" rIns="0" bIns="0" rtlCol="0" anchor="ctr"/>
          <a:lstStyle/>
          <a:p>
            <a:pPr algn="ctr" defTabSz="514350"/>
            <a:r>
              <a:rPr lang="en-US" sz="1013" b="1" dirty="0">
                <a:solidFill>
                  <a:srgbClr val="7A2E2E"/>
                </a:solidFill>
                <a:latin typeface="Quattrocento Sans" pitchFamily="34" charset="0"/>
                <a:ea typeface="Quattrocento Sans" pitchFamily="34" charset="-122"/>
                <a:cs typeface="Quattrocento Sans" pitchFamily="34" charset="-120"/>
              </a:rPr>
              <a:t>不损害power，但需审慎</a:t>
            </a:r>
            <a:endParaRPr lang="en-US" sz="900" dirty="0">
              <a:solidFill>
                <a:srgbClr val="000000"/>
              </a:solidFill>
              <a:latin typeface="Calibri" panose="020F0502020204030204"/>
            </a:endParaRPr>
          </a:p>
        </p:txBody>
      </p:sp>
      <p:sp>
        <p:nvSpPr>
          <p:cNvPr id="24" name="Shape 22"/>
          <p:cNvSpPr/>
          <p:nvPr/>
        </p:nvSpPr>
        <p:spPr>
          <a:xfrm>
            <a:off x="3450431" y="2414587"/>
            <a:ext cx="2235994" cy="7144"/>
          </a:xfrm>
          <a:prstGeom prst="rect">
            <a:avLst/>
          </a:prstGeom>
          <a:solidFill>
            <a:srgbClr val="9C3D3D">
              <a:alpha val="25098"/>
            </a:srgbClr>
          </a:solidFill>
          <a:ln/>
        </p:spPr>
        <p:txBody>
          <a:bodyPr/>
          <a:lstStyle/>
          <a:p>
            <a:endParaRPr lang="en-US"/>
          </a:p>
        </p:txBody>
      </p:sp>
      <p:sp>
        <p:nvSpPr>
          <p:cNvPr id="25" name="Text 23"/>
          <p:cNvSpPr/>
          <p:nvPr/>
        </p:nvSpPr>
        <p:spPr>
          <a:xfrm>
            <a:off x="3378994" y="2514600"/>
            <a:ext cx="2378869" cy="1571625"/>
          </a:xfrm>
          <a:prstGeom prst="rect">
            <a:avLst/>
          </a:prstGeom>
          <a:noFill/>
          <a:ln/>
        </p:spPr>
        <p:txBody>
          <a:bodyPr wrap="square" lIns="0" tIns="0" rIns="0" bIns="0" rtlCol="0" anchor="t"/>
          <a:lstStyle/>
          <a:p>
            <a:pPr defTabSz="514350">
              <a:lnSpc>
                <a:spcPct val="160000"/>
              </a:lnSpc>
            </a:pPr>
            <a:r>
              <a:rPr lang="en-US" sz="1013" dirty="0">
                <a:solidFill>
                  <a:srgbClr val="2D2D2D"/>
                </a:solidFill>
                <a:latin typeface="QuattrocentoSans" pitchFamily="34" charset="0"/>
                <a:ea typeface="QuattrocentoSans" pitchFamily="34" charset="-122"/>
                <a:cs typeface="QuattrocentoSans" pitchFamily="34" charset="-120"/>
              </a:rPr>
              <a:t>当因素同时具有两种效应时，纳入分层需谨慎。在</a:t>
            </a:r>
            <a:r>
              <a:rPr lang="en-US" sz="1013" b="1" dirty="0">
                <a:solidFill>
                  <a:srgbClr val="2D2D2D"/>
                </a:solidFill>
                <a:latin typeface="QuattrocentoSans" pitchFamily="34" charset="0"/>
                <a:ea typeface="QuattrocentoSans" pitchFamily="34" charset="-122"/>
                <a:cs typeface="QuattrocentoSans" pitchFamily="34" charset="-120"/>
              </a:rPr>
              <a:t>预后较差</a:t>
            </a:r>
            <a:r>
              <a:rPr lang="en-US" sz="1013" dirty="0">
                <a:solidFill>
                  <a:srgbClr val="2D2D2D"/>
                </a:solidFill>
                <a:latin typeface="QuattrocentoSans" pitchFamily="34" charset="0"/>
                <a:ea typeface="QuattrocentoSans" pitchFamily="34" charset="-122"/>
                <a:cs typeface="QuattrocentoSans" pitchFamily="34" charset="-120"/>
              </a:rPr>
              <a:t>亚组中疗效更优时，虽不损害整体power，但需分析总体阳性结果是否主要由该亚组驱动。</a:t>
            </a:r>
            <a:endParaRPr lang="en-US" sz="1013" dirty="0">
              <a:solidFill>
                <a:srgbClr val="000000"/>
              </a:solidFill>
              <a:latin typeface="Calibri" panose="020F0502020204030204"/>
            </a:endParaRPr>
          </a:p>
        </p:txBody>
      </p:sp>
      <p:sp>
        <p:nvSpPr>
          <p:cNvPr id="26" name="Shape 24"/>
          <p:cNvSpPr/>
          <p:nvPr/>
        </p:nvSpPr>
        <p:spPr>
          <a:xfrm>
            <a:off x="3378994" y="4157663"/>
            <a:ext cx="2378869" cy="200025"/>
          </a:xfrm>
          <a:prstGeom prst="roundRect">
            <a:avLst>
              <a:gd name="adj" fmla="val 6000"/>
            </a:avLst>
          </a:prstGeom>
          <a:solidFill>
            <a:srgbClr val="FFFFFF"/>
          </a:solidFill>
          <a:ln/>
        </p:spPr>
        <p:txBody>
          <a:bodyPr/>
          <a:lstStyle/>
          <a:p>
            <a:endParaRPr lang="en-US"/>
          </a:p>
        </p:txBody>
      </p:sp>
      <p:sp>
        <p:nvSpPr>
          <p:cNvPr id="27" name="Shape 25"/>
          <p:cNvSpPr/>
          <p:nvPr/>
        </p:nvSpPr>
        <p:spPr>
          <a:xfrm>
            <a:off x="3484364" y="4179094"/>
            <a:ext cx="117872" cy="157163"/>
          </a:xfrm>
          <a:custGeom>
            <a:avLst/>
            <a:gdLst/>
            <a:ahLst/>
            <a:cxnLst/>
            <a:rect l="l" t="t" r="r" b="b"/>
            <a:pathLst>
              <a:path w="209550" h="279400">
                <a:moveTo>
                  <a:pt x="159836" y="209550"/>
                </a:moveTo>
                <a:cubicBezTo>
                  <a:pt x="163820" y="197381"/>
                  <a:pt x="171787" y="186358"/>
                  <a:pt x="180791" y="176862"/>
                </a:cubicBezTo>
                <a:cubicBezTo>
                  <a:pt x="198636" y="158090"/>
                  <a:pt x="209550" y="132715"/>
                  <a:pt x="209550" y="104775"/>
                </a:cubicBezTo>
                <a:cubicBezTo>
                  <a:pt x="209550" y="46930"/>
                  <a:pt x="162620" y="0"/>
                  <a:pt x="104775" y="0"/>
                </a:cubicBezTo>
                <a:cubicBezTo>
                  <a:pt x="46930" y="0"/>
                  <a:pt x="0" y="46930"/>
                  <a:pt x="0" y="104775"/>
                </a:cubicBezTo>
                <a:cubicBezTo>
                  <a:pt x="0" y="132715"/>
                  <a:pt x="10914" y="158090"/>
                  <a:pt x="28759" y="176862"/>
                </a:cubicBezTo>
                <a:cubicBezTo>
                  <a:pt x="37763" y="186358"/>
                  <a:pt x="45784" y="197381"/>
                  <a:pt x="49714" y="209550"/>
                </a:cubicBezTo>
                <a:lnTo>
                  <a:pt x="159782" y="209550"/>
                </a:lnTo>
                <a:close/>
                <a:moveTo>
                  <a:pt x="157163" y="235744"/>
                </a:moveTo>
                <a:lnTo>
                  <a:pt x="52388" y="235744"/>
                </a:lnTo>
                <a:lnTo>
                  <a:pt x="52388" y="244475"/>
                </a:lnTo>
                <a:cubicBezTo>
                  <a:pt x="52388" y="268595"/>
                  <a:pt x="71924" y="288131"/>
                  <a:pt x="96044" y="288131"/>
                </a:cubicBezTo>
                <a:lnTo>
                  <a:pt x="113506" y="288131"/>
                </a:lnTo>
                <a:cubicBezTo>
                  <a:pt x="137626" y="288131"/>
                  <a:pt x="157163" y="268595"/>
                  <a:pt x="157163" y="244475"/>
                </a:cubicBezTo>
                <a:lnTo>
                  <a:pt x="157163" y="235744"/>
                </a:lnTo>
                <a:close/>
                <a:moveTo>
                  <a:pt x="100409" y="61119"/>
                </a:moveTo>
                <a:cubicBezTo>
                  <a:pt x="78690" y="61119"/>
                  <a:pt x="61119" y="78690"/>
                  <a:pt x="61119" y="100409"/>
                </a:cubicBezTo>
                <a:cubicBezTo>
                  <a:pt x="61119" y="107667"/>
                  <a:pt x="55280" y="113506"/>
                  <a:pt x="48022" y="113506"/>
                </a:cubicBezTo>
                <a:cubicBezTo>
                  <a:pt x="40764" y="113506"/>
                  <a:pt x="34925" y="107667"/>
                  <a:pt x="34925" y="100409"/>
                </a:cubicBezTo>
                <a:cubicBezTo>
                  <a:pt x="34925" y="64229"/>
                  <a:pt x="64229" y="34925"/>
                  <a:pt x="100409" y="34925"/>
                </a:cubicBezTo>
                <a:cubicBezTo>
                  <a:pt x="107667" y="34925"/>
                  <a:pt x="113506" y="40764"/>
                  <a:pt x="113506" y="48022"/>
                </a:cubicBezTo>
                <a:cubicBezTo>
                  <a:pt x="113506" y="55280"/>
                  <a:pt x="107667" y="61119"/>
                  <a:pt x="100409" y="61119"/>
                </a:cubicBezTo>
                <a:close/>
              </a:path>
            </a:pathLst>
          </a:custGeom>
          <a:solidFill>
            <a:srgbClr val="9C3D3D"/>
          </a:solidFill>
          <a:ln/>
        </p:spPr>
        <p:txBody>
          <a:bodyPr/>
          <a:lstStyle/>
          <a:p>
            <a:endParaRPr lang="en-US"/>
          </a:p>
        </p:txBody>
      </p:sp>
      <p:sp>
        <p:nvSpPr>
          <p:cNvPr id="28" name="Text 26"/>
          <p:cNvSpPr/>
          <p:nvPr/>
        </p:nvSpPr>
        <p:spPr>
          <a:xfrm>
            <a:off x="3664744" y="4157663"/>
            <a:ext cx="2000250" cy="200025"/>
          </a:xfrm>
          <a:prstGeom prst="rect">
            <a:avLst/>
          </a:prstGeom>
          <a:noFill/>
          <a:ln/>
        </p:spPr>
        <p:txBody>
          <a:bodyPr wrap="square" lIns="0" tIns="0" rIns="0" bIns="0" rtlCol="0" anchor="ctr"/>
          <a:lstStyle/>
          <a:p>
            <a:pPr defTabSz="514350"/>
            <a:r>
              <a:rPr lang="en-US" sz="731" dirty="0">
                <a:solidFill>
                  <a:srgbClr val="666666"/>
                </a:solidFill>
                <a:latin typeface="Quattrocento Sans" pitchFamily="34" charset="0"/>
                <a:ea typeface="Quattrocento Sans" pitchFamily="34" charset="-122"/>
                <a:cs typeface="Quattrocento Sans" pitchFamily="34" charset="-120"/>
              </a:rPr>
              <a:t>关注亚组效应与总体效应的一致性</a:t>
            </a:r>
            <a:endParaRPr lang="en-US" sz="900" dirty="0">
              <a:solidFill>
                <a:srgbClr val="000000"/>
              </a:solidFill>
              <a:latin typeface="Calibri" panose="020F0502020204030204"/>
            </a:endParaRPr>
          </a:p>
        </p:txBody>
      </p:sp>
      <p:sp>
        <p:nvSpPr>
          <p:cNvPr id="29" name="Shape 27"/>
          <p:cNvSpPr/>
          <p:nvPr/>
        </p:nvSpPr>
        <p:spPr>
          <a:xfrm>
            <a:off x="6043612" y="892969"/>
            <a:ext cx="2671763" cy="3964781"/>
          </a:xfrm>
          <a:prstGeom prst="roundRect">
            <a:avLst>
              <a:gd name="adj" fmla="val 8000"/>
            </a:avLst>
          </a:prstGeom>
          <a:solidFill>
            <a:srgbClr val="F5E6E6"/>
          </a:solidFill>
          <a:ln/>
        </p:spPr>
        <p:txBody>
          <a:bodyPr/>
          <a:lstStyle/>
          <a:p>
            <a:endParaRPr lang="en-US"/>
          </a:p>
        </p:txBody>
      </p:sp>
      <p:sp>
        <p:nvSpPr>
          <p:cNvPr id="30" name="Shape 28"/>
          <p:cNvSpPr/>
          <p:nvPr/>
        </p:nvSpPr>
        <p:spPr>
          <a:xfrm>
            <a:off x="6043612" y="892969"/>
            <a:ext cx="2671763" cy="35719"/>
          </a:xfrm>
          <a:prstGeom prst="rect">
            <a:avLst/>
          </a:prstGeom>
          <a:solidFill>
            <a:srgbClr val="9C3D3D"/>
          </a:solidFill>
          <a:ln/>
        </p:spPr>
        <p:txBody>
          <a:bodyPr/>
          <a:lstStyle/>
          <a:p>
            <a:endParaRPr lang="en-US"/>
          </a:p>
        </p:txBody>
      </p:sp>
      <p:sp>
        <p:nvSpPr>
          <p:cNvPr id="31" name="Text 29"/>
          <p:cNvSpPr/>
          <p:nvPr/>
        </p:nvSpPr>
        <p:spPr>
          <a:xfrm>
            <a:off x="6186488" y="1014412"/>
            <a:ext cx="714375" cy="157163"/>
          </a:xfrm>
          <a:prstGeom prst="rect">
            <a:avLst/>
          </a:prstGeom>
          <a:noFill/>
          <a:ln/>
        </p:spPr>
        <p:txBody>
          <a:bodyPr wrap="none" lIns="0" tIns="0" rIns="0" bIns="0" rtlCol="0" anchor="ctr"/>
          <a:lstStyle/>
          <a:p>
            <a:pPr defTabSz="514350"/>
            <a:r>
              <a:rPr lang="en-US" sz="731" b="1" kern="0" spc="113" dirty="0">
                <a:solidFill>
                  <a:srgbClr val="9C3D3D"/>
                </a:solidFill>
                <a:latin typeface="Quattrocento Sans" pitchFamily="34" charset="0"/>
                <a:ea typeface="Quattrocento Sans" pitchFamily="34" charset="-122"/>
                <a:cs typeface="Quattrocento Sans" pitchFamily="34" charset="-120"/>
              </a:rPr>
              <a:t>场景三</a:t>
            </a:r>
            <a:endParaRPr lang="en-US" sz="900" dirty="0">
              <a:solidFill>
                <a:srgbClr val="000000"/>
              </a:solidFill>
              <a:latin typeface="Calibri" panose="020F0502020204030204"/>
            </a:endParaRPr>
          </a:p>
        </p:txBody>
      </p:sp>
      <p:sp>
        <p:nvSpPr>
          <p:cNvPr id="32" name="Shape 30"/>
          <p:cNvSpPr/>
          <p:nvPr/>
        </p:nvSpPr>
        <p:spPr>
          <a:xfrm>
            <a:off x="7208044" y="1250156"/>
            <a:ext cx="342900" cy="342900"/>
          </a:xfrm>
          <a:custGeom>
            <a:avLst/>
            <a:gdLst/>
            <a:ahLst/>
            <a:cxnLst/>
            <a:rect l="l" t="t" r="r" b="b"/>
            <a:pathLst>
              <a:path w="609600" h="609600">
                <a:moveTo>
                  <a:pt x="76200" y="76200"/>
                </a:moveTo>
                <a:cubicBezTo>
                  <a:pt x="76200" y="55126"/>
                  <a:pt x="59174" y="38100"/>
                  <a:pt x="38100" y="38100"/>
                </a:cubicBezTo>
                <a:cubicBezTo>
                  <a:pt x="17026" y="38100"/>
                  <a:pt x="0" y="55126"/>
                  <a:pt x="0" y="76200"/>
                </a:cubicBezTo>
                <a:lnTo>
                  <a:pt x="0" y="476250"/>
                </a:lnTo>
                <a:cubicBezTo>
                  <a:pt x="0" y="528876"/>
                  <a:pt x="42624" y="571500"/>
                  <a:pt x="95250" y="571500"/>
                </a:cubicBezTo>
                <a:lnTo>
                  <a:pt x="571500" y="571500"/>
                </a:lnTo>
                <a:cubicBezTo>
                  <a:pt x="592574" y="571500"/>
                  <a:pt x="609600" y="554474"/>
                  <a:pt x="609600" y="533400"/>
                </a:cubicBezTo>
                <a:cubicBezTo>
                  <a:pt x="609600" y="512326"/>
                  <a:pt x="592574" y="495300"/>
                  <a:pt x="571500" y="495300"/>
                </a:cubicBezTo>
                <a:lnTo>
                  <a:pt x="95250" y="495300"/>
                </a:lnTo>
                <a:cubicBezTo>
                  <a:pt x="84773" y="495300"/>
                  <a:pt x="76200" y="486728"/>
                  <a:pt x="76200" y="476250"/>
                </a:cubicBezTo>
                <a:lnTo>
                  <a:pt x="76200" y="76200"/>
                </a:lnTo>
                <a:close/>
                <a:moveTo>
                  <a:pt x="560308" y="179308"/>
                </a:moveTo>
                <a:cubicBezTo>
                  <a:pt x="575191" y="164425"/>
                  <a:pt x="575191" y="140256"/>
                  <a:pt x="560308" y="125373"/>
                </a:cubicBezTo>
                <a:cubicBezTo>
                  <a:pt x="545425" y="110490"/>
                  <a:pt x="521256" y="110490"/>
                  <a:pt x="506373" y="125373"/>
                </a:cubicBezTo>
                <a:lnTo>
                  <a:pt x="381000" y="250865"/>
                </a:lnTo>
                <a:lnTo>
                  <a:pt x="312658" y="182642"/>
                </a:lnTo>
                <a:cubicBezTo>
                  <a:pt x="297775" y="167759"/>
                  <a:pt x="273606" y="167759"/>
                  <a:pt x="258723" y="182642"/>
                </a:cubicBezTo>
                <a:lnTo>
                  <a:pt x="144423" y="296942"/>
                </a:lnTo>
                <a:cubicBezTo>
                  <a:pt x="129540" y="311825"/>
                  <a:pt x="129540" y="335994"/>
                  <a:pt x="144423" y="350877"/>
                </a:cubicBezTo>
                <a:cubicBezTo>
                  <a:pt x="159306" y="365760"/>
                  <a:pt x="183475" y="365760"/>
                  <a:pt x="198358" y="350877"/>
                </a:cubicBezTo>
                <a:lnTo>
                  <a:pt x="285750" y="263485"/>
                </a:lnTo>
                <a:lnTo>
                  <a:pt x="354092" y="331827"/>
                </a:lnTo>
                <a:cubicBezTo>
                  <a:pt x="368975" y="346710"/>
                  <a:pt x="393144" y="346710"/>
                  <a:pt x="408027" y="331827"/>
                </a:cubicBezTo>
                <a:lnTo>
                  <a:pt x="560427" y="179427"/>
                </a:lnTo>
                <a:close/>
              </a:path>
            </a:pathLst>
          </a:custGeom>
          <a:solidFill>
            <a:srgbClr val="9C3D3D"/>
          </a:solidFill>
          <a:ln/>
        </p:spPr>
        <p:txBody>
          <a:bodyPr/>
          <a:lstStyle/>
          <a:p>
            <a:endParaRPr lang="en-US"/>
          </a:p>
        </p:txBody>
      </p:sp>
      <p:sp>
        <p:nvSpPr>
          <p:cNvPr id="33" name="Text 31"/>
          <p:cNvSpPr/>
          <p:nvPr/>
        </p:nvSpPr>
        <p:spPr>
          <a:xfrm>
            <a:off x="6186487" y="1700212"/>
            <a:ext cx="2386013" cy="214313"/>
          </a:xfrm>
          <a:prstGeom prst="rect">
            <a:avLst/>
          </a:prstGeom>
          <a:noFill/>
          <a:ln/>
        </p:spPr>
        <p:txBody>
          <a:bodyPr wrap="none" lIns="0" tIns="0" rIns="0" bIns="0" rtlCol="0" anchor="ctr"/>
          <a:lstStyle/>
          <a:p>
            <a:pPr algn="ctr" defTabSz="514350"/>
            <a:r>
              <a:rPr lang="en-US" sz="1238" b="1" dirty="0">
                <a:solidFill>
                  <a:srgbClr val="9C3D3D"/>
                </a:solidFill>
                <a:latin typeface="QuattrocentoSans" pitchFamily="34" charset="0"/>
                <a:ea typeface="QuattrocentoSans" pitchFamily="34" charset="-122"/>
                <a:cs typeface="QuattrocentoSans" pitchFamily="34" charset="-120"/>
              </a:rPr>
              <a:t>预后好且疗效更好</a:t>
            </a:r>
            <a:endParaRPr lang="en-US" sz="1238" dirty="0">
              <a:solidFill>
                <a:srgbClr val="000000"/>
              </a:solidFill>
              <a:latin typeface="Calibri" panose="020F0502020204030204"/>
            </a:endParaRPr>
          </a:p>
        </p:txBody>
      </p:sp>
      <p:sp>
        <p:nvSpPr>
          <p:cNvPr id="34" name="Shape 32"/>
          <p:cNvSpPr/>
          <p:nvPr/>
        </p:nvSpPr>
        <p:spPr>
          <a:xfrm>
            <a:off x="6186487" y="2000250"/>
            <a:ext cx="2386013" cy="300038"/>
          </a:xfrm>
          <a:prstGeom prst="roundRect">
            <a:avLst>
              <a:gd name="adj" fmla="val 6000"/>
            </a:avLst>
          </a:prstGeom>
          <a:solidFill>
            <a:srgbClr val="9C3D3D">
              <a:alpha val="9412"/>
            </a:srgbClr>
          </a:solidFill>
          <a:ln/>
        </p:spPr>
        <p:txBody>
          <a:bodyPr/>
          <a:lstStyle/>
          <a:p>
            <a:endParaRPr lang="en-US"/>
          </a:p>
        </p:txBody>
      </p:sp>
      <p:sp>
        <p:nvSpPr>
          <p:cNvPr id="35" name="Text 33"/>
          <p:cNvSpPr/>
          <p:nvPr/>
        </p:nvSpPr>
        <p:spPr>
          <a:xfrm>
            <a:off x="6186487" y="2000250"/>
            <a:ext cx="2386013" cy="300038"/>
          </a:xfrm>
          <a:prstGeom prst="rect">
            <a:avLst/>
          </a:prstGeom>
          <a:noFill/>
          <a:ln/>
        </p:spPr>
        <p:txBody>
          <a:bodyPr wrap="none" lIns="0" tIns="0" rIns="0" bIns="0" rtlCol="0" anchor="ctr"/>
          <a:lstStyle/>
          <a:p>
            <a:pPr algn="ctr" defTabSz="514350"/>
            <a:r>
              <a:rPr lang="en-US" sz="1013" b="1" dirty="0">
                <a:solidFill>
                  <a:srgbClr val="7A2E2E"/>
                </a:solidFill>
                <a:latin typeface="Quattrocento Sans" pitchFamily="34" charset="0"/>
                <a:ea typeface="Quattrocento Sans" pitchFamily="34" charset="-122"/>
                <a:cs typeface="Quattrocento Sans" pitchFamily="34" charset="-120"/>
              </a:rPr>
              <a:t>潜在降低power，需评估</a:t>
            </a:r>
            <a:endParaRPr lang="en-US" sz="900" dirty="0">
              <a:solidFill>
                <a:srgbClr val="000000"/>
              </a:solidFill>
              <a:latin typeface="Calibri" panose="020F0502020204030204"/>
            </a:endParaRPr>
          </a:p>
        </p:txBody>
      </p:sp>
      <p:sp>
        <p:nvSpPr>
          <p:cNvPr id="36" name="Shape 34"/>
          <p:cNvSpPr/>
          <p:nvPr/>
        </p:nvSpPr>
        <p:spPr>
          <a:xfrm>
            <a:off x="6257925" y="2414587"/>
            <a:ext cx="2243138" cy="7144"/>
          </a:xfrm>
          <a:prstGeom prst="rect">
            <a:avLst/>
          </a:prstGeom>
          <a:solidFill>
            <a:srgbClr val="9C3D3D">
              <a:alpha val="25098"/>
            </a:srgbClr>
          </a:solidFill>
          <a:ln/>
        </p:spPr>
        <p:txBody>
          <a:bodyPr/>
          <a:lstStyle/>
          <a:p>
            <a:endParaRPr lang="en-US"/>
          </a:p>
        </p:txBody>
      </p:sp>
      <p:sp>
        <p:nvSpPr>
          <p:cNvPr id="37" name="Text 35"/>
          <p:cNvSpPr/>
          <p:nvPr/>
        </p:nvSpPr>
        <p:spPr>
          <a:xfrm>
            <a:off x="6186487" y="2514600"/>
            <a:ext cx="2386013" cy="1571625"/>
          </a:xfrm>
          <a:prstGeom prst="rect">
            <a:avLst/>
          </a:prstGeom>
          <a:noFill/>
          <a:ln/>
        </p:spPr>
        <p:txBody>
          <a:bodyPr wrap="square" lIns="0" tIns="0" rIns="0" bIns="0" rtlCol="0" anchor="t"/>
          <a:lstStyle/>
          <a:p>
            <a:pPr defTabSz="514350">
              <a:lnSpc>
                <a:spcPct val="160000"/>
              </a:lnSpc>
            </a:pPr>
            <a:r>
              <a:rPr lang="en-US" sz="1013" dirty="0">
                <a:solidFill>
                  <a:srgbClr val="2D2D2D"/>
                </a:solidFill>
                <a:latin typeface="QuattrocentoSans" pitchFamily="34" charset="0"/>
                <a:ea typeface="QuattrocentoSans" pitchFamily="34" charset="-122"/>
                <a:cs typeface="QuattrocentoSans" pitchFamily="34" charset="-120"/>
              </a:rPr>
              <a:t>当因素同时具有两种效应，且在</a:t>
            </a:r>
            <a:r>
              <a:rPr lang="en-US" sz="1013" b="1" dirty="0">
                <a:solidFill>
                  <a:srgbClr val="2D2D2D"/>
                </a:solidFill>
                <a:latin typeface="QuattrocentoSans" pitchFamily="34" charset="0"/>
                <a:ea typeface="QuattrocentoSans" pitchFamily="34" charset="-122"/>
                <a:cs typeface="QuattrocentoSans" pitchFamily="34" charset="-120"/>
              </a:rPr>
              <a:t>预后较好</a:t>
            </a:r>
            <a:r>
              <a:rPr lang="en-US" sz="1013" dirty="0">
                <a:solidFill>
                  <a:srgbClr val="2D2D2D"/>
                </a:solidFill>
                <a:latin typeface="QuattrocentoSans" pitchFamily="34" charset="0"/>
                <a:ea typeface="QuattrocentoSans" pitchFamily="34" charset="-122"/>
                <a:cs typeface="QuattrocentoSans" pitchFamily="34" charset="-120"/>
              </a:rPr>
              <a:t>的患者中疗效更优时，分层可能潜在降低整体检验效能，需定量评估对power的影响程度。</a:t>
            </a:r>
            <a:endParaRPr lang="en-US" sz="1013" dirty="0">
              <a:solidFill>
                <a:srgbClr val="000000"/>
              </a:solidFill>
              <a:latin typeface="Calibri" panose="020F0502020204030204"/>
            </a:endParaRPr>
          </a:p>
        </p:txBody>
      </p:sp>
      <p:sp>
        <p:nvSpPr>
          <p:cNvPr id="38" name="Shape 36"/>
          <p:cNvSpPr/>
          <p:nvPr/>
        </p:nvSpPr>
        <p:spPr>
          <a:xfrm>
            <a:off x="6186487" y="4157663"/>
            <a:ext cx="2386013" cy="200025"/>
          </a:xfrm>
          <a:prstGeom prst="roundRect">
            <a:avLst>
              <a:gd name="adj" fmla="val 6000"/>
            </a:avLst>
          </a:prstGeom>
          <a:solidFill>
            <a:srgbClr val="FFFFFF"/>
          </a:solidFill>
          <a:ln/>
        </p:spPr>
        <p:txBody>
          <a:bodyPr/>
          <a:lstStyle/>
          <a:p>
            <a:endParaRPr lang="en-US"/>
          </a:p>
        </p:txBody>
      </p:sp>
      <p:sp>
        <p:nvSpPr>
          <p:cNvPr id="39" name="Shape 37"/>
          <p:cNvSpPr/>
          <p:nvPr/>
        </p:nvSpPr>
        <p:spPr>
          <a:xfrm>
            <a:off x="6291858" y="4179094"/>
            <a:ext cx="117872" cy="157163"/>
          </a:xfrm>
          <a:custGeom>
            <a:avLst/>
            <a:gdLst/>
            <a:ahLst/>
            <a:cxnLst/>
            <a:rect l="l" t="t" r="r" b="b"/>
            <a:pathLst>
              <a:path w="209550" h="279400">
                <a:moveTo>
                  <a:pt x="159836" y="209550"/>
                </a:moveTo>
                <a:cubicBezTo>
                  <a:pt x="163820" y="197381"/>
                  <a:pt x="171787" y="186358"/>
                  <a:pt x="180791" y="176862"/>
                </a:cubicBezTo>
                <a:cubicBezTo>
                  <a:pt x="198636" y="158090"/>
                  <a:pt x="209550" y="132715"/>
                  <a:pt x="209550" y="104775"/>
                </a:cubicBezTo>
                <a:cubicBezTo>
                  <a:pt x="209550" y="46930"/>
                  <a:pt x="162620" y="0"/>
                  <a:pt x="104775" y="0"/>
                </a:cubicBezTo>
                <a:cubicBezTo>
                  <a:pt x="46930" y="0"/>
                  <a:pt x="0" y="46930"/>
                  <a:pt x="0" y="104775"/>
                </a:cubicBezTo>
                <a:cubicBezTo>
                  <a:pt x="0" y="132715"/>
                  <a:pt x="10914" y="158090"/>
                  <a:pt x="28759" y="176862"/>
                </a:cubicBezTo>
                <a:cubicBezTo>
                  <a:pt x="37763" y="186358"/>
                  <a:pt x="45784" y="197381"/>
                  <a:pt x="49714" y="209550"/>
                </a:cubicBezTo>
                <a:lnTo>
                  <a:pt x="159782" y="209550"/>
                </a:lnTo>
                <a:close/>
                <a:moveTo>
                  <a:pt x="157163" y="235744"/>
                </a:moveTo>
                <a:lnTo>
                  <a:pt x="52388" y="235744"/>
                </a:lnTo>
                <a:lnTo>
                  <a:pt x="52388" y="244475"/>
                </a:lnTo>
                <a:cubicBezTo>
                  <a:pt x="52388" y="268595"/>
                  <a:pt x="71924" y="288131"/>
                  <a:pt x="96044" y="288131"/>
                </a:cubicBezTo>
                <a:lnTo>
                  <a:pt x="113506" y="288131"/>
                </a:lnTo>
                <a:cubicBezTo>
                  <a:pt x="137626" y="288131"/>
                  <a:pt x="157163" y="268595"/>
                  <a:pt x="157163" y="244475"/>
                </a:cubicBezTo>
                <a:lnTo>
                  <a:pt x="157163" y="235744"/>
                </a:lnTo>
                <a:close/>
                <a:moveTo>
                  <a:pt x="100409" y="61119"/>
                </a:moveTo>
                <a:cubicBezTo>
                  <a:pt x="78690" y="61119"/>
                  <a:pt x="61119" y="78690"/>
                  <a:pt x="61119" y="100409"/>
                </a:cubicBezTo>
                <a:cubicBezTo>
                  <a:pt x="61119" y="107667"/>
                  <a:pt x="55280" y="113506"/>
                  <a:pt x="48022" y="113506"/>
                </a:cubicBezTo>
                <a:cubicBezTo>
                  <a:pt x="40764" y="113506"/>
                  <a:pt x="34925" y="107667"/>
                  <a:pt x="34925" y="100409"/>
                </a:cubicBezTo>
                <a:cubicBezTo>
                  <a:pt x="34925" y="64229"/>
                  <a:pt x="64229" y="34925"/>
                  <a:pt x="100409" y="34925"/>
                </a:cubicBezTo>
                <a:cubicBezTo>
                  <a:pt x="107667" y="34925"/>
                  <a:pt x="113506" y="40764"/>
                  <a:pt x="113506" y="48022"/>
                </a:cubicBezTo>
                <a:cubicBezTo>
                  <a:pt x="113506" y="55280"/>
                  <a:pt x="107667" y="61119"/>
                  <a:pt x="100409" y="61119"/>
                </a:cubicBezTo>
                <a:close/>
              </a:path>
            </a:pathLst>
          </a:custGeom>
          <a:solidFill>
            <a:srgbClr val="9C3D3D"/>
          </a:solidFill>
          <a:ln/>
        </p:spPr>
        <p:txBody>
          <a:bodyPr/>
          <a:lstStyle/>
          <a:p>
            <a:endParaRPr lang="en-US"/>
          </a:p>
        </p:txBody>
      </p:sp>
      <p:sp>
        <p:nvSpPr>
          <p:cNvPr id="40" name="Text 38"/>
          <p:cNvSpPr/>
          <p:nvPr/>
        </p:nvSpPr>
        <p:spPr>
          <a:xfrm>
            <a:off x="6472238" y="4157663"/>
            <a:ext cx="2000250" cy="200025"/>
          </a:xfrm>
          <a:prstGeom prst="rect">
            <a:avLst/>
          </a:prstGeom>
          <a:noFill/>
          <a:ln/>
        </p:spPr>
        <p:txBody>
          <a:bodyPr wrap="square" lIns="0" tIns="0" rIns="0" bIns="0" rtlCol="0" anchor="ctr"/>
          <a:lstStyle/>
          <a:p>
            <a:pPr defTabSz="514350"/>
            <a:r>
              <a:rPr lang="en-US" sz="731" dirty="0">
                <a:solidFill>
                  <a:srgbClr val="666666"/>
                </a:solidFill>
                <a:latin typeface="Quattrocento Sans" pitchFamily="34" charset="0"/>
                <a:ea typeface="Quattrocento Sans" pitchFamily="34" charset="-122"/>
                <a:cs typeface="Quattrocento Sans" pitchFamily="34" charset="-120"/>
              </a:rPr>
              <a:t>定量评估power损失，权衡利弊</a:t>
            </a:r>
            <a:endParaRPr lang="en-US" sz="900" dirty="0">
              <a:solidFill>
                <a:srgbClr val="000000"/>
              </a:solidFill>
              <a:latin typeface="Calibri" panose="020F0502020204030204"/>
            </a:endParaRPr>
          </a:p>
        </p:txBody>
      </p:sp>
      <p:sp>
        <p:nvSpPr>
          <p:cNvPr id="41" name="Text 39"/>
          <p:cNvSpPr/>
          <p:nvPr/>
        </p:nvSpPr>
        <p:spPr>
          <a:xfrm>
            <a:off x="428625" y="4964906"/>
            <a:ext cx="4286250" cy="142875"/>
          </a:xfrm>
          <a:prstGeom prst="rect">
            <a:avLst/>
          </a:prstGeom>
          <a:noFill/>
          <a:ln/>
        </p:spPr>
        <p:txBody>
          <a:bodyPr wrap="none" lIns="0" tIns="0" rIns="0" bIns="0" rtlCol="0" anchor="ctr"/>
          <a:lstStyle/>
          <a:p>
            <a:pPr defTabSz="514350"/>
            <a:r>
              <a:rPr lang="en-US" sz="619" dirty="0">
                <a:solidFill>
                  <a:srgbClr val="999999"/>
                </a:solidFill>
                <a:latin typeface="Quattrocento Sans" pitchFamily="34" charset="0"/>
                <a:ea typeface="Quattrocento Sans" pitchFamily="34" charset="-122"/>
                <a:cs typeface="Quattrocento Sans" pitchFamily="34" charset="-120"/>
              </a:rPr>
              <a:t>注：power指检验效能；预后效应指因素对疾病自然进程的影响；预测效应指因素对治疗效果的影响</a:t>
            </a:r>
            <a:endParaRPr lang="en-US" sz="900" dirty="0">
              <a:solidFill>
                <a:srgbClr val="000000"/>
              </a:solidFill>
              <a:latin typeface="Calibri" panose="020F0502020204030204"/>
            </a:endParaRPr>
          </a:p>
        </p:txBody>
      </p:sp>
      <p:sp>
        <p:nvSpPr>
          <p:cNvPr id="42" name="TextBox 41">
            <a:extLst>
              <a:ext uri="{FF2B5EF4-FFF2-40B4-BE49-F238E27FC236}">
                <a16:creationId xmlns:a16="http://schemas.microsoft.com/office/drawing/2014/main" id="{327788D2-2872-9B51-D870-BAFDC2BF2CF6}"/>
              </a:ext>
            </a:extLst>
          </p:cNvPr>
          <p:cNvSpPr txBox="1"/>
          <p:nvPr/>
        </p:nvSpPr>
        <p:spPr>
          <a:xfrm>
            <a:off x="336550" y="146844"/>
            <a:ext cx="4572000" cy="369332"/>
          </a:xfrm>
          <a:prstGeom prst="rect">
            <a:avLst/>
          </a:prstGeom>
          <a:noFill/>
        </p:spPr>
        <p:txBody>
          <a:bodyPr wrap="square">
            <a:spAutoFit/>
          </a:bodyPr>
          <a:lstStyle/>
          <a:p>
            <a:pPr>
              <a:lnSpc>
                <a:spcPct val="100000"/>
              </a:lnSpc>
            </a:pP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01.4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分层因素选择</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预后 </a:t>
            </a:r>
            <a:r>
              <a:rPr lang="en-US" altLang="zh-CN"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vs. </a:t>
            </a:r>
            <a:r>
              <a:rPr lang="zh-CN" altLang="en-US" sz="1800" b="1"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rPr>
              <a:t>预测效应</a:t>
            </a:r>
            <a:endParaRPr lang="en-US" sz="1800" dirty="0">
              <a:solidFill>
                <a:srgbClr val="BF17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09C1590B-4C70-F303-F22B-F5B4BC90B4DF}"/>
              </a:ext>
            </a:extLst>
          </p:cNvPr>
          <p:cNvGrpSpPr/>
          <p:nvPr/>
        </p:nvGrpSpPr>
        <p:grpSpPr>
          <a:xfrm>
            <a:off x="1690807" y="466334"/>
            <a:ext cx="5910143" cy="4476871"/>
            <a:chOff x="754731" y="139065"/>
            <a:chExt cx="6022442" cy="4731801"/>
          </a:xfrm>
        </p:grpSpPr>
        <p:sp>
          <p:nvSpPr>
            <p:cNvPr id="2" name="Rounded Rectangle 1"/>
            <p:cNvSpPr/>
            <p:nvPr/>
          </p:nvSpPr>
          <p:spPr>
            <a:xfrm>
              <a:off x="1247773" y="139065"/>
              <a:ext cx="1784350" cy="547370"/>
            </a:xfrm>
            <a:prstGeom prst="roundRect">
              <a:avLst/>
            </a:prstGeom>
            <a:solidFill>
              <a:srgbClr val="8B0000"/>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lang="zh-CN" altLang="en-US" sz="1050" dirty="0">
                  <a:solidFill>
                    <a:schemeClr val="bg1"/>
                  </a:solidFill>
                </a:rPr>
                <a:t>多</a:t>
              </a:r>
              <a:r>
                <a:rPr sz="1050" dirty="0" err="1">
                  <a:solidFill>
                    <a:schemeClr val="bg1"/>
                  </a:solidFill>
                </a:rPr>
                <a:t>个备选分层因素</a:t>
              </a:r>
              <a:endParaRPr sz="1050" dirty="0">
                <a:solidFill>
                  <a:schemeClr val="bg1"/>
                </a:solidFill>
              </a:endParaRPr>
            </a:p>
            <a:p>
              <a:r>
                <a:rPr lang="en-US" sz="1350" dirty="0">
                  <a:solidFill>
                    <a:schemeClr val="bg1"/>
                  </a:solidFill>
                </a:rPr>
                <a:t>          </a:t>
              </a:r>
              <a:r>
                <a:rPr sz="1100" b="1" dirty="0">
                  <a:solidFill>
                    <a:schemeClr val="bg1"/>
                  </a:solidFill>
                  <a:latin typeface="微软雅黑" panose="020B0503020204020204" pitchFamily="34" charset="-122"/>
                  <a:ea typeface="微软雅黑" panose="020B0503020204020204" pitchFamily="34" charset="-122"/>
                </a:rPr>
                <a:t>(</a:t>
              </a:r>
              <a:r>
                <a:rPr sz="1100" b="1" dirty="0" err="1">
                  <a:solidFill>
                    <a:schemeClr val="bg1"/>
                  </a:solidFill>
                  <a:latin typeface="微软雅黑" panose="020B0503020204020204" pitchFamily="34" charset="-122"/>
                  <a:ea typeface="微软雅黑" panose="020B0503020204020204" pitchFamily="34" charset="-122"/>
                </a:rPr>
                <a:t>TTE终点</a:t>
              </a:r>
              <a:r>
                <a:rPr sz="1100" b="1" dirty="0">
                  <a:solidFill>
                    <a:schemeClr val="bg1"/>
                  </a:solidFill>
                  <a:latin typeface="微软雅黑" panose="020B0503020204020204" pitchFamily="34" charset="-122"/>
                  <a:ea typeface="微软雅黑" panose="020B0503020204020204" pitchFamily="34" charset="-122"/>
                </a:rPr>
                <a:t>)</a:t>
              </a:r>
              <a:endParaRPr sz="1350" b="1" dirty="0">
                <a:solidFill>
                  <a:schemeClr val="bg1"/>
                </a:solidFill>
                <a:latin typeface="微软雅黑" panose="020B0503020204020204" pitchFamily="34" charset="-122"/>
                <a:ea typeface="微软雅黑" panose="020B0503020204020204" pitchFamily="34" charset="-122"/>
              </a:endParaRPr>
            </a:p>
          </p:txBody>
        </p:sp>
        <p:sp>
          <p:nvSpPr>
            <p:cNvPr id="3" name="Rounded Rectangle 2"/>
            <p:cNvSpPr/>
            <p:nvPr/>
          </p:nvSpPr>
          <p:spPr>
            <a:xfrm>
              <a:off x="793749" y="978856"/>
              <a:ext cx="2692399" cy="342900"/>
            </a:xfrm>
            <a:prstGeom prst="roundRect">
              <a:avLst/>
            </a:prstGeom>
            <a:solidFill>
              <a:srgbClr val="E3F2FD"/>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565C0"/>
                  </a:solidFill>
                </a:defRPr>
              </a:pPr>
              <a:r>
                <a:rPr sz="825" dirty="0"/>
                <a:t>Step 1: </a:t>
              </a:r>
              <a:r>
                <a:rPr sz="825" dirty="0" err="1"/>
                <a:t>操作可行性</a:t>
              </a:r>
              <a:endParaRPr sz="825" dirty="0"/>
            </a:p>
            <a:p>
              <a:pPr algn="ctr"/>
              <a:r>
                <a:rPr sz="1000" b="1" dirty="0">
                  <a:solidFill>
                    <a:schemeClr val="tx1"/>
                  </a:solidFill>
                  <a:latin typeface="微软雅黑" panose="020B0503020204020204" pitchFamily="34" charset="-122"/>
                  <a:ea typeface="微软雅黑" panose="020B0503020204020204" pitchFamily="34" charset="-122"/>
                </a:rPr>
                <a:t>层占比≥10%? 层数≤3? </a:t>
              </a:r>
            </a:p>
          </p:txBody>
        </p:sp>
        <p:sp>
          <p:nvSpPr>
            <p:cNvPr id="5" name="Rounded Rectangle 4"/>
            <p:cNvSpPr/>
            <p:nvPr/>
          </p:nvSpPr>
          <p:spPr>
            <a:xfrm>
              <a:off x="4255769" y="1288258"/>
              <a:ext cx="1508760" cy="377190"/>
            </a:xfrm>
            <a:prstGeom prst="roundRect">
              <a:avLst/>
            </a:prstGeom>
            <a:solidFill>
              <a:srgbClr val="FFEBEE"/>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B71C1C"/>
                  </a:solidFill>
                </a:defRPr>
              </a:pPr>
              <a:r>
                <a:rPr sz="825" dirty="0"/>
                <a:t>X </a:t>
              </a:r>
              <a:r>
                <a:rPr sz="825" dirty="0" err="1"/>
                <a:t>排除</a:t>
              </a:r>
              <a:endParaRPr sz="825" dirty="0"/>
            </a:p>
            <a:p>
              <a:pPr algn="ctr"/>
              <a:r>
                <a:rPr lang="en-US" sz="1350" dirty="0">
                  <a:solidFill>
                    <a:schemeClr val="tx1"/>
                  </a:solidFill>
                </a:rPr>
                <a:t>  </a:t>
              </a:r>
              <a:r>
                <a:rPr sz="1050" b="1" dirty="0" err="1">
                  <a:solidFill>
                    <a:schemeClr val="tx1"/>
                  </a:solidFill>
                  <a:latin typeface="微软雅黑" panose="020B0503020204020204" pitchFamily="34" charset="-122"/>
                  <a:ea typeface="微软雅黑" panose="020B0503020204020204" pitchFamily="34" charset="-122"/>
                </a:rPr>
                <a:t>不可行</a:t>
              </a:r>
              <a:r>
                <a:rPr sz="1050" b="1" dirty="0">
                  <a:solidFill>
                    <a:schemeClr val="tx1"/>
                  </a:solidFill>
                  <a:latin typeface="微软雅黑" panose="020B0503020204020204" pitchFamily="34" charset="-122"/>
                  <a:ea typeface="微软雅黑" panose="020B0503020204020204" pitchFamily="34" charset="-122"/>
                </a:rPr>
                <a:t>/</a:t>
              </a:r>
              <a:r>
                <a:rPr sz="1050" b="1" dirty="0" err="1">
                  <a:solidFill>
                    <a:schemeClr val="tx1"/>
                  </a:solidFill>
                  <a:latin typeface="微软雅黑" panose="020B0503020204020204" pitchFamily="34" charset="-122"/>
                  <a:ea typeface="微软雅黑" panose="020B0503020204020204" pitchFamily="34" charset="-122"/>
                </a:rPr>
                <a:t>层过细</a:t>
              </a:r>
              <a:r>
                <a:rPr lang="en-US" sz="1050" b="1" dirty="0">
                  <a:solidFill>
                    <a:schemeClr val="tx1"/>
                  </a:solidFill>
                  <a:latin typeface="微软雅黑" panose="020B0503020204020204" pitchFamily="34" charset="-122"/>
                  <a:ea typeface="微软雅黑" panose="020B0503020204020204" pitchFamily="34" charset="-122"/>
                </a:rPr>
                <a:t> </a:t>
              </a:r>
              <a:endParaRPr sz="1350" b="1" dirty="0">
                <a:solidFill>
                  <a:schemeClr val="tx1"/>
                </a:solidFill>
                <a:latin typeface="微软雅黑" panose="020B0503020204020204" pitchFamily="34" charset="-122"/>
                <a:ea typeface="微软雅黑" panose="020B0503020204020204" pitchFamily="34" charset="-122"/>
              </a:endParaRPr>
            </a:p>
          </p:txBody>
        </p:sp>
        <p:sp>
          <p:nvSpPr>
            <p:cNvPr id="6" name="Rounded Rectangle 5"/>
            <p:cNvSpPr/>
            <p:nvPr/>
          </p:nvSpPr>
          <p:spPr>
            <a:xfrm>
              <a:off x="764552" y="1726206"/>
              <a:ext cx="2721597" cy="503391"/>
            </a:xfrm>
            <a:prstGeom prst="roundRect">
              <a:avLst/>
            </a:prstGeom>
            <a:solidFill>
              <a:srgbClr val="E3F2FD"/>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565C0"/>
                  </a:solidFill>
                </a:defRPr>
              </a:pPr>
              <a:r>
                <a:rPr sz="900" dirty="0"/>
                <a:t>Step 2: </a:t>
              </a:r>
              <a:r>
                <a:rPr sz="900" dirty="0" err="1"/>
                <a:t>预后价值</a:t>
              </a:r>
              <a:endParaRPr sz="900" dirty="0"/>
            </a:p>
            <a:p>
              <a:pPr algn="ctr"/>
              <a:r>
                <a:rPr lang="zh-CN" altLang="en-US" sz="1050" dirty="0">
                  <a:solidFill>
                    <a:schemeClr val="tx1"/>
                  </a:solidFill>
                  <a:latin typeface="微软雅黑" panose="020B0503020204020204" pitchFamily="34" charset="-122"/>
                  <a:ea typeface="微软雅黑" panose="020B0503020204020204" pitchFamily="34" charset="-122"/>
                </a:rPr>
                <a:t>  </a:t>
              </a:r>
              <a:r>
                <a:rPr lang="zh-CN" altLang="en-US" sz="1000" b="1" dirty="0">
                  <a:solidFill>
                    <a:schemeClr val="tx1"/>
                  </a:solidFill>
                  <a:latin typeface="微软雅黑" panose="020B0503020204020204" pitchFamily="34" charset="-122"/>
                  <a:ea typeface="微软雅黑" panose="020B0503020204020204" pitchFamily="34" charset="-122"/>
                </a:rPr>
                <a:t>历史</a:t>
              </a:r>
              <a:r>
                <a:rPr sz="1000" b="1" dirty="0" err="1">
                  <a:solidFill>
                    <a:schemeClr val="tx1"/>
                  </a:solidFill>
                  <a:latin typeface="微软雅黑" panose="020B0503020204020204" pitchFamily="34" charset="-122"/>
                  <a:ea typeface="微软雅黑" panose="020B0503020204020204" pitchFamily="34" charset="-122"/>
                </a:rPr>
                <a:t>层间中位比</a:t>
              </a:r>
              <a:r>
                <a:rPr sz="1000" b="1" dirty="0">
                  <a:solidFill>
                    <a:schemeClr val="tx1"/>
                  </a:solidFill>
                  <a:latin typeface="微软雅黑" panose="020B0503020204020204" pitchFamily="34" charset="-122"/>
                  <a:ea typeface="微软雅黑" panose="020B0503020204020204" pitchFamily="34" charset="-122"/>
                </a:rPr>
                <a:t> r = max/min</a:t>
              </a:r>
              <a:r>
                <a:rPr lang="en-US" sz="1000" b="1" dirty="0">
                  <a:solidFill>
                    <a:schemeClr val="tx1"/>
                  </a:solidFill>
                  <a:latin typeface="微软雅黑" panose="020B0503020204020204" pitchFamily="34" charset="-122"/>
                  <a:ea typeface="微软雅黑" panose="020B0503020204020204" pitchFamily="34" charset="-122"/>
                </a:rPr>
                <a:t>&gt;=1.25 </a:t>
              </a:r>
              <a:r>
                <a:rPr lang="zh-CN" altLang="en-US" sz="1000" b="1" dirty="0">
                  <a:solidFill>
                    <a:schemeClr val="tx1"/>
                  </a:solidFill>
                  <a:latin typeface="微软雅黑" panose="020B0503020204020204" pitchFamily="34" charset="-122"/>
                  <a:ea typeface="微软雅黑" panose="020B0503020204020204" pitchFamily="34" charset="-122"/>
                </a:rPr>
                <a:t>或者绝对中位差值达到一定临床意义</a:t>
              </a:r>
              <a:endParaRPr sz="1050" b="1" dirty="0">
                <a:solidFill>
                  <a:schemeClr val="tx1"/>
                </a:solidFill>
                <a:latin typeface="微软雅黑" panose="020B0503020204020204" pitchFamily="34" charset="-122"/>
                <a:ea typeface="微软雅黑" panose="020B0503020204020204" pitchFamily="34" charset="-122"/>
              </a:endParaRPr>
            </a:p>
          </p:txBody>
        </p:sp>
        <p:sp>
          <p:nvSpPr>
            <p:cNvPr id="8" name="Rounded Rectangle 7"/>
            <p:cNvSpPr/>
            <p:nvPr/>
          </p:nvSpPr>
          <p:spPr>
            <a:xfrm>
              <a:off x="4255769" y="2043967"/>
              <a:ext cx="2521404" cy="630653"/>
            </a:xfrm>
            <a:prstGeom prst="roundRect">
              <a:avLst/>
            </a:prstGeom>
            <a:solidFill>
              <a:srgbClr val="FFEBEE"/>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B71C1C"/>
                  </a:solidFill>
                </a:defRPr>
              </a:pPr>
              <a:r>
                <a:rPr sz="750" dirty="0"/>
                <a:t>X </a:t>
              </a:r>
              <a:r>
                <a:rPr sz="750" dirty="0" err="1"/>
                <a:t>排除</a:t>
              </a:r>
              <a:endParaRPr sz="750" dirty="0"/>
            </a:p>
            <a:p>
              <a:pPr algn="ctr"/>
              <a:r>
                <a:rPr sz="1000" b="1" dirty="0" err="1">
                  <a:solidFill>
                    <a:schemeClr val="tx1"/>
                  </a:solidFill>
                  <a:latin typeface="微软雅黑" panose="020B0503020204020204" pitchFamily="34" charset="-122"/>
                  <a:ea typeface="微软雅黑" panose="020B0503020204020204" pitchFamily="34" charset="-122"/>
                </a:rPr>
                <a:t>无预后</a:t>
              </a:r>
              <a:r>
                <a:rPr lang="zh-CN" altLang="en-US" sz="1000" b="1" dirty="0">
                  <a:solidFill>
                    <a:schemeClr val="tx1"/>
                  </a:solidFill>
                  <a:latin typeface="微软雅黑" panose="020B0503020204020204" pitchFamily="34" charset="-122"/>
                  <a:ea typeface="微软雅黑" panose="020B0503020204020204" pitchFamily="34" charset="-122"/>
                </a:rPr>
                <a:t>效应</a:t>
              </a:r>
              <a:r>
                <a:rPr lang="en-US" altLang="zh-CN" sz="1000" b="1" dirty="0">
                  <a:solidFill>
                    <a:schemeClr val="tx1"/>
                  </a:solidFill>
                  <a:latin typeface="微软雅黑" panose="020B0503020204020204" pitchFamily="34" charset="-122"/>
                  <a:ea typeface="微软雅黑" panose="020B0503020204020204" pitchFamily="34" charset="-122"/>
                </a:rPr>
                <a:t>-</a:t>
              </a:r>
              <a:r>
                <a:rPr lang="zh-CN" altLang="en-US" sz="1000" b="1" dirty="0">
                  <a:solidFill>
                    <a:schemeClr val="tx1"/>
                  </a:solidFill>
                  <a:latin typeface="微软雅黑" panose="020B0503020204020204" pitchFamily="34" charset="-122"/>
                  <a:ea typeface="微软雅黑" panose="020B0503020204020204" pitchFamily="34" charset="-122"/>
                </a:rPr>
                <a:t>若考虑为确证性亚组则保留</a:t>
              </a:r>
              <a:endParaRPr sz="1000" b="1" dirty="0">
                <a:solidFill>
                  <a:schemeClr val="tx1"/>
                </a:solidFill>
                <a:latin typeface="微软雅黑" panose="020B0503020204020204" pitchFamily="34" charset="-122"/>
                <a:ea typeface="微软雅黑" panose="020B0503020204020204" pitchFamily="34" charset="-122"/>
              </a:endParaRPr>
            </a:p>
          </p:txBody>
        </p:sp>
        <p:sp>
          <p:nvSpPr>
            <p:cNvPr id="9" name="Rounded Rectangle 8"/>
            <p:cNvSpPr/>
            <p:nvPr/>
          </p:nvSpPr>
          <p:spPr>
            <a:xfrm>
              <a:off x="764552" y="2489722"/>
              <a:ext cx="2721597" cy="793228"/>
            </a:xfrm>
            <a:prstGeom prst="roundRect">
              <a:avLst/>
            </a:prstGeom>
            <a:solidFill>
              <a:srgbClr val="E3F2FD"/>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900" b="1">
                  <a:solidFill>
                    <a:srgbClr val="1565C0"/>
                  </a:solidFill>
                </a:defRPr>
              </a:pPr>
              <a:endParaRPr lang="en-US" sz="825" dirty="0"/>
            </a:p>
            <a:p>
              <a:pPr algn="ctr">
                <a:defRPr sz="900" b="1">
                  <a:solidFill>
                    <a:srgbClr val="1565C0"/>
                  </a:solidFill>
                </a:defRPr>
              </a:pPr>
              <a:r>
                <a:rPr sz="825" dirty="0"/>
                <a:t>Step 3: </a:t>
              </a:r>
              <a:r>
                <a:rPr lang="zh-CN" altLang="en-US" sz="825" dirty="0"/>
                <a:t>预测效应</a:t>
              </a:r>
              <a:endParaRPr lang="en-US" altLang="zh-CN" sz="825" dirty="0"/>
            </a:p>
            <a:p>
              <a:pPr algn="ctr">
                <a:defRPr sz="900" b="1">
                  <a:solidFill>
                    <a:srgbClr val="1565C0"/>
                  </a:solidFill>
                </a:defRPr>
              </a:pPr>
              <a:r>
                <a:rPr lang="zh-CN" altLang="en-US" sz="1000" dirty="0">
                  <a:solidFill>
                    <a:schemeClr val="tx1"/>
                  </a:solidFill>
                  <a:latin typeface="微软雅黑" panose="020B0503020204020204" pitchFamily="34" charset="-122"/>
                  <a:ea typeface="微软雅黑" panose="020B0503020204020204" pitchFamily="34" charset="-122"/>
                </a:rPr>
                <a:t>结合预后效应强弱进行评估，若在预后好的组别中治疗效果强，则需要考虑分层随机</a:t>
              </a:r>
              <a:r>
                <a:rPr lang="en-US" altLang="zh-CN" sz="1000" dirty="0">
                  <a:solidFill>
                    <a:schemeClr val="tx1"/>
                  </a:solidFill>
                  <a:latin typeface="微软雅黑" panose="020B0503020204020204" pitchFamily="34" charset="-122"/>
                  <a:ea typeface="微软雅黑" panose="020B0503020204020204" pitchFamily="34" charset="-122"/>
                </a:rPr>
                <a:t>power</a:t>
              </a:r>
              <a:r>
                <a:rPr lang="zh-CN" altLang="en-US" sz="1000" dirty="0">
                  <a:solidFill>
                    <a:schemeClr val="tx1"/>
                  </a:solidFill>
                  <a:latin typeface="微软雅黑" panose="020B0503020204020204" pitchFamily="34" charset="-122"/>
                  <a:ea typeface="微软雅黑" panose="020B0503020204020204" pitchFamily="34" charset="-122"/>
                </a:rPr>
                <a:t>降低的问题</a:t>
              </a:r>
              <a:endParaRPr lang="en-US" sz="1000" dirty="0">
                <a:solidFill>
                  <a:schemeClr val="tx1"/>
                </a:solidFill>
                <a:latin typeface="微软雅黑" panose="020B0503020204020204" pitchFamily="34" charset="-122"/>
                <a:ea typeface="微软雅黑" panose="020B0503020204020204" pitchFamily="34" charset="-122"/>
              </a:endParaRPr>
            </a:p>
            <a:p>
              <a:pPr algn="ctr">
                <a:defRPr sz="900" b="1">
                  <a:solidFill>
                    <a:srgbClr val="1565C0"/>
                  </a:solidFill>
                </a:defRPr>
              </a:pPr>
              <a:endParaRPr sz="825" dirty="0"/>
            </a:p>
          </p:txBody>
        </p:sp>
        <p:sp>
          <p:nvSpPr>
            <p:cNvPr id="17" name="Rounded Rectangle 16"/>
            <p:cNvSpPr/>
            <p:nvPr/>
          </p:nvSpPr>
          <p:spPr>
            <a:xfrm>
              <a:off x="754731" y="4281482"/>
              <a:ext cx="2859987" cy="589384"/>
            </a:xfrm>
            <a:prstGeom prst="roundRect">
              <a:avLst/>
            </a:prstGeom>
            <a:solidFill>
              <a:srgbClr val="E3F2FD"/>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565C0"/>
                  </a:solidFill>
                </a:defRPr>
              </a:pPr>
              <a:r>
                <a:rPr sz="750" dirty="0"/>
                <a:t>Step 5: </a:t>
              </a:r>
              <a:r>
                <a:rPr sz="750" dirty="0" err="1"/>
                <a:t>最终决策</a:t>
              </a:r>
              <a:endParaRPr sz="750" dirty="0"/>
            </a:p>
            <a:p>
              <a:r>
                <a:rPr lang="zh-CN" altLang="en-US" sz="1100" b="1" dirty="0">
                  <a:solidFill>
                    <a:schemeClr val="tx1"/>
                  </a:solidFill>
                  <a:latin typeface="微软雅黑" panose="020B0503020204020204" pitchFamily="34" charset="-122"/>
                  <a:ea typeface="微软雅黑" panose="020B0503020204020204" pitchFamily="34" charset="-122"/>
                </a:rPr>
                <a:t>预后效应排序</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 预测效应</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稀疏事件层考虑</a:t>
              </a:r>
              <a:endParaRPr sz="1100" b="1" dirty="0">
                <a:solidFill>
                  <a:schemeClr val="tx1"/>
                </a:solidFill>
                <a:latin typeface="微软雅黑" panose="020B0503020204020204" pitchFamily="34" charset="-122"/>
                <a:ea typeface="微软雅黑" panose="020B0503020204020204" pitchFamily="34" charset="-122"/>
              </a:endParaRPr>
            </a:p>
          </p:txBody>
        </p:sp>
        <p:sp>
          <p:nvSpPr>
            <p:cNvPr id="20" name="Rounded Rectangle 19"/>
            <p:cNvSpPr/>
            <p:nvPr/>
          </p:nvSpPr>
          <p:spPr>
            <a:xfrm>
              <a:off x="4630103" y="4439014"/>
              <a:ext cx="1714500" cy="274320"/>
            </a:xfrm>
            <a:prstGeom prst="roundRect">
              <a:avLst/>
            </a:prstGeom>
            <a:solidFill>
              <a:srgbClr val="8B0000"/>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sz="900" dirty="0" err="1">
                  <a:solidFill>
                    <a:srgbClr val="FFFFFF"/>
                  </a:solidFill>
                </a:rPr>
                <a:t>确定分层因素</a:t>
              </a:r>
              <a:endParaRPr sz="900" dirty="0">
                <a:solidFill>
                  <a:srgbClr val="FFFFFF"/>
                </a:solidFill>
              </a:endParaRPr>
            </a:p>
          </p:txBody>
        </p:sp>
        <p:sp>
          <p:nvSpPr>
            <p:cNvPr id="4" name="Rounded Rectangle 16">
              <a:extLst>
                <a:ext uri="{FF2B5EF4-FFF2-40B4-BE49-F238E27FC236}">
                  <a16:creationId xmlns:a16="http://schemas.microsoft.com/office/drawing/2014/main" id="{A03091DC-DD3A-F15B-A208-7798BD0ED259}"/>
                </a:ext>
              </a:extLst>
            </p:cNvPr>
            <p:cNvSpPr/>
            <p:nvPr/>
          </p:nvSpPr>
          <p:spPr>
            <a:xfrm>
              <a:off x="764552" y="3522821"/>
              <a:ext cx="2766048" cy="407605"/>
            </a:xfrm>
            <a:prstGeom prst="roundRect">
              <a:avLst/>
            </a:prstGeom>
            <a:solidFill>
              <a:srgbClr val="E3F2FD"/>
            </a:solidFill>
            <a:ln w="19050">
              <a:solidFill>
                <a:srgbClr val="55555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1565C0"/>
                  </a:solidFill>
                </a:defRPr>
              </a:pPr>
              <a:r>
                <a:rPr sz="750" dirty="0"/>
                <a:t>Step </a:t>
              </a:r>
              <a:r>
                <a:rPr lang="en-US" sz="750" dirty="0"/>
                <a:t>4</a:t>
              </a:r>
              <a:r>
                <a:rPr sz="750" dirty="0"/>
                <a:t>: </a:t>
              </a:r>
              <a:r>
                <a:rPr lang="zh-CN" altLang="en-US" sz="750" dirty="0"/>
                <a:t>因素相关性</a:t>
              </a:r>
              <a:endParaRPr sz="750" dirty="0"/>
            </a:p>
            <a:p>
              <a:r>
                <a:rPr lang="zh-CN" altLang="en-US" sz="1000" b="1" dirty="0">
                  <a:solidFill>
                    <a:schemeClr val="tx1"/>
                  </a:solidFill>
                  <a:latin typeface="微软雅黑" panose="020B0503020204020204" pitchFamily="34" charset="-122"/>
                  <a:ea typeface="微软雅黑" panose="020B0503020204020204" pitchFamily="34" charset="-122"/>
                </a:rPr>
                <a:t>        因素间相关性极高的可以简化</a:t>
              </a:r>
              <a:endParaRPr sz="1000" b="1" dirty="0">
                <a:solidFill>
                  <a:schemeClr val="tx1"/>
                </a:solidFill>
                <a:latin typeface="微软雅黑" panose="020B0503020204020204" pitchFamily="34" charset="-122"/>
                <a:ea typeface="微软雅黑" panose="020B0503020204020204" pitchFamily="34" charset="-122"/>
              </a:endParaRPr>
            </a:p>
          </p:txBody>
        </p:sp>
        <p:cxnSp>
          <p:nvCxnSpPr>
            <p:cNvPr id="12" name="Straight Arrow Connector 11">
              <a:extLst>
                <a:ext uri="{FF2B5EF4-FFF2-40B4-BE49-F238E27FC236}">
                  <a16:creationId xmlns:a16="http://schemas.microsoft.com/office/drawing/2014/main" id="{066723AC-2039-E0B7-E460-DCD26AEE6993}"/>
                </a:ext>
              </a:extLst>
            </p:cNvPr>
            <p:cNvCxnSpPr>
              <a:stCxn id="3" idx="2"/>
            </p:cNvCxnSpPr>
            <p:nvPr/>
          </p:nvCxnSpPr>
          <p:spPr>
            <a:xfrm flipH="1">
              <a:off x="2139948" y="1321756"/>
              <a:ext cx="1" cy="31019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641CAA0-3BF0-658F-753A-D4726763E809}"/>
                </a:ext>
              </a:extLst>
            </p:cNvPr>
            <p:cNvCxnSpPr>
              <a:cxnSpLocks/>
              <a:stCxn id="6" idx="2"/>
            </p:cNvCxnSpPr>
            <p:nvPr/>
          </p:nvCxnSpPr>
          <p:spPr>
            <a:xfrm flipH="1">
              <a:off x="2125349" y="2229597"/>
              <a:ext cx="2" cy="25939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BD493AF-1ADA-CD51-E2DD-FE612189ACCB}"/>
                </a:ext>
              </a:extLst>
            </p:cNvPr>
            <p:cNvCxnSpPr>
              <a:cxnSpLocks/>
            </p:cNvCxnSpPr>
            <p:nvPr/>
          </p:nvCxnSpPr>
          <p:spPr>
            <a:xfrm flipH="1">
              <a:off x="2125347" y="3290031"/>
              <a:ext cx="2" cy="25939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71CA024-B4FA-748A-2E5F-0A9A908FC274}"/>
                </a:ext>
              </a:extLst>
            </p:cNvPr>
            <p:cNvCxnSpPr>
              <a:cxnSpLocks/>
            </p:cNvCxnSpPr>
            <p:nvPr/>
          </p:nvCxnSpPr>
          <p:spPr>
            <a:xfrm flipH="1">
              <a:off x="2117096" y="3955826"/>
              <a:ext cx="2" cy="259394"/>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596BE174-FCFC-1919-FE42-3021840941C2}"/>
                </a:ext>
              </a:extLst>
            </p:cNvPr>
            <p:cNvCxnSpPr/>
            <p:nvPr/>
          </p:nvCxnSpPr>
          <p:spPr>
            <a:xfrm>
              <a:off x="2349500" y="1530350"/>
              <a:ext cx="162622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0C441D8-2A33-3C7A-D4C3-01857D732DE9}"/>
                </a:ext>
              </a:extLst>
            </p:cNvPr>
            <p:cNvCxnSpPr/>
            <p:nvPr/>
          </p:nvCxnSpPr>
          <p:spPr>
            <a:xfrm>
              <a:off x="2349499" y="2371993"/>
              <a:ext cx="1626227"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8C978C4-FAAB-7838-BA20-7EA87C0440D8}"/>
                </a:ext>
              </a:extLst>
            </p:cNvPr>
            <p:cNvCxnSpPr>
              <a:cxnSpLocks/>
            </p:cNvCxnSpPr>
            <p:nvPr/>
          </p:nvCxnSpPr>
          <p:spPr>
            <a:xfrm>
              <a:off x="3697268" y="4576174"/>
              <a:ext cx="798532"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0E138EAA-39FE-3096-B29E-78D608ED4DCE}"/>
              </a:ext>
            </a:extLst>
          </p:cNvPr>
          <p:cNvSpPr txBox="1"/>
          <p:nvPr/>
        </p:nvSpPr>
        <p:spPr>
          <a:xfrm>
            <a:off x="0" y="55737"/>
            <a:ext cx="4572000" cy="369332"/>
          </a:xfrm>
          <a:prstGeom prst="rect">
            <a:avLst/>
          </a:prstGeom>
          <a:noFill/>
        </p:spPr>
        <p:txBody>
          <a:bodyPr wrap="square">
            <a:spAutoFit/>
          </a:bodyPr>
          <a:lstStyle/>
          <a:p>
            <a:r>
              <a:rPr lang="en-US" altLang="zh-CN" sz="1800" b="1" dirty="0">
                <a:solidFill>
                  <a:srgbClr val="BF1733"/>
                </a:solidFill>
                <a:latin typeface="微软雅黑" panose="020B0503020204020204" pitchFamily="34" charset="-122"/>
                <a:ea typeface="微软雅黑" panose="020B0503020204020204" pitchFamily="34" charset="-122"/>
                <a:cs typeface="QuattrocentoSans" pitchFamily="34" charset="-120"/>
              </a:rPr>
              <a:t>01.5 </a:t>
            </a:r>
            <a:r>
              <a:rPr lang="zh-CN" altLang="en-US" sz="1800" b="1" dirty="0">
                <a:solidFill>
                  <a:srgbClr val="BF1733"/>
                </a:solidFill>
                <a:latin typeface="微软雅黑" panose="020B0503020204020204" pitchFamily="34" charset="-122"/>
                <a:ea typeface="微软雅黑" panose="020B0503020204020204" pitchFamily="34" charset="-122"/>
                <a:cs typeface="QuattrocentoSans" pitchFamily="34" charset="-120"/>
              </a:rPr>
              <a:t>分层因素选择流程建议</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577D-7BE8-3443-FEDA-6ED2206C95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EAFE26-C839-3F08-10C9-FB76767688E3}"/>
              </a:ext>
            </a:extLst>
          </p:cNvPr>
          <p:cNvSpPr/>
          <p:nvPr/>
        </p:nvSpPr>
        <p:spPr>
          <a:xfrm>
            <a:off x="327504" y="285750"/>
            <a:ext cx="8286750" cy="285750"/>
          </a:xfrm>
          <a:prstGeom prst="rect">
            <a:avLst/>
          </a:prstGeom>
          <a:noFill/>
          <a:ln/>
        </p:spPr>
        <p:txBody>
          <a:bodyPr wrap="none" lIns="0" tIns="0" rIns="0" bIns="0" rtlCol="0" anchor="ctr"/>
          <a:lstStyle/>
          <a:p>
            <a:pPr>
              <a:lnSpc>
                <a:spcPct val="130000"/>
              </a:lnSpc>
            </a:pPr>
            <a:r>
              <a:rPr lang="en-US" altLang="zh-CN" sz="1575" b="1" dirty="0">
                <a:solidFill>
                  <a:srgbClr val="BF1733"/>
                </a:solidFill>
                <a:latin typeface="QuattrocentoSans" pitchFamily="34" charset="0"/>
                <a:ea typeface="QuattrocentoSans" pitchFamily="34" charset="-122"/>
                <a:cs typeface="QuattrocentoSans" pitchFamily="34" charset="-120"/>
              </a:rPr>
              <a:t>01.7</a:t>
            </a:r>
            <a:r>
              <a:rPr lang="zh-CN" altLang="en-US" sz="1575" b="1" dirty="0">
                <a:solidFill>
                  <a:srgbClr val="BF1733"/>
                </a:solidFill>
                <a:latin typeface="QuattrocentoSans" pitchFamily="34" charset="0"/>
                <a:ea typeface="QuattrocentoSans" pitchFamily="34" charset="-122"/>
                <a:cs typeface="QuattrocentoSans" pitchFamily="34" charset="-120"/>
              </a:rPr>
              <a:t>分层因素例</a:t>
            </a:r>
            <a:r>
              <a:rPr lang="en-US" altLang="zh-CN" sz="1575" b="1" dirty="0">
                <a:solidFill>
                  <a:srgbClr val="BF1733"/>
                </a:solidFill>
                <a:latin typeface="QuattrocentoSans" pitchFamily="34" charset="0"/>
                <a:ea typeface="QuattrocentoSans" pitchFamily="34" charset="-122"/>
                <a:cs typeface="QuattrocentoSans" pitchFamily="34" charset="-120"/>
              </a:rPr>
              <a:t>1. STARGLO </a:t>
            </a:r>
            <a:r>
              <a:rPr lang="en-US" sz="1575" b="1" dirty="0">
                <a:solidFill>
                  <a:srgbClr val="BF1733"/>
                </a:solidFill>
                <a:latin typeface="QuattrocentoSans" pitchFamily="34" charset="0"/>
                <a:ea typeface="QuattrocentoSans" pitchFamily="34" charset="-122"/>
                <a:cs typeface="QuattrocentoSans" pitchFamily="34" charset="-120"/>
              </a:rPr>
              <a:t>Trial: Study Design and Stratification Factors</a:t>
            </a:r>
            <a:endParaRPr lang="en-US" sz="1575" dirty="0">
              <a:solidFill>
                <a:srgbClr val="BF1733"/>
              </a:solidFill>
            </a:endParaRPr>
          </a:p>
        </p:txBody>
      </p:sp>
      <p:sp>
        <p:nvSpPr>
          <p:cNvPr id="3" name="Shape 1">
            <a:extLst>
              <a:ext uri="{FF2B5EF4-FFF2-40B4-BE49-F238E27FC236}">
                <a16:creationId xmlns:a16="http://schemas.microsoft.com/office/drawing/2014/main" id="{1DBE567B-C071-5354-1790-2EB914CF1BFA}"/>
              </a:ext>
            </a:extLst>
          </p:cNvPr>
          <p:cNvSpPr/>
          <p:nvPr/>
        </p:nvSpPr>
        <p:spPr>
          <a:xfrm>
            <a:off x="428625" y="607219"/>
            <a:ext cx="8286750" cy="0"/>
          </a:xfrm>
          <a:prstGeom prst="straightConnector1">
            <a:avLst/>
          </a:prstGeom>
          <a:noFill/>
          <a:ln w="25400">
            <a:solidFill>
              <a:srgbClr val="2D4A5E"/>
            </a:solidFill>
            <a:prstDash val="solid"/>
            <a:headEnd type="none"/>
            <a:tailEnd type="none"/>
          </a:ln>
        </p:spPr>
        <p:txBody>
          <a:bodyPr/>
          <a:lstStyle/>
          <a:p>
            <a:endParaRPr lang="en-US" sz="1013"/>
          </a:p>
        </p:txBody>
      </p:sp>
      <p:sp>
        <p:nvSpPr>
          <p:cNvPr id="4" name="Text 2">
            <a:extLst>
              <a:ext uri="{FF2B5EF4-FFF2-40B4-BE49-F238E27FC236}">
                <a16:creationId xmlns:a16="http://schemas.microsoft.com/office/drawing/2014/main" id="{5E41C45C-85B4-096E-9FC4-D8B54B38548A}"/>
              </a:ext>
            </a:extLst>
          </p:cNvPr>
          <p:cNvSpPr/>
          <p:nvPr/>
        </p:nvSpPr>
        <p:spPr>
          <a:xfrm>
            <a:off x="359623" y="612330"/>
            <a:ext cx="2143125"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Study Design Summary</a:t>
            </a:r>
            <a:endParaRPr lang="en-US" sz="1125" dirty="0">
              <a:solidFill>
                <a:schemeClr val="accent2"/>
              </a:solidFill>
            </a:endParaRPr>
          </a:p>
        </p:txBody>
      </p:sp>
      <p:graphicFrame>
        <p:nvGraphicFramePr>
          <p:cNvPr id="5" name="Table 0">
            <a:extLst>
              <a:ext uri="{FF2B5EF4-FFF2-40B4-BE49-F238E27FC236}">
                <a16:creationId xmlns:a16="http://schemas.microsoft.com/office/drawing/2014/main" id="{0DE70451-DE26-C5AD-6B4D-C6A5E091D15B}"/>
              </a:ext>
            </a:extLst>
          </p:cNvPr>
          <p:cNvGraphicFramePr>
            <a:graphicFrameLocks noGrp="1"/>
          </p:cNvGraphicFramePr>
          <p:nvPr>
            <p:extLst>
              <p:ext uri="{D42A27DB-BD31-4B8C-83A1-F6EECF244321}">
                <p14:modId xmlns:p14="http://schemas.microsoft.com/office/powerpoint/2010/main" val="4258233131"/>
              </p:ext>
            </p:extLst>
          </p:nvPr>
        </p:nvGraphicFramePr>
        <p:xfrm>
          <a:off x="327504" y="852748"/>
          <a:ext cx="8254631" cy="1346410"/>
        </p:xfrm>
        <a:graphic>
          <a:graphicData uri="http://schemas.openxmlformats.org/drawingml/2006/table">
            <a:tbl>
              <a:tblPr/>
              <a:tblGrid>
                <a:gridCol w="1371600">
                  <a:extLst>
                    <a:ext uri="{9D8B030D-6E8A-4147-A177-3AD203B41FA5}">
                      <a16:colId xmlns:a16="http://schemas.microsoft.com/office/drawing/2014/main" val="20000"/>
                    </a:ext>
                  </a:extLst>
                </a:gridCol>
                <a:gridCol w="6883031">
                  <a:extLst>
                    <a:ext uri="{9D8B030D-6E8A-4147-A177-3AD203B41FA5}">
                      <a16:colId xmlns:a16="http://schemas.microsoft.com/office/drawing/2014/main" val="20001"/>
                    </a:ext>
                  </a:extLst>
                </a:gridCol>
              </a:tblGrid>
              <a:tr h="232804">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Parameter</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Details</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Trial Name</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STARGLO </a:t>
                      </a: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(phase 3)</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Design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Randomized, </a:t>
                      </a:r>
                      <a:r>
                        <a:rPr lang="en-US" altLang="zh-CN"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open-label</a:t>
                      </a: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 placebo-controlled</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390">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Population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Untreated non–germinal center B-cell DLBCL</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2:1 </a:t>
                      </a:r>
                      <a:r>
                        <a:rPr lang="en-US" sz="1000" dirty="0" err="1">
                          <a:solidFill>
                            <a:schemeClr val="tx1"/>
                          </a:solidFill>
                          <a:latin typeface="Times New Roman" panose="02020603050405020304" pitchFamily="18" charset="0"/>
                          <a:ea typeface="QuattrocentoSans" charset="0"/>
                          <a:cs typeface="Times New Roman" panose="02020603050405020304" pitchFamily="18" charset="0"/>
                        </a:rPr>
                        <a:t>Glofit-GemOx</a:t>
                      </a:r>
                      <a:r>
                        <a:rPr lang="en-US" sz="1000" dirty="0">
                          <a:solidFill>
                            <a:schemeClr val="tx1"/>
                          </a:solidFill>
                          <a:latin typeface="Times New Roman" panose="02020603050405020304" pitchFamily="18" charset="0"/>
                          <a:ea typeface="QuattrocentoSans" charset="0"/>
                          <a:cs typeface="Times New Roman" panose="02020603050405020304" pitchFamily="18" charset="0"/>
                        </a:rPr>
                        <a:t> vs R-</a:t>
                      </a:r>
                      <a:r>
                        <a:rPr lang="en-US" sz="1000" dirty="0" err="1">
                          <a:solidFill>
                            <a:schemeClr val="tx1"/>
                          </a:solidFill>
                          <a:latin typeface="Times New Roman" panose="02020603050405020304" pitchFamily="18" charset="0"/>
                          <a:ea typeface="QuattrocentoSans" charset="0"/>
                          <a:cs typeface="Times New Roman" panose="02020603050405020304" pitchFamily="18" charset="0"/>
                        </a:rPr>
                        <a:t>GemOx</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06"/>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Primary Endpoint</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Overall survival (OS)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10"/>
                  </a:ext>
                </a:extLst>
              </a:tr>
            </a:tbl>
          </a:graphicData>
        </a:graphic>
      </p:graphicFrame>
      <p:sp>
        <p:nvSpPr>
          <p:cNvPr id="6" name="Text 3">
            <a:extLst>
              <a:ext uri="{FF2B5EF4-FFF2-40B4-BE49-F238E27FC236}">
                <a16:creationId xmlns:a16="http://schemas.microsoft.com/office/drawing/2014/main" id="{DC65DB20-D359-4749-1D64-EF8940681A66}"/>
              </a:ext>
            </a:extLst>
          </p:cNvPr>
          <p:cNvSpPr/>
          <p:nvPr/>
        </p:nvSpPr>
        <p:spPr>
          <a:xfrm>
            <a:off x="327504" y="2344673"/>
            <a:ext cx="3429000"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Stratification Factors &amp; results</a:t>
            </a:r>
            <a:endParaRPr lang="en-US" sz="1125" dirty="0">
              <a:solidFill>
                <a:schemeClr val="accent2"/>
              </a:solidFill>
            </a:endParaRPr>
          </a:p>
        </p:txBody>
      </p:sp>
      <p:graphicFrame>
        <p:nvGraphicFramePr>
          <p:cNvPr id="7" name="Table 1">
            <a:extLst>
              <a:ext uri="{FF2B5EF4-FFF2-40B4-BE49-F238E27FC236}">
                <a16:creationId xmlns:a16="http://schemas.microsoft.com/office/drawing/2014/main" id="{7FA59152-95FF-2183-E28E-06B3D0BFBD16}"/>
              </a:ext>
            </a:extLst>
          </p:cNvPr>
          <p:cNvGraphicFramePr>
            <a:graphicFrameLocks noGrp="1"/>
          </p:cNvGraphicFramePr>
          <p:nvPr>
            <p:extLst>
              <p:ext uri="{D42A27DB-BD31-4B8C-83A1-F6EECF244321}">
                <p14:modId xmlns:p14="http://schemas.microsoft.com/office/powerpoint/2010/main" val="3798022691"/>
              </p:ext>
            </p:extLst>
          </p:nvPr>
        </p:nvGraphicFramePr>
        <p:xfrm>
          <a:off x="272679" y="2602456"/>
          <a:ext cx="8309456" cy="1487995"/>
        </p:xfrm>
        <a:graphic>
          <a:graphicData uri="http://schemas.openxmlformats.org/drawingml/2006/table">
            <a:tbl>
              <a:tblPr/>
              <a:tblGrid>
                <a:gridCol w="2214509">
                  <a:extLst>
                    <a:ext uri="{9D8B030D-6E8A-4147-A177-3AD203B41FA5}">
                      <a16:colId xmlns:a16="http://schemas.microsoft.com/office/drawing/2014/main" val="2521518223"/>
                    </a:ext>
                  </a:extLst>
                </a:gridCol>
                <a:gridCol w="1409700">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819150">
                  <a:extLst>
                    <a:ext uri="{9D8B030D-6E8A-4147-A177-3AD203B41FA5}">
                      <a16:colId xmlns:a16="http://schemas.microsoft.com/office/drawing/2014/main" val="810406703"/>
                    </a:ext>
                  </a:extLst>
                </a:gridCol>
                <a:gridCol w="838200">
                  <a:extLst>
                    <a:ext uri="{9D8B030D-6E8A-4147-A177-3AD203B41FA5}">
                      <a16:colId xmlns:a16="http://schemas.microsoft.com/office/drawing/2014/main" val="20002"/>
                    </a:ext>
                  </a:extLst>
                </a:gridCol>
                <a:gridCol w="984250">
                  <a:extLst>
                    <a:ext uri="{9D8B030D-6E8A-4147-A177-3AD203B41FA5}">
                      <a16:colId xmlns:a16="http://schemas.microsoft.com/office/drawing/2014/main" val="315176101"/>
                    </a:ext>
                  </a:extLst>
                </a:gridCol>
                <a:gridCol w="1103847">
                  <a:extLst>
                    <a:ext uri="{9D8B030D-6E8A-4147-A177-3AD203B41FA5}">
                      <a16:colId xmlns:a16="http://schemas.microsoft.com/office/drawing/2014/main" val="1840053843"/>
                    </a:ext>
                  </a:extLst>
                </a:gridCol>
              </a:tblGrid>
              <a:tr h="0">
                <a:tc rowSpan="2" gridSpan="2">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solidFill>
                      <a:schemeClr val="accent2"/>
                    </a:solidFill>
                  </a:tcPr>
                </a:tc>
                <a:tc rowSpan="2" h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gridSpan="2">
                  <a:txBody>
                    <a:bodyPr/>
                    <a:lstStyle/>
                    <a:p>
                      <a:pPr algn="l"/>
                      <a:r>
                        <a:rPr lang="en-US" sz="1000" b="1" u="none" dirty="0" err="1">
                          <a:solidFill>
                            <a:srgbClr val="FFFFFF"/>
                          </a:solidFill>
                          <a:latin typeface="Times New Roman" panose="02020603050405020304" pitchFamily="18" charset="0"/>
                          <a:ea typeface="QuattrocentoSans" pitchFamily="34" charset="-122"/>
                          <a:cs typeface="Times New Roman" panose="02020603050405020304" pitchFamily="18" charset="0"/>
                        </a:rPr>
                        <a:t>Glofit-GemOx</a:t>
                      </a: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 (n=183)</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R-</a:t>
                      </a:r>
                      <a:r>
                        <a:rPr lang="en-US" sz="1000" b="1" u="none" dirty="0" err="1">
                          <a:solidFill>
                            <a:srgbClr val="FFFFFF"/>
                          </a:solidFill>
                          <a:latin typeface="Times New Roman" panose="02020603050405020304" pitchFamily="18" charset="0"/>
                          <a:ea typeface="QuattrocentoSans" pitchFamily="34" charset="-122"/>
                          <a:cs typeface="Times New Roman" panose="02020603050405020304" pitchFamily="18" charset="0"/>
                        </a:rPr>
                        <a:t>GemOx</a:t>
                      </a: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 (n=91)</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rowSpan="2">
                  <a:txBody>
                    <a:bodyPr/>
                    <a:lstStyle/>
                    <a:p>
                      <a:pPr algn="ctr"/>
                      <a:r>
                        <a:rPr lang="en-US" sz="1000" b="1" dirty="0">
                          <a:solidFill>
                            <a:schemeClr val="bg1"/>
                          </a:solidFill>
                          <a:latin typeface="Times New Roman" panose="02020603050405020304" pitchFamily="18" charset="0"/>
                          <a:ea typeface="QuattrocentoSans" charset="0"/>
                          <a:cs typeface="Times New Roman" panose="02020603050405020304" pitchFamily="18" charset="0"/>
                        </a:rPr>
                        <a:t>HR</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r>
                        <a:rPr lang="en-US" altLang="zh-CN" sz="1000" b="1" dirty="0">
                          <a:solidFill>
                            <a:schemeClr val="bg1"/>
                          </a:solidFill>
                          <a:latin typeface="Times New Roman" panose="02020603050405020304" pitchFamily="18" charset="0"/>
                          <a:ea typeface="QuattrocentoSans" charset="0"/>
                          <a:cs typeface="Times New Roman" panose="02020603050405020304" pitchFamily="18" charset="0"/>
                        </a:rPr>
                        <a:t>95%CI</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endParaRPr lang="en-US" sz="10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9487">
                <a:tc gridSpan="2" vMerge="1">
                  <a:txBody>
                    <a:bodyPr/>
                    <a:lstStyle/>
                    <a:p>
                      <a:endParaRPr lang="en-US"/>
                    </a:p>
                  </a:txBody>
                  <a:tcPr/>
                </a:tc>
                <a:tc hMerge="1" vMerge="1">
                  <a:txBody>
                    <a:bodyPr/>
                    <a:lstStyle/>
                    <a:p>
                      <a:endParaRPr lang="en-US"/>
                    </a:p>
                  </a:txBody>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Events/Median</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Events/Median</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a:t>
                      </a:r>
                      <a:r>
                        <a:rPr lang="zh-CN" altLang="en-US" sz="800" b="1" dirty="0">
                          <a:solidFill>
                            <a:schemeClr val="bg1"/>
                          </a:solidFill>
                          <a:latin typeface="Times New Roman" panose="02020603050405020304" pitchFamily="18" charset="0"/>
                          <a:cs typeface="Times New Roman" panose="02020603050405020304" pitchFamily="18" charset="0"/>
                        </a:rPr>
                        <a:t>（</a:t>
                      </a:r>
                      <a:r>
                        <a:rPr lang="en-US" altLang="zh-CN" sz="800" b="1" dirty="0">
                          <a:solidFill>
                            <a:schemeClr val="bg1"/>
                          </a:solidFill>
                          <a:latin typeface="Times New Roman" panose="02020603050405020304" pitchFamily="18" charset="0"/>
                          <a:cs typeface="Times New Roman" panose="02020603050405020304" pitchFamily="18" charset="0"/>
                        </a:rPr>
                        <a:t>%</a:t>
                      </a:r>
                      <a:r>
                        <a:rPr lang="zh-CN" altLang="en-US" sz="800" b="1" dirty="0">
                          <a:solidFill>
                            <a:schemeClr val="bg1"/>
                          </a:solidFill>
                          <a:latin typeface="Times New Roman" panose="02020603050405020304" pitchFamily="18" charset="0"/>
                          <a:cs typeface="Times New Roman" panose="02020603050405020304" pitchFamily="18" charset="0"/>
                        </a:rPr>
                        <a:t>）</a:t>
                      </a:r>
                      <a:endParaRPr lang="en-US" sz="800" b="1" dirty="0">
                        <a:solidFill>
                          <a:schemeClr val="bg1"/>
                        </a:solidFill>
                        <a:latin typeface="Times New Roman" panose="02020603050405020304" pitchFamily="18"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788755341"/>
                  </a:ext>
                </a:extLst>
              </a:tr>
              <a:tr h="278976">
                <a:tc rowSpan="2">
                  <a:txBody>
                    <a:bodyPr/>
                    <a:lstStyle/>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 outcome of last systemic therapy</a:t>
                      </a: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Relapsed disease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19 / NE</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71 (38.8)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16/27.8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37 (40.7)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0.51 (0.26, 0.98)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1732">
                <a:tc vMerge="1">
                  <a:txBody>
                    <a:bodyPr/>
                    <a:lstStyle/>
                    <a:p>
                      <a:endParaRPr dirty="0"/>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Refractory disease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61 / 11.9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112 (61.2)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36/7.5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54 (59.3)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0.65 (0.43, 0.99)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700">
                <a:tc rowSpan="2">
                  <a:txBody>
                    <a:bodyPr/>
                    <a:lstStyle/>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No. of previous lines of systemic therapy</a:t>
                      </a: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1</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44/NE</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115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28/15.7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57 (62.6)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0.68 (0.42, 1.09)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118188812"/>
                  </a:ext>
                </a:extLst>
              </a:tr>
              <a:tr h="297700">
                <a:tc vMerge="1">
                  <a:txBody>
                    <a:bodyPr/>
                    <a:lstStyle/>
                    <a:p>
                      <a:pPr algn="l" fontAlgn="b">
                        <a:buNone/>
                      </a:pP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&gt;=2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36/18.3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68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24/6.7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34 (37.4)</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0.55(0.33, 0.93)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2866939879"/>
                  </a:ext>
                </a:extLst>
              </a:tr>
            </a:tbl>
          </a:graphicData>
        </a:graphic>
      </p:graphicFrame>
      <p:sp>
        <p:nvSpPr>
          <p:cNvPr id="10" name="Text 5">
            <a:extLst>
              <a:ext uri="{FF2B5EF4-FFF2-40B4-BE49-F238E27FC236}">
                <a16:creationId xmlns:a16="http://schemas.microsoft.com/office/drawing/2014/main" id="{FAFD2E6E-32F1-27C9-FA30-71F9757EF682}"/>
              </a:ext>
            </a:extLst>
          </p:cNvPr>
          <p:cNvSpPr/>
          <p:nvPr/>
        </p:nvSpPr>
        <p:spPr>
          <a:xfrm>
            <a:off x="343564" y="5388603"/>
            <a:ext cx="8286750" cy="142875"/>
          </a:xfrm>
          <a:prstGeom prst="rect">
            <a:avLst/>
          </a:prstGeom>
          <a:noFill/>
          <a:ln/>
        </p:spPr>
        <p:txBody>
          <a:bodyPr wrap="none" lIns="0" tIns="0" rIns="0" bIns="0" rtlCol="0" anchor="ctr"/>
          <a:lstStyle/>
          <a:p>
            <a:pPr>
              <a:lnSpc>
                <a:spcPct val="130000"/>
              </a:lnSpc>
            </a:pPr>
            <a:r>
              <a:rPr lang="en-US" sz="675" dirty="0">
                <a:solidFill>
                  <a:srgbClr val="7A8B99"/>
                </a:solidFill>
                <a:latin typeface="QuattrocentoSans" pitchFamily="34" charset="0"/>
                <a:ea typeface="QuattrocentoSans" pitchFamily="34" charset="-122"/>
                <a:cs typeface="QuattrocentoSans" pitchFamily="34" charset="-120"/>
              </a:rPr>
              <a:t>PFS = progression-free survival; bid = twice daily; q3w = every 3 weeks. Patients were eligible regardless of surgical outcome or BRCA mutation status.</a:t>
            </a:r>
            <a:endParaRPr lang="en-US" sz="675" dirty="0"/>
          </a:p>
        </p:txBody>
      </p:sp>
    </p:spTree>
    <p:extLst>
      <p:ext uri="{BB962C8B-B14F-4D97-AF65-F5344CB8AC3E}">
        <p14:creationId xmlns:p14="http://schemas.microsoft.com/office/powerpoint/2010/main" val="297710614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01315-0D2E-1C0E-B55F-46F860A408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E99C6E-49B0-7A66-795B-4B1951630E8D}"/>
              </a:ext>
            </a:extLst>
          </p:cNvPr>
          <p:cNvSpPr/>
          <p:nvPr/>
        </p:nvSpPr>
        <p:spPr>
          <a:xfrm>
            <a:off x="327504" y="285750"/>
            <a:ext cx="8286750" cy="285750"/>
          </a:xfrm>
          <a:prstGeom prst="rect">
            <a:avLst/>
          </a:prstGeom>
          <a:noFill/>
          <a:ln/>
        </p:spPr>
        <p:txBody>
          <a:bodyPr wrap="none" lIns="0" tIns="0" rIns="0" bIns="0" rtlCol="0" anchor="ctr"/>
          <a:lstStyle/>
          <a:p>
            <a:pPr>
              <a:lnSpc>
                <a:spcPct val="130000"/>
              </a:lnSpc>
            </a:pPr>
            <a:r>
              <a:rPr lang="en-US" altLang="zh-CN" sz="1575" b="1" dirty="0">
                <a:solidFill>
                  <a:srgbClr val="BF1733"/>
                </a:solidFill>
                <a:latin typeface="QuattrocentoSans" pitchFamily="34" charset="0"/>
                <a:ea typeface="QuattrocentoSans" pitchFamily="34" charset="-122"/>
                <a:cs typeface="QuattrocentoSans" pitchFamily="34" charset="-120"/>
              </a:rPr>
              <a:t>01.7</a:t>
            </a:r>
            <a:r>
              <a:rPr lang="zh-CN" altLang="en-US" sz="1575" b="1" dirty="0">
                <a:solidFill>
                  <a:srgbClr val="BF1733"/>
                </a:solidFill>
                <a:latin typeface="QuattrocentoSans" pitchFamily="34" charset="0"/>
                <a:ea typeface="QuattrocentoSans" pitchFamily="34" charset="-122"/>
                <a:cs typeface="QuattrocentoSans" pitchFamily="34" charset="-120"/>
              </a:rPr>
              <a:t>分层因素例</a:t>
            </a:r>
            <a:r>
              <a:rPr lang="en-US" altLang="zh-CN" sz="1575" b="1" dirty="0">
                <a:solidFill>
                  <a:srgbClr val="BF1733"/>
                </a:solidFill>
                <a:latin typeface="QuattrocentoSans" pitchFamily="34" charset="0"/>
                <a:ea typeface="QuattrocentoSans" pitchFamily="34" charset="-122"/>
                <a:cs typeface="QuattrocentoSans" pitchFamily="34" charset="-120"/>
              </a:rPr>
              <a:t>2. POLARIX</a:t>
            </a:r>
            <a:r>
              <a:rPr lang="en-US" sz="1575" b="1" dirty="0">
                <a:solidFill>
                  <a:srgbClr val="BF1733"/>
                </a:solidFill>
                <a:latin typeface="QuattrocentoSans" pitchFamily="34" charset="0"/>
                <a:ea typeface="QuattrocentoSans" pitchFamily="34" charset="-122"/>
                <a:cs typeface="QuattrocentoSans" pitchFamily="34" charset="-120"/>
              </a:rPr>
              <a:t> Trial: Study Design and Stratification Factors</a:t>
            </a:r>
            <a:endParaRPr lang="en-US" sz="1575" dirty="0">
              <a:solidFill>
                <a:srgbClr val="BF1733"/>
              </a:solidFill>
            </a:endParaRPr>
          </a:p>
        </p:txBody>
      </p:sp>
      <p:sp>
        <p:nvSpPr>
          <p:cNvPr id="3" name="Shape 1">
            <a:extLst>
              <a:ext uri="{FF2B5EF4-FFF2-40B4-BE49-F238E27FC236}">
                <a16:creationId xmlns:a16="http://schemas.microsoft.com/office/drawing/2014/main" id="{48AEF637-0F23-F0B2-A3EA-809E364ACAFB}"/>
              </a:ext>
            </a:extLst>
          </p:cNvPr>
          <p:cNvSpPr/>
          <p:nvPr/>
        </p:nvSpPr>
        <p:spPr>
          <a:xfrm>
            <a:off x="428625" y="607219"/>
            <a:ext cx="8286750" cy="0"/>
          </a:xfrm>
          <a:prstGeom prst="straightConnector1">
            <a:avLst/>
          </a:prstGeom>
          <a:noFill/>
          <a:ln w="25400">
            <a:solidFill>
              <a:srgbClr val="2D4A5E"/>
            </a:solidFill>
            <a:prstDash val="solid"/>
            <a:headEnd type="none"/>
            <a:tailEnd type="none"/>
          </a:ln>
        </p:spPr>
        <p:txBody>
          <a:bodyPr/>
          <a:lstStyle/>
          <a:p>
            <a:endParaRPr lang="en-US" sz="1013"/>
          </a:p>
        </p:txBody>
      </p:sp>
      <p:sp>
        <p:nvSpPr>
          <p:cNvPr id="4" name="Text 2">
            <a:extLst>
              <a:ext uri="{FF2B5EF4-FFF2-40B4-BE49-F238E27FC236}">
                <a16:creationId xmlns:a16="http://schemas.microsoft.com/office/drawing/2014/main" id="{DB432936-B7E6-6DDA-E963-12F3C0C71BEC}"/>
              </a:ext>
            </a:extLst>
          </p:cNvPr>
          <p:cNvSpPr/>
          <p:nvPr/>
        </p:nvSpPr>
        <p:spPr>
          <a:xfrm>
            <a:off x="359623" y="612330"/>
            <a:ext cx="2143125"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Study Design Summary</a:t>
            </a:r>
            <a:endParaRPr lang="en-US" sz="1125" dirty="0">
              <a:solidFill>
                <a:schemeClr val="accent2"/>
              </a:solidFill>
            </a:endParaRPr>
          </a:p>
        </p:txBody>
      </p:sp>
      <p:graphicFrame>
        <p:nvGraphicFramePr>
          <p:cNvPr id="5" name="Table 0">
            <a:extLst>
              <a:ext uri="{FF2B5EF4-FFF2-40B4-BE49-F238E27FC236}">
                <a16:creationId xmlns:a16="http://schemas.microsoft.com/office/drawing/2014/main" id="{BC89CAD5-74DB-5613-6CBA-F5BB1968EA84}"/>
              </a:ext>
            </a:extLst>
          </p:cNvPr>
          <p:cNvGraphicFramePr>
            <a:graphicFrameLocks noGrp="1"/>
          </p:cNvGraphicFramePr>
          <p:nvPr>
            <p:extLst>
              <p:ext uri="{D42A27DB-BD31-4B8C-83A1-F6EECF244321}">
                <p14:modId xmlns:p14="http://schemas.microsoft.com/office/powerpoint/2010/main" val="4116580242"/>
              </p:ext>
            </p:extLst>
          </p:nvPr>
        </p:nvGraphicFramePr>
        <p:xfrm>
          <a:off x="343563" y="823285"/>
          <a:ext cx="8254631" cy="1346410"/>
        </p:xfrm>
        <a:graphic>
          <a:graphicData uri="http://schemas.openxmlformats.org/drawingml/2006/table">
            <a:tbl>
              <a:tblPr/>
              <a:tblGrid>
                <a:gridCol w="1371600">
                  <a:extLst>
                    <a:ext uri="{9D8B030D-6E8A-4147-A177-3AD203B41FA5}">
                      <a16:colId xmlns:a16="http://schemas.microsoft.com/office/drawing/2014/main" val="20000"/>
                    </a:ext>
                  </a:extLst>
                </a:gridCol>
                <a:gridCol w="6883031">
                  <a:extLst>
                    <a:ext uri="{9D8B030D-6E8A-4147-A177-3AD203B41FA5}">
                      <a16:colId xmlns:a16="http://schemas.microsoft.com/office/drawing/2014/main" val="20001"/>
                    </a:ext>
                  </a:extLst>
                </a:gridCol>
              </a:tblGrid>
              <a:tr h="232804">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Parameter</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Details</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Trial Name</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POLARIX(phase 3)</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Design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Randomized, double-blind, placebo-controlled</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390">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Population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 Previously Untreated Diffuse Large B-Cell Lymphoma</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1:1 </a:t>
                      </a:r>
                      <a:r>
                        <a:rPr lang="en-US" sz="1000" u="none" dirty="0" err="1">
                          <a:solidFill>
                            <a:schemeClr val="tx1"/>
                          </a:solidFill>
                          <a:latin typeface="Times New Roman" panose="02020603050405020304" pitchFamily="18" charset="0"/>
                          <a:ea typeface="QuattrocentoSans" pitchFamily="34" charset="-122"/>
                          <a:cs typeface="Times New Roman" panose="02020603050405020304" pitchFamily="18" charset="0"/>
                        </a:rPr>
                        <a:t>pola</a:t>
                      </a: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-R-CHP vs R-CHOP</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06"/>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Primary Endpoint</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Investigator-assessed PFS (progression-free survival)-228 </a:t>
                      </a:r>
                      <a:r>
                        <a:rPr lang="en-US" altLang="zh-CN"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events</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10"/>
                  </a:ext>
                </a:extLst>
              </a:tr>
            </a:tbl>
          </a:graphicData>
        </a:graphic>
      </p:graphicFrame>
      <p:sp>
        <p:nvSpPr>
          <p:cNvPr id="6" name="Text 3">
            <a:extLst>
              <a:ext uri="{FF2B5EF4-FFF2-40B4-BE49-F238E27FC236}">
                <a16:creationId xmlns:a16="http://schemas.microsoft.com/office/drawing/2014/main" id="{3F45CF39-852B-8B5E-72FE-EC112CEE49BF}"/>
              </a:ext>
            </a:extLst>
          </p:cNvPr>
          <p:cNvSpPr/>
          <p:nvPr/>
        </p:nvSpPr>
        <p:spPr>
          <a:xfrm>
            <a:off x="343564" y="2259716"/>
            <a:ext cx="3429000"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Stratification Factors &amp; results</a:t>
            </a:r>
            <a:endParaRPr lang="en-US" sz="1125" dirty="0">
              <a:solidFill>
                <a:schemeClr val="accent2"/>
              </a:solidFill>
            </a:endParaRPr>
          </a:p>
        </p:txBody>
      </p:sp>
      <p:graphicFrame>
        <p:nvGraphicFramePr>
          <p:cNvPr id="7" name="Table 1">
            <a:extLst>
              <a:ext uri="{FF2B5EF4-FFF2-40B4-BE49-F238E27FC236}">
                <a16:creationId xmlns:a16="http://schemas.microsoft.com/office/drawing/2014/main" id="{4803748F-5363-04B7-A81F-260DF1C78F22}"/>
              </a:ext>
            </a:extLst>
          </p:cNvPr>
          <p:cNvGraphicFramePr>
            <a:graphicFrameLocks noGrp="1"/>
          </p:cNvGraphicFramePr>
          <p:nvPr>
            <p:extLst>
              <p:ext uri="{D42A27DB-BD31-4B8C-83A1-F6EECF244321}">
                <p14:modId xmlns:p14="http://schemas.microsoft.com/office/powerpoint/2010/main" val="3552795659"/>
              </p:ext>
            </p:extLst>
          </p:nvPr>
        </p:nvGraphicFramePr>
        <p:xfrm>
          <a:off x="359623" y="2581865"/>
          <a:ext cx="8309456" cy="1815977"/>
        </p:xfrm>
        <a:graphic>
          <a:graphicData uri="http://schemas.openxmlformats.org/drawingml/2006/table">
            <a:tbl>
              <a:tblPr/>
              <a:tblGrid>
                <a:gridCol w="1255289">
                  <a:extLst>
                    <a:ext uri="{9D8B030D-6E8A-4147-A177-3AD203B41FA5}">
                      <a16:colId xmlns:a16="http://schemas.microsoft.com/office/drawing/2014/main" val="2521518223"/>
                    </a:ext>
                  </a:extLst>
                </a:gridCol>
                <a:gridCol w="2062435">
                  <a:extLst>
                    <a:ext uri="{9D8B030D-6E8A-4147-A177-3AD203B41FA5}">
                      <a16:colId xmlns:a16="http://schemas.microsoft.com/office/drawing/2014/main" val="20000"/>
                    </a:ext>
                  </a:extLst>
                </a:gridCol>
                <a:gridCol w="495047">
                  <a:extLst>
                    <a:ext uri="{9D8B030D-6E8A-4147-A177-3AD203B41FA5}">
                      <a16:colId xmlns:a16="http://schemas.microsoft.com/office/drawing/2014/main" val="20001"/>
                    </a:ext>
                  </a:extLst>
                </a:gridCol>
                <a:gridCol w="1457641">
                  <a:extLst>
                    <a:ext uri="{9D8B030D-6E8A-4147-A177-3AD203B41FA5}">
                      <a16:colId xmlns:a16="http://schemas.microsoft.com/office/drawing/2014/main" val="810406703"/>
                    </a:ext>
                  </a:extLst>
                </a:gridCol>
                <a:gridCol w="701318">
                  <a:extLst>
                    <a:ext uri="{9D8B030D-6E8A-4147-A177-3AD203B41FA5}">
                      <a16:colId xmlns:a16="http://schemas.microsoft.com/office/drawing/2014/main" val="20002"/>
                    </a:ext>
                  </a:extLst>
                </a:gridCol>
                <a:gridCol w="1072603">
                  <a:extLst>
                    <a:ext uri="{9D8B030D-6E8A-4147-A177-3AD203B41FA5}">
                      <a16:colId xmlns:a16="http://schemas.microsoft.com/office/drawing/2014/main" val="315176101"/>
                    </a:ext>
                  </a:extLst>
                </a:gridCol>
                <a:gridCol w="1265123">
                  <a:extLst>
                    <a:ext uri="{9D8B030D-6E8A-4147-A177-3AD203B41FA5}">
                      <a16:colId xmlns:a16="http://schemas.microsoft.com/office/drawing/2014/main" val="1840053843"/>
                    </a:ext>
                  </a:extLst>
                </a:gridCol>
              </a:tblGrid>
              <a:tr h="148850">
                <a:tc rowSpan="2" gridSpan="2">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solidFill>
                      <a:schemeClr val="accent2"/>
                    </a:solidFill>
                  </a:tcPr>
                </a:tc>
                <a:tc rowSpan="2" h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Pola-R-CHP (n=440)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R-CHOP (n=439)</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rowSpan="2">
                  <a:txBody>
                    <a:bodyPr/>
                    <a:lstStyle/>
                    <a:p>
                      <a:pPr algn="ctr"/>
                      <a:r>
                        <a:rPr lang="en-US" sz="1000" b="1" dirty="0">
                          <a:solidFill>
                            <a:schemeClr val="bg1"/>
                          </a:solidFill>
                          <a:latin typeface="Times New Roman" panose="02020603050405020304" pitchFamily="18" charset="0"/>
                          <a:ea typeface="QuattrocentoSans" charset="0"/>
                          <a:cs typeface="Times New Roman" panose="02020603050405020304" pitchFamily="18" charset="0"/>
                        </a:rPr>
                        <a:t>HR</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r>
                        <a:rPr lang="en-US" altLang="zh-CN" sz="1000" b="1" dirty="0">
                          <a:solidFill>
                            <a:schemeClr val="bg1"/>
                          </a:solidFill>
                          <a:latin typeface="Times New Roman" panose="02020603050405020304" pitchFamily="18" charset="0"/>
                          <a:ea typeface="QuattrocentoSans" charset="0"/>
                          <a:cs typeface="Times New Roman" panose="02020603050405020304" pitchFamily="18" charset="0"/>
                        </a:rPr>
                        <a:t>95%CI</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endParaRPr lang="en-US" sz="10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9487">
                <a:tc gridSpan="2" vMerge="1">
                  <a:txBody>
                    <a:bodyPr/>
                    <a:lstStyle/>
                    <a:p>
                      <a:endParaRPr lang="en-US"/>
                    </a:p>
                  </a:txBody>
                  <a:tcPr/>
                </a:tc>
                <a:tc hMerge="1" vMerge="1">
                  <a:txBody>
                    <a:bodyPr/>
                    <a:lstStyle/>
                    <a:p>
                      <a:endParaRPr lang="en-US"/>
                    </a:p>
                  </a:txBody>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a:t>
                      </a:r>
                      <a:r>
                        <a:rPr lang="zh-CN" altLang="en-US" sz="800" b="1" dirty="0">
                          <a:solidFill>
                            <a:schemeClr val="bg1"/>
                          </a:solidFill>
                          <a:latin typeface="Times New Roman" panose="02020603050405020304" pitchFamily="18" charset="0"/>
                          <a:cs typeface="Times New Roman" panose="02020603050405020304" pitchFamily="18" charset="0"/>
                        </a:rPr>
                        <a:t>（</a:t>
                      </a:r>
                      <a:r>
                        <a:rPr lang="en-US" altLang="zh-CN" sz="800" b="1" dirty="0">
                          <a:solidFill>
                            <a:schemeClr val="bg1"/>
                          </a:solidFill>
                          <a:latin typeface="Times New Roman" panose="02020603050405020304" pitchFamily="18" charset="0"/>
                          <a:cs typeface="Times New Roman" panose="02020603050405020304" pitchFamily="18" charset="0"/>
                        </a:rPr>
                        <a:t>%</a:t>
                      </a:r>
                      <a:r>
                        <a:rPr lang="zh-CN" altLang="en-US" sz="800" b="1" dirty="0">
                          <a:solidFill>
                            <a:schemeClr val="bg1"/>
                          </a:solidFill>
                          <a:latin typeface="Times New Roman" panose="02020603050405020304" pitchFamily="18" charset="0"/>
                          <a:cs typeface="Times New Roman" panose="02020603050405020304" pitchFamily="18" charset="0"/>
                        </a:rPr>
                        <a:t>）</a:t>
                      </a:r>
                      <a:endParaRPr lang="en-US" sz="800" b="1" dirty="0">
                        <a:solidFill>
                          <a:schemeClr val="bg1"/>
                        </a:solidFill>
                        <a:latin typeface="Times New Roman" panose="02020603050405020304" pitchFamily="18"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788755341"/>
                  </a:ext>
                </a:extLst>
              </a:tr>
              <a:tr h="166690">
                <a:tc rowSpan="2">
                  <a:txBody>
                    <a:bodyPr/>
                    <a:lstStyle/>
                    <a:p>
                      <a:pPr algn="l"/>
                      <a:r>
                        <a:rPr lang="en-US" sz="1000" dirty="0">
                          <a:latin typeface="Times New Roman" panose="02020603050405020304" pitchFamily="18" charset="0"/>
                          <a:ea typeface="QuattrocentoSans" charset="0"/>
                          <a:cs typeface="Times New Roman" panose="02020603050405020304" pitchFamily="18" charset="0"/>
                        </a:rPr>
                        <a:t>IPI score</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2</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167 (38.0)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167 (38.0)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 1.0(0.6-1.6)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3350">
                <a:tc v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3-5</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273 (62.0)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272 (62.0)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0.7(0.5-0.9)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4300">
                <a:tc rowSpan="2">
                  <a:txBody>
                    <a:bodyPr/>
                    <a:lstStyle/>
                    <a:p>
                      <a:pPr algn="l"/>
                      <a:r>
                        <a:rPr lang="en-US" sz="1000" dirty="0">
                          <a:latin typeface="Times New Roman" panose="02020603050405020304" pitchFamily="18" charset="0"/>
                          <a:ea typeface="QuattrocentoSans" charset="0"/>
                          <a:cs typeface="Times New Roman" panose="02020603050405020304" pitchFamily="18" charset="0"/>
                        </a:rPr>
                        <a:t>Bulky disease</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Presence </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193 (43.9)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192 (43.7)</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 (0.7-01.5)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422108029"/>
                  </a:ext>
                </a:extLst>
              </a:tr>
              <a:tr h="0">
                <a:tc v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Absence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 247(56.1)</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247 (56.3)</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0.6(0.4-0.8)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721761912"/>
                  </a:ext>
                </a:extLst>
              </a:tr>
              <a:tr h="297700">
                <a:tc rowSpan="3">
                  <a:txBody>
                    <a:bodyPr/>
                    <a:lstStyle/>
                    <a:p>
                      <a:pPr algn="l"/>
                      <a:r>
                        <a:rPr lang="en-US" sz="1000" dirty="0">
                          <a:latin typeface="Times New Roman" panose="02020603050405020304" pitchFamily="18" charset="0"/>
                          <a:ea typeface="QuattrocentoSans" charset="0"/>
                          <a:cs typeface="Times New Roman" panose="02020603050405020304" pitchFamily="18" charset="0"/>
                        </a:rPr>
                        <a:t>geographic region</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Western Europe, United States, Canada, and Australia</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302 (68.6)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301 (68.6)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0.8(0.6-1.1)</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118188812"/>
                  </a:ext>
                </a:extLst>
              </a:tr>
              <a:tr h="297700">
                <a:tc v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2D2A28"/>
                          </a:solidFill>
                          <a:latin typeface="Times New Roman" panose="02020603050405020304" pitchFamily="18" charset="0"/>
                          <a:ea typeface="QuattrocentoSans" pitchFamily="34" charset="-122"/>
                          <a:cs typeface="Times New Roman" panose="02020603050405020304" pitchFamily="18" charset="0"/>
                        </a:rPr>
                        <a:t> Asia</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81 (18.4)</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79 (18.0)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0.6(0.4-1.5)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45181946"/>
                  </a:ext>
                </a:extLst>
              </a:tr>
              <a:tr h="297700">
                <a:tc v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2D2A28"/>
                          </a:solidFill>
                          <a:latin typeface="Times New Roman" panose="02020603050405020304" pitchFamily="18" charset="0"/>
                          <a:ea typeface="QuattrocentoSans" pitchFamily="34" charset="-122"/>
                          <a:cs typeface="Times New Roman" panose="02020603050405020304" pitchFamily="18" charset="0"/>
                        </a:rPr>
                        <a:t> Rest of world</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57 (13.0)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59 (13.4)</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0.9(0.6-1.5)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3022855910"/>
                  </a:ext>
                </a:extLst>
              </a:tr>
            </a:tbl>
          </a:graphicData>
        </a:graphic>
      </p:graphicFrame>
      <p:sp>
        <p:nvSpPr>
          <p:cNvPr id="8" name="Text 6">
            <a:extLst>
              <a:ext uri="{FF2B5EF4-FFF2-40B4-BE49-F238E27FC236}">
                <a16:creationId xmlns:a16="http://schemas.microsoft.com/office/drawing/2014/main" id="{FC01D917-E8BA-DEBE-FE8B-A8B1B05C5A71}"/>
              </a:ext>
            </a:extLst>
          </p:cNvPr>
          <p:cNvSpPr/>
          <p:nvPr/>
        </p:nvSpPr>
        <p:spPr>
          <a:xfrm>
            <a:off x="359623" y="4597287"/>
            <a:ext cx="8429625" cy="200025"/>
          </a:xfrm>
          <a:prstGeom prst="rect">
            <a:avLst/>
          </a:prstGeom>
          <a:noFill/>
          <a:ln/>
        </p:spPr>
        <p:txBody>
          <a:bodyPr wrap="none" lIns="0" tIns="0" rIns="0" bIns="0" rtlCol="0" anchor="ctr"/>
          <a:lstStyle/>
          <a:p>
            <a:pPr defTabSz="514350">
              <a:lnSpc>
                <a:spcPct val="140000"/>
              </a:lnSpc>
            </a:pPr>
            <a:r>
              <a:rPr lang="en-US" sz="731" dirty="0">
                <a:solidFill>
                  <a:srgbClr val="8C7E78"/>
                </a:solidFill>
                <a:latin typeface="QuattrocentoSans" pitchFamily="34" charset="0"/>
                <a:ea typeface="QuattrocentoSans" pitchFamily="34" charset="-122"/>
                <a:cs typeface="QuattrocentoSans" pitchFamily="34" charset="-120"/>
              </a:rPr>
              <a:t>来源：Tilly H, et al. Polatuzumab Vedotin in Previously Untreated Diffuse Large B-Cell Lymphoma. </a:t>
            </a:r>
            <a:r>
              <a:rPr lang="en-US" sz="731" i="1" dirty="0">
                <a:solidFill>
                  <a:srgbClr val="8C7E78"/>
                </a:solidFill>
                <a:latin typeface="QuattrocentoSans" pitchFamily="34" charset="0"/>
                <a:ea typeface="QuattrocentoSans" pitchFamily="34" charset="-122"/>
                <a:cs typeface="QuattrocentoSans" pitchFamily="34" charset="-120"/>
              </a:rPr>
              <a:t>N Engl J Med</a:t>
            </a:r>
            <a:r>
              <a:rPr lang="en-US" sz="731" dirty="0">
                <a:solidFill>
                  <a:srgbClr val="8C7E78"/>
                </a:solidFill>
                <a:latin typeface="QuattrocentoSans" pitchFamily="34" charset="0"/>
                <a:ea typeface="QuattrocentoSans" pitchFamily="34" charset="-122"/>
                <a:cs typeface="QuattrocentoSans" pitchFamily="34" charset="-120"/>
              </a:rPr>
              <a:t> 2022;386:351-363. </a:t>
            </a:r>
            <a:r>
              <a:rPr lang="en-US" sz="731" u="sng" dirty="0">
                <a:solidFill>
                  <a:srgbClr val="8C7E78"/>
                </a:solidFill>
                <a:latin typeface="QuattrocentoSans" pitchFamily="34" charset="0"/>
                <a:ea typeface="QuattrocentoSans" pitchFamily="34" charset="-122"/>
                <a:cs typeface="QuattrocentoSans" pitchFamily="34" charset="-120"/>
                <a:hlinkClick r:id="rId3" action="ppaction://hlinkfile">
                  <a:extLst>
                    <a:ext uri="{A12FA001-AC4F-418D-AE19-62706E023703}">
                      <ahyp:hlinkClr xmlns:ahyp="http://schemas.microsoft.com/office/drawing/2018/hyperlinkcolor" val="tx"/>
                    </a:ext>
                  </a:extLst>
                </a:hlinkClick>
              </a:rPr>
              <a:t>DOI: 10.1056/NEJMoa2115304</a:t>
            </a:r>
            <a:endParaRPr lang="en-US" sz="731" dirty="0">
              <a:solidFill>
                <a:srgbClr val="000000"/>
              </a:solidFill>
              <a:latin typeface="Calibri" panose="020F0502020204030204"/>
            </a:endParaRPr>
          </a:p>
        </p:txBody>
      </p:sp>
    </p:spTree>
    <p:extLst>
      <p:ext uri="{BB962C8B-B14F-4D97-AF65-F5344CB8AC3E}">
        <p14:creationId xmlns:p14="http://schemas.microsoft.com/office/powerpoint/2010/main" val="427223468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E4294-D26B-3453-9A3B-7071DE21AB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0FBF40-EF45-93D7-D0AF-4D80A37952C4}"/>
              </a:ext>
            </a:extLst>
          </p:cNvPr>
          <p:cNvSpPr/>
          <p:nvPr/>
        </p:nvSpPr>
        <p:spPr>
          <a:xfrm>
            <a:off x="327504" y="285750"/>
            <a:ext cx="8286750" cy="285750"/>
          </a:xfrm>
          <a:prstGeom prst="rect">
            <a:avLst/>
          </a:prstGeom>
          <a:noFill/>
          <a:ln/>
        </p:spPr>
        <p:txBody>
          <a:bodyPr wrap="none" lIns="0" tIns="0" rIns="0" bIns="0" rtlCol="0" anchor="ctr"/>
          <a:lstStyle/>
          <a:p>
            <a:pPr>
              <a:lnSpc>
                <a:spcPct val="130000"/>
              </a:lnSpc>
            </a:pPr>
            <a:r>
              <a:rPr lang="en-US" altLang="zh-CN" sz="1575" b="1" dirty="0">
                <a:solidFill>
                  <a:srgbClr val="BF1733"/>
                </a:solidFill>
                <a:latin typeface="QuattrocentoSans" pitchFamily="34" charset="0"/>
                <a:ea typeface="QuattrocentoSans" pitchFamily="34" charset="-122"/>
                <a:cs typeface="QuattrocentoSans" pitchFamily="34" charset="-120"/>
              </a:rPr>
              <a:t>01.7</a:t>
            </a:r>
            <a:r>
              <a:rPr lang="zh-CN" altLang="en-US" sz="1575" b="1" dirty="0">
                <a:solidFill>
                  <a:srgbClr val="BF1733"/>
                </a:solidFill>
                <a:latin typeface="QuattrocentoSans" pitchFamily="34" charset="0"/>
                <a:ea typeface="QuattrocentoSans" pitchFamily="34" charset="-122"/>
                <a:cs typeface="QuattrocentoSans" pitchFamily="34" charset="-120"/>
              </a:rPr>
              <a:t>分层因素例</a:t>
            </a:r>
            <a:r>
              <a:rPr lang="en-US" altLang="zh-CN" sz="1575" b="1" dirty="0">
                <a:solidFill>
                  <a:srgbClr val="BF1733"/>
                </a:solidFill>
                <a:latin typeface="QuattrocentoSans" pitchFamily="34" charset="0"/>
                <a:ea typeface="QuattrocentoSans" pitchFamily="34" charset="-122"/>
                <a:cs typeface="QuattrocentoSans" pitchFamily="34" charset="-120"/>
              </a:rPr>
              <a:t>3. PHOENIX</a:t>
            </a:r>
            <a:r>
              <a:rPr lang="en-US" sz="1575" b="1" dirty="0">
                <a:solidFill>
                  <a:srgbClr val="BF1733"/>
                </a:solidFill>
                <a:latin typeface="QuattrocentoSans" pitchFamily="34" charset="0"/>
                <a:ea typeface="QuattrocentoSans" pitchFamily="34" charset="-122"/>
                <a:cs typeface="QuattrocentoSans" pitchFamily="34" charset="-120"/>
              </a:rPr>
              <a:t> Trial: Study Design and Stratification Factors</a:t>
            </a:r>
            <a:endParaRPr lang="en-US" sz="1575" dirty="0">
              <a:solidFill>
                <a:srgbClr val="BF1733"/>
              </a:solidFill>
            </a:endParaRPr>
          </a:p>
        </p:txBody>
      </p:sp>
      <p:sp>
        <p:nvSpPr>
          <p:cNvPr id="3" name="Shape 1">
            <a:extLst>
              <a:ext uri="{FF2B5EF4-FFF2-40B4-BE49-F238E27FC236}">
                <a16:creationId xmlns:a16="http://schemas.microsoft.com/office/drawing/2014/main" id="{8A57BCCE-084F-58D3-D8C8-4AC351E38734}"/>
              </a:ext>
            </a:extLst>
          </p:cNvPr>
          <p:cNvSpPr/>
          <p:nvPr/>
        </p:nvSpPr>
        <p:spPr>
          <a:xfrm>
            <a:off x="428625" y="607219"/>
            <a:ext cx="8286750" cy="0"/>
          </a:xfrm>
          <a:prstGeom prst="straightConnector1">
            <a:avLst/>
          </a:prstGeom>
          <a:noFill/>
          <a:ln w="25400">
            <a:solidFill>
              <a:srgbClr val="2D4A5E"/>
            </a:solidFill>
            <a:prstDash val="solid"/>
            <a:headEnd type="none"/>
            <a:tailEnd type="none"/>
          </a:ln>
        </p:spPr>
        <p:txBody>
          <a:bodyPr/>
          <a:lstStyle/>
          <a:p>
            <a:endParaRPr lang="en-US" sz="1013"/>
          </a:p>
        </p:txBody>
      </p:sp>
      <p:sp>
        <p:nvSpPr>
          <p:cNvPr id="4" name="Text 2">
            <a:extLst>
              <a:ext uri="{FF2B5EF4-FFF2-40B4-BE49-F238E27FC236}">
                <a16:creationId xmlns:a16="http://schemas.microsoft.com/office/drawing/2014/main" id="{E502A42F-4277-F0B1-F2AE-94B115086767}"/>
              </a:ext>
            </a:extLst>
          </p:cNvPr>
          <p:cNvSpPr/>
          <p:nvPr/>
        </p:nvSpPr>
        <p:spPr>
          <a:xfrm>
            <a:off x="359623" y="612330"/>
            <a:ext cx="2143125"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Study Design Summary</a:t>
            </a:r>
            <a:endParaRPr lang="en-US" sz="1125" dirty="0">
              <a:solidFill>
                <a:schemeClr val="accent2"/>
              </a:solidFill>
            </a:endParaRPr>
          </a:p>
        </p:txBody>
      </p:sp>
      <p:graphicFrame>
        <p:nvGraphicFramePr>
          <p:cNvPr id="5" name="Table 0">
            <a:extLst>
              <a:ext uri="{FF2B5EF4-FFF2-40B4-BE49-F238E27FC236}">
                <a16:creationId xmlns:a16="http://schemas.microsoft.com/office/drawing/2014/main" id="{4FA8E5C0-7163-A245-83C0-C5B188F2CF83}"/>
              </a:ext>
            </a:extLst>
          </p:cNvPr>
          <p:cNvGraphicFramePr>
            <a:graphicFrameLocks noGrp="1"/>
          </p:cNvGraphicFramePr>
          <p:nvPr>
            <p:extLst>
              <p:ext uri="{D42A27DB-BD31-4B8C-83A1-F6EECF244321}">
                <p14:modId xmlns:p14="http://schemas.microsoft.com/office/powerpoint/2010/main" val="837642340"/>
              </p:ext>
            </p:extLst>
          </p:nvPr>
        </p:nvGraphicFramePr>
        <p:xfrm>
          <a:off x="327504" y="852748"/>
          <a:ext cx="8254631" cy="1346410"/>
        </p:xfrm>
        <a:graphic>
          <a:graphicData uri="http://schemas.openxmlformats.org/drawingml/2006/table">
            <a:tbl>
              <a:tblPr/>
              <a:tblGrid>
                <a:gridCol w="1371600">
                  <a:extLst>
                    <a:ext uri="{9D8B030D-6E8A-4147-A177-3AD203B41FA5}">
                      <a16:colId xmlns:a16="http://schemas.microsoft.com/office/drawing/2014/main" val="20000"/>
                    </a:ext>
                  </a:extLst>
                </a:gridCol>
                <a:gridCol w="6883031">
                  <a:extLst>
                    <a:ext uri="{9D8B030D-6E8A-4147-A177-3AD203B41FA5}">
                      <a16:colId xmlns:a16="http://schemas.microsoft.com/office/drawing/2014/main" val="20001"/>
                    </a:ext>
                  </a:extLst>
                </a:gridCol>
              </a:tblGrid>
              <a:tr h="232804">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Parameter</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Details</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Trial Name</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PHOENIX</a:t>
                      </a: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(phase 3)</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Design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Randomized, double-blind, placebo-controlled</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82390">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Population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Untreated non–germinal center B-cell DLBCL</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1:1 ibrutinib plus R-CHOP vs placebo plus R-CHOP</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06"/>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Primary Endpoint</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dirty="0">
                          <a:solidFill>
                            <a:schemeClr val="tx1"/>
                          </a:solidFill>
                          <a:latin typeface="Times New Roman" panose="02020603050405020304" pitchFamily="18" charset="0"/>
                          <a:ea typeface="QuattrocentoSans" charset="0"/>
                          <a:cs typeface="Times New Roman" panose="02020603050405020304" pitchFamily="18" charset="0"/>
                        </a:rPr>
                        <a:t>Event-free survival (EFS) in the </a:t>
                      </a:r>
                      <a:r>
                        <a:rPr lang="en-US" sz="1000" dirty="0" err="1">
                          <a:solidFill>
                            <a:schemeClr val="tx1"/>
                          </a:solidFill>
                          <a:latin typeface="Times New Roman" panose="02020603050405020304" pitchFamily="18" charset="0"/>
                          <a:ea typeface="QuattrocentoSans" charset="0"/>
                          <a:cs typeface="Times New Roman" panose="02020603050405020304" pitchFamily="18" charset="0"/>
                        </a:rPr>
                        <a:t>intentto</a:t>
                      </a:r>
                      <a:r>
                        <a:rPr lang="en-US" sz="1000" dirty="0">
                          <a:solidFill>
                            <a:schemeClr val="tx1"/>
                          </a:solidFill>
                          <a:latin typeface="Times New Roman" panose="02020603050405020304" pitchFamily="18" charset="0"/>
                          <a:ea typeface="QuattrocentoSans" charset="0"/>
                          <a:cs typeface="Times New Roman" panose="02020603050405020304" pitchFamily="18" charset="0"/>
                        </a:rPr>
                        <a:t>-treat (ITT) population and the activated B-cell (ABC) DLBCL subgroup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10"/>
                  </a:ext>
                </a:extLst>
              </a:tr>
            </a:tbl>
          </a:graphicData>
        </a:graphic>
      </p:graphicFrame>
      <p:sp>
        <p:nvSpPr>
          <p:cNvPr id="6" name="Text 3">
            <a:extLst>
              <a:ext uri="{FF2B5EF4-FFF2-40B4-BE49-F238E27FC236}">
                <a16:creationId xmlns:a16="http://schemas.microsoft.com/office/drawing/2014/main" id="{15CF6BCD-E3F6-152B-DC5C-693337E60D27}"/>
              </a:ext>
            </a:extLst>
          </p:cNvPr>
          <p:cNvSpPr/>
          <p:nvPr/>
        </p:nvSpPr>
        <p:spPr>
          <a:xfrm>
            <a:off x="327504" y="2344673"/>
            <a:ext cx="3429000"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Stratification Factors &amp; results</a:t>
            </a:r>
            <a:endParaRPr lang="en-US" sz="1125" dirty="0">
              <a:solidFill>
                <a:schemeClr val="accent2"/>
              </a:solidFill>
            </a:endParaRPr>
          </a:p>
        </p:txBody>
      </p:sp>
      <p:graphicFrame>
        <p:nvGraphicFramePr>
          <p:cNvPr id="7" name="Table 1">
            <a:extLst>
              <a:ext uri="{FF2B5EF4-FFF2-40B4-BE49-F238E27FC236}">
                <a16:creationId xmlns:a16="http://schemas.microsoft.com/office/drawing/2014/main" id="{462210D9-D839-0BEC-B56F-3B802CABF482}"/>
              </a:ext>
            </a:extLst>
          </p:cNvPr>
          <p:cNvGraphicFramePr>
            <a:graphicFrameLocks noGrp="1"/>
          </p:cNvGraphicFramePr>
          <p:nvPr>
            <p:extLst>
              <p:ext uri="{D42A27DB-BD31-4B8C-83A1-F6EECF244321}">
                <p14:modId xmlns:p14="http://schemas.microsoft.com/office/powerpoint/2010/main" val="3232472396"/>
              </p:ext>
            </p:extLst>
          </p:nvPr>
        </p:nvGraphicFramePr>
        <p:xfrm>
          <a:off x="300091" y="2550003"/>
          <a:ext cx="8309456" cy="2038139"/>
        </p:xfrm>
        <a:graphic>
          <a:graphicData uri="http://schemas.openxmlformats.org/drawingml/2006/table">
            <a:tbl>
              <a:tblPr/>
              <a:tblGrid>
                <a:gridCol w="2214509">
                  <a:extLst>
                    <a:ext uri="{9D8B030D-6E8A-4147-A177-3AD203B41FA5}">
                      <a16:colId xmlns:a16="http://schemas.microsoft.com/office/drawing/2014/main" val="2521518223"/>
                    </a:ext>
                  </a:extLst>
                </a:gridCol>
                <a:gridCol w="1409700">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819150">
                  <a:extLst>
                    <a:ext uri="{9D8B030D-6E8A-4147-A177-3AD203B41FA5}">
                      <a16:colId xmlns:a16="http://schemas.microsoft.com/office/drawing/2014/main" val="810406703"/>
                    </a:ext>
                  </a:extLst>
                </a:gridCol>
                <a:gridCol w="838200">
                  <a:extLst>
                    <a:ext uri="{9D8B030D-6E8A-4147-A177-3AD203B41FA5}">
                      <a16:colId xmlns:a16="http://schemas.microsoft.com/office/drawing/2014/main" val="20002"/>
                    </a:ext>
                  </a:extLst>
                </a:gridCol>
                <a:gridCol w="984250">
                  <a:extLst>
                    <a:ext uri="{9D8B030D-6E8A-4147-A177-3AD203B41FA5}">
                      <a16:colId xmlns:a16="http://schemas.microsoft.com/office/drawing/2014/main" val="315176101"/>
                    </a:ext>
                  </a:extLst>
                </a:gridCol>
                <a:gridCol w="1103847">
                  <a:extLst>
                    <a:ext uri="{9D8B030D-6E8A-4147-A177-3AD203B41FA5}">
                      <a16:colId xmlns:a16="http://schemas.microsoft.com/office/drawing/2014/main" val="1840053843"/>
                    </a:ext>
                  </a:extLst>
                </a:gridCol>
              </a:tblGrid>
              <a:tr h="0">
                <a:tc rowSpan="2" gridSpan="2">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solidFill>
                      <a:schemeClr val="accent2"/>
                    </a:solidFill>
                  </a:tcPr>
                </a:tc>
                <a:tc rowSpan="2" h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gridSpan="2">
                  <a:txBody>
                    <a:bodyPr/>
                    <a:lstStyle/>
                    <a:p>
                      <a:pPr algn="l"/>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Ibrutinib +R-CHOP (n=419)</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Placebo +R-CHOP  (n=419)</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rowSpan="2">
                  <a:txBody>
                    <a:bodyPr/>
                    <a:lstStyle/>
                    <a:p>
                      <a:pPr algn="ctr"/>
                      <a:r>
                        <a:rPr lang="en-US" sz="1000" b="1" dirty="0">
                          <a:solidFill>
                            <a:schemeClr val="bg1"/>
                          </a:solidFill>
                          <a:latin typeface="Times New Roman" panose="02020603050405020304" pitchFamily="18" charset="0"/>
                          <a:ea typeface="QuattrocentoSans" charset="0"/>
                          <a:cs typeface="Times New Roman" panose="02020603050405020304" pitchFamily="18" charset="0"/>
                        </a:rPr>
                        <a:t>HR</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r>
                        <a:rPr lang="en-US" altLang="zh-CN" sz="1000" b="1" dirty="0">
                          <a:solidFill>
                            <a:schemeClr val="bg1"/>
                          </a:solidFill>
                          <a:latin typeface="Times New Roman" panose="02020603050405020304" pitchFamily="18" charset="0"/>
                          <a:ea typeface="QuattrocentoSans" charset="0"/>
                          <a:cs typeface="Times New Roman" panose="02020603050405020304" pitchFamily="18" charset="0"/>
                        </a:rPr>
                        <a:t>95%CI</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endParaRPr lang="en-US" sz="10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9487">
                <a:tc gridSpan="2" vMerge="1">
                  <a:txBody>
                    <a:bodyPr/>
                    <a:lstStyle/>
                    <a:p>
                      <a:endParaRPr lang="en-US"/>
                    </a:p>
                  </a:txBody>
                  <a:tcPr/>
                </a:tc>
                <a:tc hMerge="1" vMerge="1">
                  <a:txBody>
                    <a:bodyPr/>
                    <a:lstStyle/>
                    <a:p>
                      <a:endParaRPr lang="en-US"/>
                    </a:p>
                  </a:txBody>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a:t>
                      </a:r>
                      <a:r>
                        <a:rPr lang="zh-CN" altLang="en-US" sz="800" b="1" dirty="0">
                          <a:solidFill>
                            <a:schemeClr val="bg1"/>
                          </a:solidFill>
                          <a:latin typeface="Times New Roman" panose="02020603050405020304" pitchFamily="18" charset="0"/>
                          <a:cs typeface="Times New Roman" panose="02020603050405020304" pitchFamily="18" charset="0"/>
                        </a:rPr>
                        <a:t>（</a:t>
                      </a:r>
                      <a:r>
                        <a:rPr lang="en-US" altLang="zh-CN" sz="800" b="1" dirty="0">
                          <a:solidFill>
                            <a:schemeClr val="bg1"/>
                          </a:solidFill>
                          <a:latin typeface="Times New Roman" panose="02020603050405020304" pitchFamily="18" charset="0"/>
                          <a:cs typeface="Times New Roman" panose="02020603050405020304" pitchFamily="18" charset="0"/>
                        </a:rPr>
                        <a:t>%</a:t>
                      </a:r>
                      <a:r>
                        <a:rPr lang="zh-CN" altLang="en-US" sz="800" b="1" dirty="0">
                          <a:solidFill>
                            <a:schemeClr val="bg1"/>
                          </a:solidFill>
                          <a:latin typeface="Times New Roman" panose="02020603050405020304" pitchFamily="18" charset="0"/>
                          <a:cs typeface="Times New Roman" panose="02020603050405020304" pitchFamily="18" charset="0"/>
                        </a:rPr>
                        <a:t>）</a:t>
                      </a:r>
                      <a:endParaRPr lang="en-US" sz="800" b="1" dirty="0">
                        <a:solidFill>
                          <a:schemeClr val="bg1"/>
                        </a:solidFill>
                        <a:latin typeface="Times New Roman" panose="02020603050405020304" pitchFamily="18"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788755341"/>
                  </a:ext>
                </a:extLst>
              </a:tr>
              <a:tr h="278976">
                <a:tc rowSpan="2">
                  <a:txBody>
                    <a:bodyPr/>
                    <a:lstStyle/>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R-IPI (1-2 vs. 3-5)</a:t>
                      </a:r>
                    </a:p>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1-2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45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236 (56.3)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238 (56.8)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0.79 (0.53 to 1.17)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1732">
                <a:tc vMerge="1">
                  <a:txBody>
                    <a:bodyPr/>
                    <a:lstStyle/>
                    <a:p>
                      <a:endParaRPr dirty="0"/>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3-5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73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183 (43.7)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73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181 (43.2)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1.07 (0.77 to 1.48)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700">
                <a:tc rowSpan="2">
                  <a:txBody>
                    <a:bodyPr/>
                    <a:lstStyle/>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region  </a:t>
                      </a: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U.S./Western Europe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30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131 (31.3)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131 (31.3)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1.22 (0.72 to 2.06)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118188812"/>
                  </a:ext>
                </a:extLst>
              </a:tr>
              <a:tr h="297700">
                <a:tc vMerge="1">
                  <a:txBody>
                    <a:bodyPr/>
                    <a:lstStyle/>
                    <a:p>
                      <a:pPr algn="l" fontAlgn="b">
                        <a:buNone/>
                      </a:pP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Rest of World</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88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288 (68.7)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103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288 (68.7)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0.85 (0.64 to 1.13)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2866939879"/>
                  </a:ext>
                </a:extLst>
              </a:tr>
              <a:tr h="297700">
                <a:tc rowSpan="2">
                  <a:txBody>
                    <a:bodyPr/>
                    <a:lstStyle/>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pre-specified treatment cycles</a:t>
                      </a:r>
                    </a:p>
                    <a:p>
                      <a:pPr algn="l" fontAlgn="b">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6 cycles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68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246 (58.7)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75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246 </a:t>
                      </a: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(58.7)</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0.92 (0.66 to 1.28)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45181946"/>
                  </a:ext>
                </a:extLst>
              </a:tr>
              <a:tr h="252444">
                <a:tc vMerge="1">
                  <a:txBody>
                    <a:bodyPr/>
                    <a:lstStyle/>
                    <a:p>
                      <a:endParaRPr dirty="0"/>
                    </a:p>
                  </a:txBody>
                  <a:tcPr marL="6350" marR="6350" marT="6350" marB="0" anchor="b">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dirty="0">
                          <a:latin typeface="Times New Roman" panose="02020603050405020304" pitchFamily="18" charset="0"/>
                          <a:ea typeface="QuattrocentoSans" charset="0"/>
                          <a:cs typeface="Times New Roman" panose="02020603050405020304" pitchFamily="18" charset="0"/>
                        </a:rPr>
                        <a:t>8 cycles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kern="1200" dirty="0">
                          <a:solidFill>
                            <a:srgbClr val="1C1C1E"/>
                          </a:solidFill>
                          <a:latin typeface="Times New Roman" panose="02020603050405020304" pitchFamily="18" charset="0"/>
                          <a:ea typeface="QuattrocentoSans" pitchFamily="34" charset="-122"/>
                          <a:cs typeface="Times New Roman" panose="02020603050405020304" pitchFamily="18" charset="0"/>
                        </a:rPr>
                        <a:t>173 (41.3)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54</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173 (41.3)</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0.92 (0.63 to 1.36)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3022855910"/>
                  </a:ext>
                </a:extLst>
              </a:tr>
            </a:tbl>
          </a:graphicData>
        </a:graphic>
      </p:graphicFrame>
      <p:sp>
        <p:nvSpPr>
          <p:cNvPr id="10" name="Text 5">
            <a:extLst>
              <a:ext uri="{FF2B5EF4-FFF2-40B4-BE49-F238E27FC236}">
                <a16:creationId xmlns:a16="http://schemas.microsoft.com/office/drawing/2014/main" id="{7D959436-219A-E20E-5141-C87AF76C992E}"/>
              </a:ext>
            </a:extLst>
          </p:cNvPr>
          <p:cNvSpPr/>
          <p:nvPr/>
        </p:nvSpPr>
        <p:spPr>
          <a:xfrm>
            <a:off x="343564" y="5388603"/>
            <a:ext cx="8286750" cy="142875"/>
          </a:xfrm>
          <a:prstGeom prst="rect">
            <a:avLst/>
          </a:prstGeom>
          <a:noFill/>
          <a:ln/>
        </p:spPr>
        <p:txBody>
          <a:bodyPr wrap="none" lIns="0" tIns="0" rIns="0" bIns="0" rtlCol="0" anchor="ctr"/>
          <a:lstStyle/>
          <a:p>
            <a:pPr>
              <a:lnSpc>
                <a:spcPct val="130000"/>
              </a:lnSpc>
            </a:pPr>
            <a:r>
              <a:rPr lang="en-US" sz="675" dirty="0">
                <a:solidFill>
                  <a:srgbClr val="7A8B99"/>
                </a:solidFill>
                <a:latin typeface="QuattrocentoSans" pitchFamily="34" charset="0"/>
                <a:ea typeface="QuattrocentoSans" pitchFamily="34" charset="-122"/>
                <a:cs typeface="QuattrocentoSans" pitchFamily="34" charset="-120"/>
              </a:rPr>
              <a:t>PFS = progression-free survival; bid = twice daily; q3w = every 3 weeks. Patients were eligible regardless of surgical outcome or BRCA mutation status.</a:t>
            </a:r>
            <a:endParaRPr lang="en-US" sz="675" dirty="0"/>
          </a:p>
        </p:txBody>
      </p:sp>
    </p:spTree>
    <p:extLst>
      <p:ext uri="{BB962C8B-B14F-4D97-AF65-F5344CB8AC3E}">
        <p14:creationId xmlns:p14="http://schemas.microsoft.com/office/powerpoint/2010/main" val="9366979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7504" y="285750"/>
            <a:ext cx="8286750" cy="285750"/>
          </a:xfrm>
          <a:prstGeom prst="rect">
            <a:avLst/>
          </a:prstGeom>
          <a:noFill/>
          <a:ln/>
        </p:spPr>
        <p:txBody>
          <a:bodyPr wrap="none" lIns="0" tIns="0" rIns="0" bIns="0" rtlCol="0" anchor="ctr"/>
          <a:lstStyle/>
          <a:p>
            <a:pPr>
              <a:lnSpc>
                <a:spcPct val="130000"/>
              </a:lnSpc>
            </a:pPr>
            <a:r>
              <a:rPr lang="en-US" altLang="zh-CN" sz="1575" b="1" dirty="0">
                <a:solidFill>
                  <a:srgbClr val="BF1733"/>
                </a:solidFill>
                <a:latin typeface="QuattrocentoSans" pitchFamily="34" charset="0"/>
                <a:ea typeface="QuattrocentoSans" pitchFamily="34" charset="-122"/>
                <a:cs typeface="QuattrocentoSans" pitchFamily="34" charset="-120"/>
              </a:rPr>
              <a:t>01.7</a:t>
            </a:r>
            <a:r>
              <a:rPr lang="zh-CN" altLang="en-US" sz="1575" b="1" dirty="0">
                <a:solidFill>
                  <a:srgbClr val="BF1733"/>
                </a:solidFill>
                <a:latin typeface="QuattrocentoSans" pitchFamily="34" charset="0"/>
                <a:ea typeface="QuattrocentoSans" pitchFamily="34" charset="-122"/>
                <a:cs typeface="QuattrocentoSans" pitchFamily="34" charset="-120"/>
              </a:rPr>
              <a:t>分层因素例</a:t>
            </a:r>
            <a:r>
              <a:rPr lang="en-US" altLang="zh-CN" sz="1575" b="1" dirty="0">
                <a:solidFill>
                  <a:srgbClr val="BF1733"/>
                </a:solidFill>
                <a:latin typeface="QuattrocentoSans" pitchFamily="34" charset="0"/>
                <a:ea typeface="QuattrocentoSans" pitchFamily="34" charset="-122"/>
                <a:cs typeface="QuattrocentoSans" pitchFamily="34" charset="-120"/>
              </a:rPr>
              <a:t>4. </a:t>
            </a:r>
            <a:r>
              <a:rPr lang="en-US" sz="1575" b="1" dirty="0">
                <a:solidFill>
                  <a:srgbClr val="BF1733"/>
                </a:solidFill>
                <a:latin typeface="QuattrocentoSans" pitchFamily="34" charset="0"/>
                <a:ea typeface="QuattrocentoSans" pitchFamily="34" charset="-122"/>
                <a:cs typeface="QuattrocentoSans" pitchFamily="34" charset="-120"/>
              </a:rPr>
              <a:t>PAOLA-1 Trial: Study Design and Stratification Factors</a:t>
            </a:r>
            <a:endParaRPr lang="en-US" sz="1575" dirty="0">
              <a:solidFill>
                <a:srgbClr val="BF1733"/>
              </a:solidFill>
            </a:endParaRPr>
          </a:p>
        </p:txBody>
      </p:sp>
      <p:sp>
        <p:nvSpPr>
          <p:cNvPr id="3" name="Shape 1"/>
          <p:cNvSpPr/>
          <p:nvPr/>
        </p:nvSpPr>
        <p:spPr>
          <a:xfrm>
            <a:off x="428625" y="607219"/>
            <a:ext cx="8286750" cy="0"/>
          </a:xfrm>
          <a:prstGeom prst="straightConnector1">
            <a:avLst/>
          </a:prstGeom>
          <a:noFill/>
          <a:ln w="25400">
            <a:solidFill>
              <a:srgbClr val="2D4A5E"/>
            </a:solidFill>
            <a:prstDash val="solid"/>
            <a:headEnd type="none"/>
            <a:tailEnd type="none"/>
          </a:ln>
        </p:spPr>
        <p:txBody>
          <a:bodyPr/>
          <a:lstStyle/>
          <a:p>
            <a:endParaRPr lang="en-US" sz="1013"/>
          </a:p>
        </p:txBody>
      </p:sp>
      <p:sp>
        <p:nvSpPr>
          <p:cNvPr id="4" name="Text 2"/>
          <p:cNvSpPr/>
          <p:nvPr/>
        </p:nvSpPr>
        <p:spPr>
          <a:xfrm>
            <a:off x="359623" y="612330"/>
            <a:ext cx="2143125"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Study Design Summary</a:t>
            </a:r>
            <a:endParaRPr lang="en-US" sz="1125" dirty="0">
              <a:solidFill>
                <a:schemeClr val="accent2"/>
              </a:solidFill>
            </a:endParaRPr>
          </a:p>
        </p:txBody>
      </p:sp>
      <p:graphicFrame>
        <p:nvGraphicFramePr>
          <p:cNvPr id="5" name="Table 0"/>
          <p:cNvGraphicFramePr>
            <a:graphicFrameLocks noGrp="1"/>
          </p:cNvGraphicFramePr>
          <p:nvPr>
            <p:extLst>
              <p:ext uri="{D42A27DB-BD31-4B8C-83A1-F6EECF244321}">
                <p14:modId xmlns:p14="http://schemas.microsoft.com/office/powerpoint/2010/main" val="1587889296"/>
              </p:ext>
            </p:extLst>
          </p:nvPr>
        </p:nvGraphicFramePr>
        <p:xfrm>
          <a:off x="343564" y="852748"/>
          <a:ext cx="8254631" cy="1549783"/>
        </p:xfrm>
        <a:graphic>
          <a:graphicData uri="http://schemas.openxmlformats.org/drawingml/2006/table">
            <a:tbl>
              <a:tblPr/>
              <a:tblGrid>
                <a:gridCol w="1371600">
                  <a:extLst>
                    <a:ext uri="{9D8B030D-6E8A-4147-A177-3AD203B41FA5}">
                      <a16:colId xmlns:a16="http://schemas.microsoft.com/office/drawing/2014/main" val="20000"/>
                    </a:ext>
                  </a:extLst>
                </a:gridCol>
                <a:gridCol w="6883031">
                  <a:extLst>
                    <a:ext uri="{9D8B030D-6E8A-4147-A177-3AD203B41FA5}">
                      <a16:colId xmlns:a16="http://schemas.microsoft.com/office/drawing/2014/main" val="20001"/>
                    </a:ext>
                  </a:extLst>
                </a:gridCol>
              </a:tblGrid>
              <a:tr h="232804">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Parameter</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l"/>
                      <a:r>
                        <a:rPr lang="en-US" sz="800" b="1" u="none" dirty="0">
                          <a:solidFill>
                            <a:srgbClr val="FFFFFF"/>
                          </a:solidFill>
                          <a:latin typeface="QuattrocentoSans" pitchFamily="34" charset="0"/>
                          <a:ea typeface="QuattrocentoSans" pitchFamily="34" charset="-122"/>
                          <a:cs typeface="QuattrocentoSans" pitchFamily="34" charset="-120"/>
                        </a:rPr>
                        <a:t>Details</a:t>
                      </a:r>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Trial Name</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PAOLA-1 (phase 3)</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Design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Randomized, double-blind, placebo-controlled</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763">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Population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Newly diagnosed advanced high-grade ovarian cancer with response after first-line platinum–taxane chemotherapy plus bevacizumab</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Randomization</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2:1 (Olaparib : Placebo)</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06"/>
                  </a:ext>
                </a:extLst>
              </a:tr>
              <a:tr h="232804">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Primary Endpoint</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u="none" dirty="0">
                          <a:solidFill>
                            <a:schemeClr val="tx1"/>
                          </a:solidFill>
                          <a:latin typeface="Times New Roman" panose="02020603050405020304" pitchFamily="18" charset="0"/>
                          <a:ea typeface="QuattrocentoSans" pitchFamily="34" charset="-122"/>
                          <a:cs typeface="Times New Roman" panose="02020603050405020304" pitchFamily="18" charset="0"/>
                        </a:rPr>
                        <a:t>Investigator-assessed PFS (progression-free survival)</a:t>
                      </a:r>
                      <a:endParaRPr lang="en-US" sz="1000" dirty="0">
                        <a:solidFill>
                          <a:schemeClr val="tx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10"/>
                  </a:ext>
                </a:extLst>
              </a:tr>
            </a:tbl>
          </a:graphicData>
        </a:graphic>
      </p:graphicFrame>
      <p:sp>
        <p:nvSpPr>
          <p:cNvPr id="6" name="Text 3"/>
          <p:cNvSpPr/>
          <p:nvPr/>
        </p:nvSpPr>
        <p:spPr>
          <a:xfrm>
            <a:off x="343564" y="2554228"/>
            <a:ext cx="3429000" cy="200025"/>
          </a:xfrm>
          <a:prstGeom prst="rect">
            <a:avLst/>
          </a:prstGeom>
          <a:noFill/>
          <a:ln/>
        </p:spPr>
        <p:txBody>
          <a:bodyPr wrap="none" lIns="0" tIns="0" rIns="0" bIns="0" rtlCol="0" anchor="ctr"/>
          <a:lstStyle/>
          <a:p>
            <a:pPr>
              <a:lnSpc>
                <a:spcPct val="130000"/>
              </a:lnSpc>
            </a:pPr>
            <a:r>
              <a:rPr lang="en-US" sz="1125" b="1" dirty="0">
                <a:solidFill>
                  <a:schemeClr val="accent2"/>
                </a:solidFill>
                <a:latin typeface="QuattrocentoSans" pitchFamily="34" charset="0"/>
                <a:ea typeface="QuattrocentoSans" pitchFamily="34" charset="-122"/>
                <a:cs typeface="QuattrocentoSans" pitchFamily="34" charset="-120"/>
              </a:rPr>
              <a:t>Stratification Factors &amp; results</a:t>
            </a:r>
            <a:endParaRPr lang="en-US" sz="1125" dirty="0">
              <a:solidFill>
                <a:schemeClr val="accent2"/>
              </a:solidFill>
            </a:endParaRPr>
          </a:p>
        </p:txBody>
      </p:sp>
      <p:graphicFrame>
        <p:nvGraphicFramePr>
          <p:cNvPr id="7" name="Table 1"/>
          <p:cNvGraphicFramePr>
            <a:graphicFrameLocks noGrp="1"/>
          </p:cNvGraphicFramePr>
          <p:nvPr>
            <p:extLst>
              <p:ext uri="{D42A27DB-BD31-4B8C-83A1-F6EECF244321}">
                <p14:modId xmlns:p14="http://schemas.microsoft.com/office/powerpoint/2010/main" val="436377606"/>
              </p:ext>
            </p:extLst>
          </p:nvPr>
        </p:nvGraphicFramePr>
        <p:xfrm>
          <a:off x="288740" y="2785186"/>
          <a:ext cx="8309456" cy="1763734"/>
        </p:xfrm>
        <a:graphic>
          <a:graphicData uri="http://schemas.openxmlformats.org/drawingml/2006/table">
            <a:tbl>
              <a:tblPr/>
              <a:tblGrid>
                <a:gridCol w="1880710">
                  <a:extLst>
                    <a:ext uri="{9D8B030D-6E8A-4147-A177-3AD203B41FA5}">
                      <a16:colId xmlns:a16="http://schemas.microsoft.com/office/drawing/2014/main" val="2521518223"/>
                    </a:ext>
                  </a:extLst>
                </a:gridCol>
                <a:gridCol w="1437014">
                  <a:extLst>
                    <a:ext uri="{9D8B030D-6E8A-4147-A177-3AD203B41FA5}">
                      <a16:colId xmlns:a16="http://schemas.microsoft.com/office/drawing/2014/main" val="20000"/>
                    </a:ext>
                  </a:extLst>
                </a:gridCol>
                <a:gridCol w="495047">
                  <a:extLst>
                    <a:ext uri="{9D8B030D-6E8A-4147-A177-3AD203B41FA5}">
                      <a16:colId xmlns:a16="http://schemas.microsoft.com/office/drawing/2014/main" val="20001"/>
                    </a:ext>
                  </a:extLst>
                </a:gridCol>
                <a:gridCol w="1457641">
                  <a:extLst>
                    <a:ext uri="{9D8B030D-6E8A-4147-A177-3AD203B41FA5}">
                      <a16:colId xmlns:a16="http://schemas.microsoft.com/office/drawing/2014/main" val="810406703"/>
                    </a:ext>
                  </a:extLst>
                </a:gridCol>
                <a:gridCol w="701318">
                  <a:extLst>
                    <a:ext uri="{9D8B030D-6E8A-4147-A177-3AD203B41FA5}">
                      <a16:colId xmlns:a16="http://schemas.microsoft.com/office/drawing/2014/main" val="20002"/>
                    </a:ext>
                  </a:extLst>
                </a:gridCol>
                <a:gridCol w="1072603">
                  <a:extLst>
                    <a:ext uri="{9D8B030D-6E8A-4147-A177-3AD203B41FA5}">
                      <a16:colId xmlns:a16="http://schemas.microsoft.com/office/drawing/2014/main" val="315176101"/>
                    </a:ext>
                  </a:extLst>
                </a:gridCol>
                <a:gridCol w="1265123">
                  <a:extLst>
                    <a:ext uri="{9D8B030D-6E8A-4147-A177-3AD203B41FA5}">
                      <a16:colId xmlns:a16="http://schemas.microsoft.com/office/drawing/2014/main" val="1840053843"/>
                    </a:ext>
                  </a:extLst>
                </a:gridCol>
              </a:tblGrid>
              <a:tr h="148850">
                <a:tc rowSpan="2" gridSpan="2">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solidFill>
                      <a:schemeClr val="accent2"/>
                    </a:solidFill>
                  </a:tcPr>
                </a:tc>
                <a:tc rowSpan="2" hMerge="1">
                  <a:txBody>
                    <a:bodyPr/>
                    <a:lstStyle/>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Olaparib (n=537)</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gridSpan="2">
                  <a:txBody>
                    <a:bodyPr/>
                    <a:lstStyle/>
                    <a:p>
                      <a:pPr algn="ctr"/>
                      <a:r>
                        <a:rPr lang="en-US" sz="10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Placebo (n=269)</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hMerge="1">
                  <a:txBody>
                    <a:bodyPr/>
                    <a:lstStyle/>
                    <a:p>
                      <a:endParaRPr lang="en-US"/>
                    </a:p>
                  </a:txBody>
                  <a:tcPr/>
                </a:tc>
                <a:tc rowSpan="2">
                  <a:txBody>
                    <a:bodyPr/>
                    <a:lstStyle/>
                    <a:p>
                      <a:pPr algn="ctr"/>
                      <a:r>
                        <a:rPr lang="en-US" sz="1000" b="1" dirty="0">
                          <a:solidFill>
                            <a:schemeClr val="bg1"/>
                          </a:solidFill>
                          <a:latin typeface="Times New Roman" panose="02020603050405020304" pitchFamily="18" charset="0"/>
                          <a:ea typeface="QuattrocentoSans" charset="0"/>
                          <a:cs typeface="Times New Roman" panose="02020603050405020304" pitchFamily="18" charset="0"/>
                        </a:rPr>
                        <a:t>HR</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r>
                        <a:rPr lang="en-US" altLang="zh-CN" sz="1000" b="1" dirty="0">
                          <a:solidFill>
                            <a:schemeClr val="bg1"/>
                          </a:solidFill>
                          <a:latin typeface="Times New Roman" panose="02020603050405020304" pitchFamily="18" charset="0"/>
                          <a:ea typeface="QuattrocentoSans" charset="0"/>
                          <a:cs typeface="Times New Roman" panose="02020603050405020304" pitchFamily="18" charset="0"/>
                        </a:rPr>
                        <a:t>95%CI</a:t>
                      </a:r>
                      <a:r>
                        <a:rPr lang="zh-CN" altLang="en-US" sz="1000" b="1" dirty="0">
                          <a:solidFill>
                            <a:schemeClr val="bg1"/>
                          </a:solidFill>
                          <a:latin typeface="Times New Roman" panose="02020603050405020304" pitchFamily="18" charset="0"/>
                          <a:ea typeface="QuattrocentoSans" charset="0"/>
                          <a:cs typeface="Times New Roman" panose="02020603050405020304" pitchFamily="18" charset="0"/>
                        </a:rPr>
                        <a:t>）</a:t>
                      </a:r>
                      <a:endParaRPr lang="en-US" sz="1000" b="1" dirty="0">
                        <a:solidFill>
                          <a:schemeClr val="bg1"/>
                        </a:solidFill>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39487">
                <a:tc gridSpan="2" vMerge="1">
                  <a:txBody>
                    <a:bodyPr/>
                    <a:lstStyle/>
                    <a:p>
                      <a:endParaRPr lang="en-US"/>
                    </a:p>
                  </a:txBody>
                  <a:tcPr/>
                </a:tc>
                <a:tc hMerge="1" vMerge="1">
                  <a:txBody>
                    <a:bodyPr/>
                    <a:lstStyle/>
                    <a:p>
                      <a:endParaRPr lang="en-US"/>
                    </a:p>
                  </a:txBody>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 (%)</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ea typeface="QuattrocentoSans" charset="0"/>
                          <a:cs typeface="Times New Roman" panose="02020603050405020304" pitchFamily="18" charset="0"/>
                        </a:rPr>
                        <a:t>Events</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a:txBody>
                    <a:bodyPr/>
                    <a:lstStyle/>
                    <a:p>
                      <a:pPr algn="ctr"/>
                      <a:r>
                        <a:rPr lang="en-US" sz="800" b="1" dirty="0">
                          <a:solidFill>
                            <a:schemeClr val="bg1"/>
                          </a:solidFill>
                          <a:latin typeface="Times New Roman" panose="02020603050405020304" pitchFamily="18" charset="0"/>
                          <a:cs typeface="Times New Roman" panose="02020603050405020304" pitchFamily="18" charset="0"/>
                        </a:rPr>
                        <a:t>Total no.</a:t>
                      </a:r>
                      <a:r>
                        <a:rPr lang="zh-CN" altLang="en-US" sz="800" b="1" dirty="0">
                          <a:solidFill>
                            <a:schemeClr val="bg1"/>
                          </a:solidFill>
                          <a:latin typeface="Times New Roman" panose="02020603050405020304" pitchFamily="18" charset="0"/>
                          <a:cs typeface="Times New Roman" panose="02020603050405020304" pitchFamily="18" charset="0"/>
                        </a:rPr>
                        <a:t>（</a:t>
                      </a:r>
                      <a:r>
                        <a:rPr lang="en-US" altLang="zh-CN" sz="800" b="1" dirty="0">
                          <a:solidFill>
                            <a:schemeClr val="bg1"/>
                          </a:solidFill>
                          <a:latin typeface="Times New Roman" panose="02020603050405020304" pitchFamily="18" charset="0"/>
                          <a:cs typeface="Times New Roman" panose="02020603050405020304" pitchFamily="18" charset="0"/>
                        </a:rPr>
                        <a:t>%</a:t>
                      </a:r>
                      <a:r>
                        <a:rPr lang="zh-CN" altLang="en-US" sz="800" b="1" dirty="0">
                          <a:solidFill>
                            <a:schemeClr val="bg1"/>
                          </a:solidFill>
                          <a:latin typeface="Times New Roman" panose="02020603050405020304" pitchFamily="18" charset="0"/>
                          <a:cs typeface="Times New Roman" panose="02020603050405020304" pitchFamily="18" charset="0"/>
                        </a:rPr>
                        <a:t>）</a:t>
                      </a:r>
                      <a:endParaRPr lang="en-US" sz="800" b="1" dirty="0">
                        <a:solidFill>
                          <a:schemeClr val="bg1"/>
                        </a:solidFill>
                        <a:latin typeface="Times New Roman" panose="02020603050405020304" pitchFamily="18"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chemeClr val="accent2"/>
                    </a:solidFill>
                  </a:tcPr>
                </a:tc>
                <a:tc vMerge="1">
                  <a:txBody>
                    <a:bodyPr/>
                    <a:lstStyle/>
                    <a:p>
                      <a:endParaRPr lang="en-US"/>
                    </a:p>
                  </a:txBody>
                  <a:tcPr/>
                </a:tc>
                <a:extLst>
                  <a:ext uri="{0D108BD9-81ED-4DB2-BD59-A6C34878D82A}">
                    <a16:rowId xmlns:a16="http://schemas.microsoft.com/office/drawing/2014/main" val="788755341"/>
                  </a:ext>
                </a:extLst>
              </a:tr>
              <a:tr h="278976">
                <a:tc rowSpan="3">
                  <a:txBody>
                    <a:bodyPr/>
                    <a:lstStyle/>
                    <a:p>
                      <a:pPr algn="l"/>
                      <a:r>
                        <a:rPr lang="en-US" sz="1000" dirty="0">
                          <a:latin typeface="Times New Roman" panose="02020603050405020304" pitchFamily="18" charset="0"/>
                          <a:ea typeface="QuattrocentoSans" charset="0"/>
                          <a:cs typeface="Times New Roman" panose="02020603050405020304" pitchFamily="18" charset="0"/>
                        </a:rPr>
                        <a:t>Response after First-Line Treatment</a:t>
                      </a:r>
                    </a:p>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No evidence of disease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119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290 (54)</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92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141 (52)</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0.53 (0.40–0.70)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1539">
                <a:tc vMerge="1">
                  <a:txBody>
                    <a:bodyPr/>
                    <a:lstStyle/>
                    <a:p>
                      <a:pPr algn="l"/>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Complete response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54</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106 (20)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42</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53 (20)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0.44 (0.29–0.66)</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0F2F5"/>
                    </a:solidFill>
                  </a:tcPr>
                </a:tc>
                <a:extLst>
                  <a:ext uri="{0D108BD9-81ED-4DB2-BD59-A6C34878D82A}">
                    <a16:rowId xmlns:a16="http://schemas.microsoft.com/office/drawing/2014/main" val="10002"/>
                  </a:ext>
                </a:extLst>
              </a:tr>
              <a:tr h="321732">
                <a:tc vMerge="1">
                  <a:txBody>
                    <a:bodyPr/>
                    <a:lstStyle/>
                    <a:p>
                      <a:pPr algn="l"/>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Partial response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107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141 (26)</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60</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75 (28)</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0.86 (0.63–1.19)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7700">
                <a:tc rowSpan="2">
                  <a:txBody>
                    <a:bodyPr/>
                    <a:lstStyle/>
                    <a:p>
                      <a:pPr algn="l"/>
                      <a:r>
                        <a:rPr lang="en-US" sz="1000" dirty="0">
                          <a:latin typeface="Times New Roman" panose="02020603050405020304" pitchFamily="18" charset="0"/>
                          <a:ea typeface="QuattrocentoSans" charset="0"/>
                          <a:cs typeface="Times New Roman" panose="02020603050405020304" pitchFamily="18" charset="0"/>
                        </a:rPr>
                        <a:t>Tumor BRCA Mutation Status</a:t>
                      </a:r>
                    </a:p>
                    <a:p>
                      <a:pPr algn="l"/>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Mutation positive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41</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161 (30)-</a:t>
                      </a:r>
                      <a:r>
                        <a:rPr lang="zh-CN" alt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随机数据</a:t>
                      </a:r>
                      <a:endParaRPr lang="en-US" sz="10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157(29.2)-</a:t>
                      </a:r>
                      <a:r>
                        <a:rPr 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EDC</a:t>
                      </a:r>
                      <a:r>
                        <a:rPr lang="zh-CN" alt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数据</a:t>
                      </a:r>
                      <a:endParaRPr lang="en-US" sz="1000" dirty="0">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49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80 (30)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0.31 (0.20–0.47)</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422108029"/>
                  </a:ext>
                </a:extLst>
              </a:tr>
              <a:tr h="297700">
                <a:tc vMerge="1">
                  <a:txBody>
                    <a:bodyPr/>
                    <a:lstStyle/>
                    <a:p>
                      <a:pPr algn="l"/>
                      <a:endParaRPr lang="en-US" sz="800" dirty="0">
                        <a:latin typeface="QuattrocentoSans" charset="0"/>
                        <a:ea typeface="QuattrocentoSans" charset="0"/>
                        <a:cs typeface="QuattrocentoSans"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l"/>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Mutation negative</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239</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376 (70)-</a:t>
                      </a:r>
                      <a:r>
                        <a:rPr lang="zh-CN" alt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随机数据</a:t>
                      </a:r>
                      <a:endParaRPr lang="en-US" sz="10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endParaRPr>
                    </a:p>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380(61.8)-</a:t>
                      </a:r>
                      <a:r>
                        <a:rPr 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EDC</a:t>
                      </a:r>
                      <a:r>
                        <a:rPr lang="zh-CN" altLang="en-US" sz="900" u="none" dirty="0">
                          <a:solidFill>
                            <a:srgbClr val="1C1C1E"/>
                          </a:solidFill>
                          <a:latin typeface="微软雅黑" panose="020B0503020204020204" pitchFamily="34" charset="-122"/>
                          <a:ea typeface="微软雅黑" panose="020B0503020204020204" pitchFamily="34" charset="-122"/>
                          <a:cs typeface="Times New Roman" panose="02020603050405020304" pitchFamily="18" charset="0"/>
                        </a:rPr>
                        <a:t>数据</a:t>
                      </a:r>
                      <a:endParaRPr lang="en-US" sz="1000" dirty="0">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145</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u="none" dirty="0">
                          <a:solidFill>
                            <a:srgbClr val="1C1C1E"/>
                          </a:solidFill>
                          <a:latin typeface="Times New Roman" panose="02020603050405020304" pitchFamily="18" charset="0"/>
                          <a:ea typeface="QuattrocentoSans" pitchFamily="34" charset="-122"/>
                          <a:cs typeface="Times New Roman" panose="02020603050405020304" pitchFamily="18" charset="0"/>
                        </a:rPr>
                        <a:t>189 (70)</a:t>
                      </a:r>
                      <a:endParaRPr lang="en-US" sz="10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tc>
                  <a:txBody>
                    <a:bodyPr/>
                    <a:lstStyle/>
                    <a:p>
                      <a:pPr algn="ctr"/>
                      <a:r>
                        <a:rPr lang="en-US" sz="1000" dirty="0">
                          <a:latin typeface="Times New Roman" panose="02020603050405020304" pitchFamily="18" charset="0"/>
                          <a:ea typeface="QuattrocentoSans" charset="0"/>
                          <a:cs typeface="Times New Roman" panose="02020603050405020304" pitchFamily="18" charset="0"/>
                        </a:rPr>
                        <a:t>0.71 (0.58–0.88)</a:t>
                      </a:r>
                    </a:p>
                  </a:txBody>
                  <a:tcPr marL="51435" marR="51435" marT="0" marB="0" anchor="ctr">
                    <a:lnL w="12700" cap="flat" cmpd="sng" algn="ctr">
                      <a:solidFill>
                        <a:srgbClr val="D0D5DD"/>
                      </a:solidFill>
                      <a:prstDash val="solid"/>
                      <a:round/>
                      <a:headEnd type="none" w="med" len="med"/>
                      <a:tailEnd type="none" w="med" len="med"/>
                    </a:lnL>
                    <a:lnR w="12700" cap="flat" cmpd="sng" algn="ctr">
                      <a:solidFill>
                        <a:srgbClr val="D0D5DD"/>
                      </a:solidFill>
                      <a:prstDash val="solid"/>
                      <a:round/>
                      <a:headEnd type="none" w="med" len="med"/>
                      <a:tailEnd type="none" w="med" len="med"/>
                    </a:lnR>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721761912"/>
                  </a:ext>
                </a:extLst>
              </a:tr>
            </a:tbl>
          </a:graphicData>
        </a:graphic>
      </p:graphicFrame>
      <p:sp>
        <p:nvSpPr>
          <p:cNvPr id="10" name="Text 5"/>
          <p:cNvSpPr/>
          <p:nvPr/>
        </p:nvSpPr>
        <p:spPr>
          <a:xfrm>
            <a:off x="343564" y="5388603"/>
            <a:ext cx="8286750" cy="142875"/>
          </a:xfrm>
          <a:prstGeom prst="rect">
            <a:avLst/>
          </a:prstGeom>
          <a:noFill/>
          <a:ln/>
        </p:spPr>
        <p:txBody>
          <a:bodyPr wrap="none" lIns="0" tIns="0" rIns="0" bIns="0" rtlCol="0" anchor="ctr"/>
          <a:lstStyle/>
          <a:p>
            <a:pPr>
              <a:lnSpc>
                <a:spcPct val="130000"/>
              </a:lnSpc>
            </a:pPr>
            <a:r>
              <a:rPr lang="en-US" sz="675" dirty="0">
                <a:solidFill>
                  <a:srgbClr val="7A8B99"/>
                </a:solidFill>
                <a:latin typeface="QuattrocentoSans" pitchFamily="34" charset="0"/>
                <a:ea typeface="QuattrocentoSans" pitchFamily="34" charset="-122"/>
                <a:cs typeface="QuattrocentoSans" pitchFamily="34" charset="-120"/>
              </a:rPr>
              <a:t>PFS = progression-free survival; bid = twice daily; q3w = every 3 weeks. Patients were eligible regardless of surgical outcome or BRCA mutation status.</a:t>
            </a:r>
            <a:endParaRPr lang="en-US" sz="675" dirty="0"/>
          </a:p>
        </p:txBody>
      </p:sp>
      <p:sp>
        <p:nvSpPr>
          <p:cNvPr id="14" name="TextBox 13">
            <a:extLst>
              <a:ext uri="{FF2B5EF4-FFF2-40B4-BE49-F238E27FC236}">
                <a16:creationId xmlns:a16="http://schemas.microsoft.com/office/drawing/2014/main" id="{6891A4F6-4F2B-9E74-D983-980202C49C5B}"/>
              </a:ext>
            </a:extLst>
          </p:cNvPr>
          <p:cNvSpPr txBox="1"/>
          <p:nvPr/>
        </p:nvSpPr>
        <p:spPr>
          <a:xfrm>
            <a:off x="73740" y="4866022"/>
            <a:ext cx="8309456" cy="230832"/>
          </a:xfrm>
          <a:prstGeom prst="rect">
            <a:avLst/>
          </a:prstGeom>
          <a:noFill/>
        </p:spPr>
        <p:txBody>
          <a:bodyPr wrap="square">
            <a:spAutoFit/>
          </a:bodyPr>
          <a:lstStyle/>
          <a:p>
            <a:r>
              <a:rPr lang="en-US" sz="900" dirty="0">
                <a:latin typeface="Times New Roman" panose="02020603050405020304" pitchFamily="18" charset="0"/>
                <a:cs typeface="Times New Roman" panose="02020603050405020304" pitchFamily="18" charset="0"/>
              </a:rPr>
              <a:t>Ray-</a:t>
            </a:r>
            <a:r>
              <a:rPr lang="en-US" sz="900" dirty="0" err="1">
                <a:latin typeface="Times New Roman" panose="02020603050405020304" pitchFamily="18" charset="0"/>
                <a:cs typeface="Times New Roman" panose="02020603050405020304" pitchFamily="18" charset="0"/>
              </a:rPr>
              <a:t>Coquard</a:t>
            </a:r>
            <a:r>
              <a:rPr lang="en-US" sz="900" dirty="0">
                <a:latin typeface="Times New Roman" panose="02020603050405020304" pitchFamily="18" charset="0"/>
                <a:cs typeface="Times New Roman" panose="02020603050405020304" pitchFamily="18" charset="0"/>
              </a:rPr>
              <a:t>, Isabelle, et al. "Olaparib plus bevacizumab as first-line maintenance in ovarian cancer." New England Journal of Medicine 381.25 (2019): 2416-2428.</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204163"/>
            <a:ext cx="1920782" cy="342900"/>
          </a:xfrm>
          <a:prstGeom prst="rect">
            <a:avLst/>
          </a:prstGeom>
          <a:noFill/>
          <a:ln/>
        </p:spPr>
        <p:txBody>
          <a:bodyPr wrap="none" lIns="0" tIns="0" rIns="0" bIns="0" rtlCol="0" anchor="ctr"/>
          <a:lstStyle/>
          <a:p>
            <a:pPr algn="ctr">
              <a:lnSpc>
                <a:spcPct val="120000"/>
              </a:lnSpc>
            </a:pPr>
            <a:r>
              <a:rPr lang="en-US" sz="2025" b="1" dirty="0">
                <a:solidFill>
                  <a:srgbClr val="BF1733"/>
                </a:solidFill>
                <a:latin typeface="QuattrocentoSans" pitchFamily="34" charset="0"/>
                <a:ea typeface="QuattrocentoSans" pitchFamily="34" charset="-122"/>
                <a:cs typeface="QuattrocentoSans" pitchFamily="34" charset="-120"/>
              </a:rPr>
              <a:t>02 </a:t>
            </a:r>
            <a:r>
              <a:rPr lang="en-US" sz="2025" b="1" dirty="0" err="1">
                <a:solidFill>
                  <a:srgbClr val="BF1733"/>
                </a:solidFill>
                <a:latin typeface="QuattrocentoSans" pitchFamily="34" charset="0"/>
                <a:ea typeface="QuattrocentoSans" pitchFamily="34" charset="-122"/>
                <a:cs typeface="QuattrocentoSans" pitchFamily="34" charset="-120"/>
              </a:rPr>
              <a:t>亚组分析</a:t>
            </a:r>
            <a:endParaRPr lang="en-US" sz="2025" dirty="0">
              <a:solidFill>
                <a:srgbClr val="BF1733"/>
              </a:solidFill>
            </a:endParaRPr>
          </a:p>
        </p:txBody>
      </p:sp>
      <p:sp>
        <p:nvSpPr>
          <p:cNvPr id="8" name="Shape 6"/>
          <p:cNvSpPr/>
          <p:nvPr/>
        </p:nvSpPr>
        <p:spPr>
          <a:xfrm>
            <a:off x="428625" y="1171575"/>
            <a:ext cx="2643188" cy="3143250"/>
          </a:xfrm>
          <a:prstGeom prst="roundRect">
            <a:avLst>
              <a:gd name="adj" fmla="val 5000"/>
            </a:avLst>
          </a:prstGeom>
          <a:solidFill>
            <a:srgbClr val="FFFFFF"/>
          </a:solidFill>
          <a:ln/>
          <a:effectLst>
            <a:outerShdw blurRad="127000" dist="38100" dir="5400000" algn="bl" rotWithShape="0">
              <a:srgbClr val="000000">
                <a:alpha val="7059"/>
              </a:srgbClr>
            </a:outerShdw>
          </a:effectLst>
        </p:spPr>
        <p:txBody>
          <a:bodyPr/>
          <a:lstStyle/>
          <a:p>
            <a:endParaRPr lang="en-US"/>
          </a:p>
        </p:txBody>
      </p:sp>
      <p:sp>
        <p:nvSpPr>
          <p:cNvPr id="9" name="Shape 7"/>
          <p:cNvSpPr/>
          <p:nvPr/>
        </p:nvSpPr>
        <p:spPr>
          <a:xfrm>
            <a:off x="428625" y="1171575"/>
            <a:ext cx="2643188" cy="414338"/>
          </a:xfrm>
          <a:prstGeom prst="roundRect">
            <a:avLst>
              <a:gd name="adj" fmla="val 5000"/>
            </a:avLst>
          </a:prstGeom>
          <a:solidFill>
            <a:srgbClr val="A64B40"/>
          </a:solidFill>
          <a:ln/>
        </p:spPr>
        <p:txBody>
          <a:bodyPr/>
          <a:lstStyle/>
          <a:p>
            <a:endParaRPr lang="en-US"/>
          </a:p>
        </p:txBody>
      </p:sp>
      <p:sp>
        <p:nvSpPr>
          <p:cNvPr id="10" name="Text 8"/>
          <p:cNvSpPr/>
          <p:nvPr/>
        </p:nvSpPr>
        <p:spPr>
          <a:xfrm>
            <a:off x="428625" y="1171575"/>
            <a:ext cx="2643188" cy="414338"/>
          </a:xfrm>
          <a:prstGeom prst="rect">
            <a:avLst/>
          </a:prstGeom>
          <a:noFill/>
          <a:ln/>
        </p:spPr>
        <p:txBody>
          <a:bodyPr wrap="none" lIns="0" tIns="0" rIns="0" bIns="0" rtlCol="0" anchor="ctr"/>
          <a:lstStyle/>
          <a:p>
            <a:pPr algn="ctr">
              <a:lnSpc>
                <a:spcPct val="100000"/>
              </a:lnSpc>
            </a:pPr>
            <a:r>
              <a:rPr lang="en-US" sz="1463" b="1" dirty="0">
                <a:solidFill>
                  <a:srgbClr val="FFFFFF"/>
                </a:solidFill>
                <a:latin typeface="Quattrocento Sans" pitchFamily="34" charset="0"/>
                <a:ea typeface="Quattrocento Sans" pitchFamily="34" charset="-122"/>
                <a:cs typeface="Quattrocento Sans" pitchFamily="34" charset="-120"/>
              </a:rPr>
              <a:t>Inferential</a:t>
            </a:r>
            <a:endParaRPr lang="en-US" sz="900" dirty="0"/>
          </a:p>
        </p:txBody>
      </p:sp>
      <p:sp>
        <p:nvSpPr>
          <p:cNvPr id="11" name="Text 9"/>
          <p:cNvSpPr/>
          <p:nvPr/>
        </p:nvSpPr>
        <p:spPr>
          <a:xfrm>
            <a:off x="571500" y="1671638"/>
            <a:ext cx="2357438" cy="200025"/>
          </a:xfrm>
          <a:prstGeom prst="rect">
            <a:avLst/>
          </a:prstGeom>
          <a:noFill/>
          <a:ln/>
        </p:spPr>
        <p:txBody>
          <a:bodyPr wrap="none" lIns="0" tIns="0" rIns="0" bIns="0" rtlCol="0" anchor="ctr"/>
          <a:lstStyle/>
          <a:p>
            <a:pPr algn="ctr">
              <a:lnSpc>
                <a:spcPct val="100000"/>
              </a:lnSpc>
            </a:pPr>
            <a:r>
              <a:rPr lang="en-US" sz="1125" b="1" dirty="0">
                <a:solidFill>
                  <a:srgbClr val="A64B40"/>
                </a:solidFill>
                <a:latin typeface="Quattrocento Sans" pitchFamily="34" charset="0"/>
                <a:ea typeface="Quattrocento Sans" pitchFamily="34" charset="-122"/>
                <a:cs typeface="Quattrocento Sans" pitchFamily="34" charset="-120"/>
              </a:rPr>
              <a:t>推断性亚组分析</a:t>
            </a:r>
            <a:endParaRPr lang="en-US" sz="900" dirty="0"/>
          </a:p>
        </p:txBody>
      </p:sp>
      <p:sp>
        <p:nvSpPr>
          <p:cNvPr id="12" name="Shape 10"/>
          <p:cNvSpPr/>
          <p:nvPr/>
        </p:nvSpPr>
        <p:spPr>
          <a:xfrm>
            <a:off x="714375" y="1943100"/>
            <a:ext cx="2071688" cy="0"/>
          </a:xfrm>
          <a:prstGeom prst="straightConnector1">
            <a:avLst/>
          </a:prstGeom>
          <a:noFill/>
          <a:ln w="12700">
            <a:solidFill>
              <a:srgbClr val="D4A59A"/>
            </a:solidFill>
            <a:prstDash val="solid"/>
            <a:headEnd type="none"/>
            <a:tailEnd type="none"/>
          </a:ln>
        </p:spPr>
        <p:txBody>
          <a:bodyPr/>
          <a:lstStyle/>
          <a:p>
            <a:endParaRPr lang="en-US"/>
          </a:p>
        </p:txBody>
      </p:sp>
      <p:sp>
        <p:nvSpPr>
          <p:cNvPr id="14" name="Shape 12"/>
          <p:cNvSpPr/>
          <p:nvPr/>
        </p:nvSpPr>
        <p:spPr>
          <a:xfrm>
            <a:off x="3243262" y="1149581"/>
            <a:ext cx="2643188" cy="3143250"/>
          </a:xfrm>
          <a:prstGeom prst="roundRect">
            <a:avLst>
              <a:gd name="adj" fmla="val 5000"/>
            </a:avLst>
          </a:prstGeom>
          <a:solidFill>
            <a:srgbClr val="FFFFFF"/>
          </a:solidFill>
          <a:ln/>
          <a:effectLst>
            <a:outerShdw blurRad="127000" dist="38100" dir="5400000" algn="bl" rotWithShape="0">
              <a:srgbClr val="000000">
                <a:alpha val="7059"/>
              </a:srgbClr>
            </a:outerShdw>
          </a:effectLst>
        </p:spPr>
        <p:txBody>
          <a:bodyPr/>
          <a:lstStyle/>
          <a:p>
            <a:endParaRPr lang="en-US" dirty="0"/>
          </a:p>
        </p:txBody>
      </p:sp>
      <p:sp>
        <p:nvSpPr>
          <p:cNvPr id="15" name="Shape 13"/>
          <p:cNvSpPr/>
          <p:nvPr/>
        </p:nvSpPr>
        <p:spPr>
          <a:xfrm>
            <a:off x="3243262" y="1171575"/>
            <a:ext cx="2643188" cy="414338"/>
          </a:xfrm>
          <a:prstGeom prst="roundRect">
            <a:avLst>
              <a:gd name="adj" fmla="val 5000"/>
            </a:avLst>
          </a:prstGeom>
          <a:solidFill>
            <a:srgbClr val="A64B40"/>
          </a:solidFill>
          <a:ln/>
        </p:spPr>
        <p:txBody>
          <a:bodyPr/>
          <a:lstStyle/>
          <a:p>
            <a:endParaRPr lang="en-US"/>
          </a:p>
        </p:txBody>
      </p:sp>
      <p:sp>
        <p:nvSpPr>
          <p:cNvPr id="16" name="Text 14"/>
          <p:cNvSpPr/>
          <p:nvPr/>
        </p:nvSpPr>
        <p:spPr>
          <a:xfrm>
            <a:off x="3243262" y="1171575"/>
            <a:ext cx="2643188" cy="414338"/>
          </a:xfrm>
          <a:prstGeom prst="rect">
            <a:avLst/>
          </a:prstGeom>
          <a:noFill/>
          <a:ln/>
        </p:spPr>
        <p:txBody>
          <a:bodyPr wrap="none" lIns="0" tIns="0" rIns="0" bIns="0" rtlCol="0" anchor="ctr"/>
          <a:lstStyle/>
          <a:p>
            <a:pPr algn="ctr">
              <a:lnSpc>
                <a:spcPct val="100000"/>
              </a:lnSpc>
            </a:pPr>
            <a:r>
              <a:rPr lang="en-US" sz="1463" b="1" dirty="0">
                <a:solidFill>
                  <a:srgbClr val="FFFFFF"/>
                </a:solidFill>
                <a:latin typeface="Quattrocento Sans" pitchFamily="34" charset="0"/>
                <a:ea typeface="Quattrocento Sans" pitchFamily="34" charset="-122"/>
                <a:cs typeface="Quattrocento Sans" pitchFamily="34" charset="-120"/>
              </a:rPr>
              <a:t>Supportive</a:t>
            </a:r>
            <a:endParaRPr lang="en-US" sz="900" dirty="0"/>
          </a:p>
        </p:txBody>
      </p:sp>
      <p:sp>
        <p:nvSpPr>
          <p:cNvPr id="17" name="Text 15"/>
          <p:cNvSpPr/>
          <p:nvPr/>
        </p:nvSpPr>
        <p:spPr>
          <a:xfrm>
            <a:off x="3386137" y="1671638"/>
            <a:ext cx="2357438" cy="200025"/>
          </a:xfrm>
          <a:prstGeom prst="rect">
            <a:avLst/>
          </a:prstGeom>
          <a:noFill/>
          <a:ln/>
        </p:spPr>
        <p:txBody>
          <a:bodyPr wrap="none" lIns="0" tIns="0" rIns="0" bIns="0" rtlCol="0" anchor="ctr"/>
          <a:lstStyle/>
          <a:p>
            <a:pPr algn="ctr">
              <a:lnSpc>
                <a:spcPct val="100000"/>
              </a:lnSpc>
            </a:pPr>
            <a:r>
              <a:rPr lang="en-US" sz="1125" b="1" dirty="0">
                <a:solidFill>
                  <a:srgbClr val="A64B40"/>
                </a:solidFill>
                <a:latin typeface="Quattrocento Sans" pitchFamily="34" charset="0"/>
                <a:ea typeface="Quattrocento Sans" pitchFamily="34" charset="-122"/>
                <a:cs typeface="Quattrocento Sans" pitchFamily="34" charset="-120"/>
              </a:rPr>
              <a:t>支持性亚组分析</a:t>
            </a:r>
            <a:endParaRPr lang="en-US" sz="900" dirty="0"/>
          </a:p>
        </p:txBody>
      </p:sp>
      <p:sp>
        <p:nvSpPr>
          <p:cNvPr id="18" name="Shape 16"/>
          <p:cNvSpPr/>
          <p:nvPr/>
        </p:nvSpPr>
        <p:spPr>
          <a:xfrm>
            <a:off x="3529012" y="1943100"/>
            <a:ext cx="2071688" cy="0"/>
          </a:xfrm>
          <a:prstGeom prst="straightConnector1">
            <a:avLst/>
          </a:prstGeom>
          <a:noFill/>
          <a:ln w="12700">
            <a:solidFill>
              <a:srgbClr val="D4A59A"/>
            </a:solidFill>
            <a:prstDash val="solid"/>
            <a:headEnd type="none"/>
            <a:tailEnd type="none"/>
          </a:ln>
        </p:spPr>
        <p:txBody>
          <a:bodyPr/>
          <a:lstStyle/>
          <a:p>
            <a:endParaRPr lang="en-US"/>
          </a:p>
        </p:txBody>
      </p:sp>
      <p:sp>
        <p:nvSpPr>
          <p:cNvPr id="20" name="Shape 18"/>
          <p:cNvSpPr/>
          <p:nvPr/>
        </p:nvSpPr>
        <p:spPr>
          <a:xfrm>
            <a:off x="6057900" y="1171575"/>
            <a:ext cx="2814638" cy="3121256"/>
          </a:xfrm>
          <a:prstGeom prst="roundRect">
            <a:avLst>
              <a:gd name="adj" fmla="val 5000"/>
            </a:avLst>
          </a:prstGeom>
          <a:solidFill>
            <a:srgbClr val="FFFFFF"/>
          </a:solidFill>
          <a:ln/>
          <a:effectLst>
            <a:outerShdw blurRad="127000" dist="38100" dir="5400000" algn="bl" rotWithShape="0">
              <a:srgbClr val="000000">
                <a:alpha val="7059"/>
              </a:srgbClr>
            </a:outerShdw>
          </a:effectLst>
        </p:spPr>
        <p:txBody>
          <a:bodyPr/>
          <a:lstStyle/>
          <a:p>
            <a:endParaRPr lang="en-US"/>
          </a:p>
        </p:txBody>
      </p:sp>
      <p:sp>
        <p:nvSpPr>
          <p:cNvPr id="21" name="Shape 19"/>
          <p:cNvSpPr/>
          <p:nvPr/>
        </p:nvSpPr>
        <p:spPr>
          <a:xfrm>
            <a:off x="6057900" y="1171575"/>
            <a:ext cx="2814638" cy="414338"/>
          </a:xfrm>
          <a:prstGeom prst="roundRect">
            <a:avLst>
              <a:gd name="adj" fmla="val 5000"/>
            </a:avLst>
          </a:prstGeom>
          <a:solidFill>
            <a:srgbClr val="A64B40"/>
          </a:solidFill>
          <a:ln/>
        </p:spPr>
        <p:txBody>
          <a:bodyPr/>
          <a:lstStyle/>
          <a:p>
            <a:endParaRPr lang="en-US"/>
          </a:p>
        </p:txBody>
      </p:sp>
      <p:sp>
        <p:nvSpPr>
          <p:cNvPr id="22" name="Text 20"/>
          <p:cNvSpPr/>
          <p:nvPr/>
        </p:nvSpPr>
        <p:spPr>
          <a:xfrm>
            <a:off x="6057900" y="1171575"/>
            <a:ext cx="2643188" cy="414338"/>
          </a:xfrm>
          <a:prstGeom prst="rect">
            <a:avLst/>
          </a:prstGeom>
          <a:noFill/>
          <a:ln/>
        </p:spPr>
        <p:txBody>
          <a:bodyPr wrap="none" lIns="0" tIns="0" rIns="0" bIns="0" rtlCol="0" anchor="ctr"/>
          <a:lstStyle/>
          <a:p>
            <a:pPr algn="ctr">
              <a:lnSpc>
                <a:spcPct val="100000"/>
              </a:lnSpc>
            </a:pPr>
            <a:r>
              <a:rPr lang="en-US" sz="1463" b="1" dirty="0">
                <a:solidFill>
                  <a:srgbClr val="FFFFFF"/>
                </a:solidFill>
                <a:latin typeface="Quattrocento Sans" pitchFamily="34" charset="0"/>
                <a:ea typeface="Quattrocento Sans" pitchFamily="34" charset="-122"/>
                <a:cs typeface="Quattrocento Sans" pitchFamily="34" charset="-120"/>
              </a:rPr>
              <a:t>Exploratory</a:t>
            </a:r>
            <a:endParaRPr lang="en-US" sz="900" dirty="0"/>
          </a:p>
        </p:txBody>
      </p:sp>
      <p:sp>
        <p:nvSpPr>
          <p:cNvPr id="23" name="Text 21"/>
          <p:cNvSpPr/>
          <p:nvPr/>
        </p:nvSpPr>
        <p:spPr>
          <a:xfrm>
            <a:off x="6200775" y="1671638"/>
            <a:ext cx="2357438" cy="200025"/>
          </a:xfrm>
          <a:prstGeom prst="rect">
            <a:avLst/>
          </a:prstGeom>
          <a:noFill/>
          <a:ln/>
        </p:spPr>
        <p:txBody>
          <a:bodyPr wrap="none" lIns="0" tIns="0" rIns="0" bIns="0" rtlCol="0" anchor="ctr"/>
          <a:lstStyle/>
          <a:p>
            <a:pPr algn="ctr">
              <a:lnSpc>
                <a:spcPct val="100000"/>
              </a:lnSpc>
            </a:pPr>
            <a:r>
              <a:rPr lang="en-US" sz="1125" b="1" dirty="0">
                <a:solidFill>
                  <a:srgbClr val="A64B40"/>
                </a:solidFill>
                <a:latin typeface="Quattrocento Sans" pitchFamily="34" charset="0"/>
                <a:ea typeface="Quattrocento Sans" pitchFamily="34" charset="-122"/>
                <a:cs typeface="Quattrocento Sans" pitchFamily="34" charset="-120"/>
              </a:rPr>
              <a:t>探索性亚组分析</a:t>
            </a:r>
            <a:endParaRPr lang="en-US" sz="900" dirty="0"/>
          </a:p>
        </p:txBody>
      </p:sp>
      <p:sp>
        <p:nvSpPr>
          <p:cNvPr id="24" name="Shape 22"/>
          <p:cNvSpPr/>
          <p:nvPr/>
        </p:nvSpPr>
        <p:spPr>
          <a:xfrm>
            <a:off x="6343650" y="1943100"/>
            <a:ext cx="2071688" cy="0"/>
          </a:xfrm>
          <a:prstGeom prst="straightConnector1">
            <a:avLst/>
          </a:prstGeom>
          <a:noFill/>
          <a:ln w="12700">
            <a:solidFill>
              <a:srgbClr val="D4A59A"/>
            </a:solidFill>
            <a:prstDash val="solid"/>
            <a:headEnd type="none"/>
            <a:tailEnd type="none"/>
          </a:ln>
        </p:spPr>
        <p:txBody>
          <a:bodyPr/>
          <a:lstStyle/>
          <a:p>
            <a:endParaRPr lang="en-US"/>
          </a:p>
        </p:txBody>
      </p:sp>
      <p:sp>
        <p:nvSpPr>
          <p:cNvPr id="27" name="TextBox 26">
            <a:extLst>
              <a:ext uri="{FF2B5EF4-FFF2-40B4-BE49-F238E27FC236}">
                <a16:creationId xmlns:a16="http://schemas.microsoft.com/office/drawing/2014/main" id="{0AF922FE-4A9A-3A2E-D6ED-9691F5ECEADC}"/>
              </a:ext>
            </a:extLst>
          </p:cNvPr>
          <p:cNvSpPr txBox="1"/>
          <p:nvPr/>
        </p:nvSpPr>
        <p:spPr>
          <a:xfrm>
            <a:off x="174737" y="4687371"/>
            <a:ext cx="6587476" cy="369332"/>
          </a:xfrm>
          <a:prstGeom prst="rect">
            <a:avLst/>
          </a:prstGeom>
          <a:noFill/>
        </p:spPr>
        <p:txBody>
          <a:bodyPr wrap="square">
            <a:spAutoFit/>
          </a:bodyPr>
          <a:lstStyle/>
          <a:p>
            <a:r>
              <a:rPr lang="en-US" sz="900" dirty="0">
                <a:latin typeface="Times New Roman" panose="02020603050405020304" pitchFamily="18" charset="0"/>
                <a:cs typeface="Times New Roman" panose="02020603050405020304" pitchFamily="18" charset="0"/>
              </a:rPr>
              <a:t>Amatya AK, Fiero MH, Bloomquist EW, et al. Subgroup Analyses in Oncology Trials: Regulatory Considerations and Case Examples. Clin Cancer Res. 2021;27(21):5753-5756. doi:10.1158/1078-0432.CCR-20-4912</a:t>
            </a:r>
          </a:p>
        </p:txBody>
      </p:sp>
      <p:sp>
        <p:nvSpPr>
          <p:cNvPr id="28" name="TextBox 27">
            <a:extLst>
              <a:ext uri="{FF2B5EF4-FFF2-40B4-BE49-F238E27FC236}">
                <a16:creationId xmlns:a16="http://schemas.microsoft.com/office/drawing/2014/main" id="{A2280C5E-54E7-4DC8-6415-7F5A2A0B2E90}"/>
              </a:ext>
            </a:extLst>
          </p:cNvPr>
          <p:cNvSpPr txBox="1"/>
          <p:nvPr/>
        </p:nvSpPr>
        <p:spPr>
          <a:xfrm>
            <a:off x="585787" y="1932044"/>
            <a:ext cx="2428875" cy="1738938"/>
          </a:xfrm>
          <a:prstGeom prst="rect">
            <a:avLst/>
          </a:prstGeom>
          <a:noFill/>
        </p:spPr>
        <p:txBody>
          <a:bodyPr wrap="square">
            <a:spAutoFit/>
          </a:bodyPr>
          <a:lstStyle/>
          <a:p>
            <a:pPr>
              <a:lnSpc>
                <a:spcPct val="200000"/>
              </a:lnSpc>
            </a:pPr>
            <a:r>
              <a:rPr lang="en-US" sz="1050" dirty="0" err="1">
                <a:latin typeface="微软雅黑" panose="020B0503020204020204" pitchFamily="34" charset="-122"/>
                <a:ea typeface="微软雅黑" panose="020B0503020204020204" pitchFamily="34" charset="-122"/>
              </a:rPr>
              <a:t>具有统计假设，控制一类错误并具有足够的检验效能，旨在确立特定亚组中的疗效</a:t>
            </a:r>
            <a:endParaRPr lang="en-US" sz="1050" dirty="0">
              <a:latin typeface="微软雅黑" panose="020B0503020204020204" pitchFamily="34" charset="-122"/>
              <a:ea typeface="微软雅黑" panose="020B0503020204020204" pitchFamily="34" charset="-122"/>
            </a:endParaRPr>
          </a:p>
          <a:p>
            <a:endParaRPr lang="en-US" sz="1100" dirty="0">
              <a:latin typeface="微软雅黑" panose="020B0503020204020204" pitchFamily="34" charset="-122"/>
              <a:ea typeface="微软雅黑" panose="020B0503020204020204" pitchFamily="34" charset="-122"/>
            </a:endParaRPr>
          </a:p>
          <a:p>
            <a:r>
              <a:rPr lang="en-US" sz="1100" dirty="0">
                <a:solidFill>
                  <a:schemeClr val="accent2">
                    <a:lumMod val="60000"/>
                    <a:lumOff val="40000"/>
                  </a:schemeClr>
                </a:solidFill>
                <a:latin typeface="Times New Roman" panose="02020603050405020304" pitchFamily="18" charset="0"/>
                <a:cs typeface="Times New Roman" panose="02020603050405020304" pitchFamily="18" charset="0"/>
              </a:rPr>
              <a:t>Prespecified with adequate power and alpha control, with an intent to establish efficacy in a subgroup of interest</a:t>
            </a:r>
            <a:r>
              <a:rPr lang="en-US" sz="1100" dirty="0"/>
              <a:t>.</a:t>
            </a:r>
          </a:p>
        </p:txBody>
      </p:sp>
      <p:sp>
        <p:nvSpPr>
          <p:cNvPr id="30" name="TextBox 29">
            <a:extLst>
              <a:ext uri="{FF2B5EF4-FFF2-40B4-BE49-F238E27FC236}">
                <a16:creationId xmlns:a16="http://schemas.microsoft.com/office/drawing/2014/main" id="{E3F6D406-44F6-CB75-E13C-243A17EC586B}"/>
              </a:ext>
            </a:extLst>
          </p:cNvPr>
          <p:cNvSpPr txBox="1"/>
          <p:nvPr/>
        </p:nvSpPr>
        <p:spPr>
          <a:xfrm>
            <a:off x="3257549" y="1906815"/>
            <a:ext cx="2714626" cy="2246769"/>
          </a:xfrm>
          <a:prstGeom prst="rect">
            <a:avLst/>
          </a:prstGeom>
          <a:noFill/>
        </p:spPr>
        <p:txBody>
          <a:bodyPr wrap="square">
            <a:spAutoFit/>
          </a:bodyPr>
          <a:lstStyle/>
          <a:p>
            <a:pPr>
              <a:lnSpc>
                <a:spcPct val="200000"/>
              </a:lnSpc>
            </a:pPr>
            <a:r>
              <a:rPr lang="en-US" sz="1050" dirty="0" err="1"/>
              <a:t>预先设定，但无正式统计学假设，旨在证明总人群疗效后，描述性评估各亚组间疗效的一致性</a:t>
            </a:r>
            <a:endParaRPr lang="en-US" sz="1050" dirty="0"/>
          </a:p>
          <a:p>
            <a:endParaRPr lang="en-US" sz="1100" dirty="0">
              <a:latin typeface="Times New Roman" panose="02020603050405020304" pitchFamily="18" charset="0"/>
              <a:cs typeface="Times New Roman" panose="02020603050405020304" pitchFamily="18" charset="0"/>
            </a:endParaRPr>
          </a:p>
          <a:p>
            <a:r>
              <a:rPr lang="en-US" sz="1100" dirty="0">
                <a:solidFill>
                  <a:schemeClr val="accent2">
                    <a:lumMod val="60000"/>
                    <a:lumOff val="40000"/>
                  </a:schemeClr>
                </a:solidFill>
                <a:latin typeface="Times New Roman" panose="02020603050405020304" pitchFamily="18" charset="0"/>
                <a:cs typeface="Times New Roman" panose="02020603050405020304" pitchFamily="18" charset="0"/>
              </a:rPr>
              <a:t>Pre-specified, but do not include prospective planning for testing within subgroups. Aimed at descriptively investigating consistency of treatment effect across subgroups after the treatment effect is shown to be significant in the total population.</a:t>
            </a:r>
          </a:p>
        </p:txBody>
      </p:sp>
      <p:sp>
        <p:nvSpPr>
          <p:cNvPr id="32" name="TextBox 31">
            <a:extLst>
              <a:ext uri="{FF2B5EF4-FFF2-40B4-BE49-F238E27FC236}">
                <a16:creationId xmlns:a16="http://schemas.microsoft.com/office/drawing/2014/main" id="{FBEB99DB-4413-C881-2AB7-E298C11533E1}"/>
              </a:ext>
            </a:extLst>
          </p:cNvPr>
          <p:cNvSpPr txBox="1"/>
          <p:nvPr/>
        </p:nvSpPr>
        <p:spPr>
          <a:xfrm>
            <a:off x="6200775" y="1871663"/>
            <a:ext cx="2586038" cy="2281921"/>
          </a:xfrm>
          <a:prstGeom prst="rect">
            <a:avLst/>
          </a:prstGeom>
          <a:noFill/>
        </p:spPr>
        <p:txBody>
          <a:bodyPr wrap="square">
            <a:spAutoFit/>
          </a:bodyPr>
          <a:lstStyle/>
          <a:p>
            <a:pPr>
              <a:lnSpc>
                <a:spcPct val="200000"/>
              </a:lnSpc>
            </a:pPr>
            <a:r>
              <a:rPr lang="en-US" sz="1050" dirty="0" err="1"/>
              <a:t>通常纳入方案以最大化临床试验数据的利用价值，用于生成假设或深入了解治疗的潜在预测性机制因素及疾病的生物学特征</a:t>
            </a:r>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r>
              <a:rPr lang="en-US" sz="1100" dirty="0">
                <a:solidFill>
                  <a:schemeClr val="accent2">
                    <a:lumMod val="60000"/>
                    <a:lumOff val="40000"/>
                  </a:schemeClr>
                </a:solidFill>
                <a:latin typeface="Times New Roman" panose="02020603050405020304" pitchFamily="18" charset="0"/>
                <a:cs typeface="Times New Roman" panose="02020603050405020304" pitchFamily="18" charset="0"/>
              </a:rPr>
              <a:t>Generally included in the protocol to maximize the utility of the clinical trial data to generate hypotheses or to gain further insight into potentially predictive mechanistic elements of the treatment and biological characteristics of the disease.</a:t>
            </a:r>
          </a:p>
        </p:txBody>
      </p:sp>
      <p:sp>
        <p:nvSpPr>
          <p:cNvPr id="34" name="TextBox 33">
            <a:extLst>
              <a:ext uri="{FF2B5EF4-FFF2-40B4-BE49-F238E27FC236}">
                <a16:creationId xmlns:a16="http://schemas.microsoft.com/office/drawing/2014/main" id="{55826CF4-C4F6-C7C2-65D3-727068A2660A}"/>
              </a:ext>
            </a:extLst>
          </p:cNvPr>
          <p:cNvSpPr txBox="1"/>
          <p:nvPr/>
        </p:nvSpPr>
        <p:spPr>
          <a:xfrm>
            <a:off x="811803" y="691220"/>
            <a:ext cx="7520394" cy="276999"/>
          </a:xfrm>
          <a:prstGeom prst="rect">
            <a:avLst/>
          </a:prstGeom>
          <a:noFill/>
        </p:spPr>
        <p:txBody>
          <a:bodyPr wrap="square">
            <a:spAutoFit/>
          </a:bodyPr>
          <a:lstStyle/>
          <a:p>
            <a:r>
              <a:rPr lang="en-US" sz="1200" dirty="0" err="1">
                <a:solidFill>
                  <a:schemeClr val="accent2">
                    <a:lumMod val="75000"/>
                  </a:schemeClr>
                </a:solidFill>
                <a:latin typeface="微软雅黑" panose="020B0503020204020204" pitchFamily="34" charset="-122"/>
                <a:ea typeface="微软雅黑" panose="020B0503020204020204" pitchFamily="34" charset="-122"/>
              </a:rPr>
              <a:t>亚组分析是基于总研究人群中某些患者特征对治疗效果进行的评估，对于关键性肿瘤试验的解读具有重要意义</a:t>
            </a:r>
            <a:endParaRPr lang="en-US" sz="1200"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57188" y="228600"/>
            <a:ext cx="8429625" cy="21431"/>
          </a:xfrm>
          <a:prstGeom prst="rect">
            <a:avLst/>
          </a:prstGeom>
          <a:solidFill>
            <a:srgbClr val="A63C30"/>
          </a:solidFill>
          <a:ln/>
        </p:spPr>
        <p:txBody>
          <a:bodyPr/>
          <a:lstStyle/>
          <a:p>
            <a:endParaRPr lang="en-US" sz="1013"/>
          </a:p>
        </p:txBody>
      </p:sp>
      <p:sp>
        <p:nvSpPr>
          <p:cNvPr id="3" name="Text 1"/>
          <p:cNvSpPr/>
          <p:nvPr/>
        </p:nvSpPr>
        <p:spPr>
          <a:xfrm>
            <a:off x="357188" y="300037"/>
            <a:ext cx="7143750" cy="300038"/>
          </a:xfrm>
          <a:prstGeom prst="rect">
            <a:avLst/>
          </a:prstGeom>
          <a:noFill/>
          <a:ln/>
        </p:spPr>
        <p:txBody>
          <a:bodyPr wrap="none" lIns="0" tIns="0" rIns="0" bIns="0" rtlCol="0" anchor="ctr"/>
          <a:lstStyle/>
          <a:p>
            <a:pPr>
              <a:lnSpc>
                <a:spcPct val="100000"/>
              </a:lnSpc>
            </a:pPr>
            <a:r>
              <a:rPr lang="zh-CN" altLang="en-US" sz="1575" b="1" dirty="0">
                <a:solidFill>
                  <a:srgbClr val="BF1733"/>
                </a:solidFill>
                <a:latin typeface="Times New Roman" panose="02020603050405020304" pitchFamily="18" charset="0"/>
                <a:ea typeface="QuattrocentoSans" pitchFamily="34" charset="-122"/>
                <a:cs typeface="Times New Roman" panose="02020603050405020304" pitchFamily="18" charset="0"/>
              </a:rPr>
              <a:t>推断性亚组分析例子</a:t>
            </a:r>
            <a:r>
              <a:rPr lang="en-US" sz="1575" b="1" dirty="0">
                <a:solidFill>
                  <a:srgbClr val="BF1733"/>
                </a:solidFill>
                <a:latin typeface="Times New Roman" panose="02020603050405020304" pitchFamily="18" charset="0"/>
                <a:ea typeface="QuattrocentoSans" pitchFamily="34" charset="-122"/>
                <a:cs typeface="Times New Roman" panose="02020603050405020304" pitchFamily="18" charset="0"/>
              </a:rPr>
              <a:t>: IMpassion130 PD-L1 Example</a:t>
            </a:r>
            <a:endParaRPr lang="en-US" sz="1575" dirty="0">
              <a:solidFill>
                <a:srgbClr val="BF1733"/>
              </a:solidFill>
              <a:latin typeface="Times New Roman" panose="02020603050405020304" pitchFamily="18" charset="0"/>
              <a:cs typeface="Times New Roman" panose="02020603050405020304" pitchFamily="18" charset="0"/>
            </a:endParaRPr>
          </a:p>
        </p:txBody>
      </p:sp>
      <p:sp>
        <p:nvSpPr>
          <p:cNvPr id="4" name="Shape 2"/>
          <p:cNvSpPr/>
          <p:nvPr/>
        </p:nvSpPr>
        <p:spPr>
          <a:xfrm>
            <a:off x="357188" y="678656"/>
            <a:ext cx="4373562" cy="1712321"/>
          </a:xfrm>
          <a:prstGeom prst="rect">
            <a:avLst/>
          </a:prstGeom>
          <a:solidFill>
            <a:srgbClr val="F5EDE8"/>
          </a:solidFill>
          <a:ln/>
        </p:spPr>
        <p:txBody>
          <a:bodyPr/>
          <a:lstStyle/>
          <a:p>
            <a:endParaRPr lang="en-US" sz="1013"/>
          </a:p>
        </p:txBody>
      </p:sp>
      <p:sp>
        <p:nvSpPr>
          <p:cNvPr id="5" name="Text 3"/>
          <p:cNvSpPr/>
          <p:nvPr/>
        </p:nvSpPr>
        <p:spPr>
          <a:xfrm>
            <a:off x="500063" y="750094"/>
            <a:ext cx="1428750" cy="200025"/>
          </a:xfrm>
          <a:prstGeom prst="rect">
            <a:avLst/>
          </a:prstGeom>
          <a:noFill/>
          <a:ln/>
        </p:spPr>
        <p:txBody>
          <a:bodyPr wrap="none" lIns="0" tIns="0" rIns="0" bIns="0" rtlCol="0" anchor="ctr"/>
          <a:lstStyle/>
          <a:p>
            <a:pPr>
              <a:lnSpc>
                <a:spcPct val="100000"/>
              </a:lnSpc>
            </a:pPr>
            <a:r>
              <a:rPr lang="en-US" sz="1125" b="1" dirty="0">
                <a:solidFill>
                  <a:srgbClr val="2D2926"/>
                </a:solidFill>
                <a:latin typeface="Times New Roman" panose="02020603050405020304" pitchFamily="18" charset="0"/>
                <a:ea typeface="QuattrocentoSans" pitchFamily="34" charset="-122"/>
                <a:cs typeface="Times New Roman" panose="02020603050405020304" pitchFamily="18" charset="0"/>
              </a:rPr>
              <a:t>Trial Design</a:t>
            </a:r>
            <a:endParaRPr lang="en-US" sz="1125" dirty="0">
              <a:latin typeface="Times New Roman" panose="02020603050405020304" pitchFamily="18" charset="0"/>
              <a:cs typeface="Times New Roman" panose="02020603050405020304" pitchFamily="18" charset="0"/>
            </a:endParaRPr>
          </a:p>
        </p:txBody>
      </p:sp>
      <p:sp>
        <p:nvSpPr>
          <p:cNvPr id="6" name="Shape 4"/>
          <p:cNvSpPr/>
          <p:nvPr/>
        </p:nvSpPr>
        <p:spPr>
          <a:xfrm>
            <a:off x="500063" y="971550"/>
            <a:ext cx="428625" cy="14288"/>
          </a:xfrm>
          <a:prstGeom prst="rect">
            <a:avLst/>
          </a:prstGeom>
          <a:solidFill>
            <a:srgbClr val="A63C30"/>
          </a:solidFill>
          <a:ln/>
        </p:spPr>
        <p:txBody>
          <a:bodyPr/>
          <a:lstStyle/>
          <a:p>
            <a:endParaRPr lang="en-US" sz="1013"/>
          </a:p>
        </p:txBody>
      </p:sp>
      <p:sp>
        <p:nvSpPr>
          <p:cNvPr id="7" name="Text 5"/>
          <p:cNvSpPr/>
          <p:nvPr/>
        </p:nvSpPr>
        <p:spPr>
          <a:xfrm>
            <a:off x="500063" y="1057275"/>
            <a:ext cx="3714750" cy="1250156"/>
          </a:xfrm>
          <a:prstGeom prst="rect">
            <a:avLst/>
          </a:prstGeom>
          <a:noFill/>
          <a:ln/>
        </p:spPr>
        <p:txBody>
          <a:bodyPr wrap="square" lIns="0" tIns="0" rIns="0" bIns="0" rtlCol="0" anchor="ctr"/>
          <a:lstStyle/>
          <a:p>
            <a:pPr>
              <a:lnSpc>
                <a:spcPct val="145000"/>
              </a:lnSpc>
            </a:pP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Phase 3</a:t>
            </a:r>
            <a:r>
              <a:rPr lang="en-US" sz="1000" dirty="0">
                <a:solidFill>
                  <a:srgbClr val="2D2926"/>
                </a:solidFill>
                <a:latin typeface="Times New Roman" panose="02020603050405020304" pitchFamily="18" charset="0"/>
                <a:ea typeface="QuattrocentoSans" pitchFamily="34" charset="-122"/>
                <a:cs typeface="Times New Roman" panose="02020603050405020304" pitchFamily="18" charset="0"/>
              </a:rPr>
              <a:t>, randomized, double-blind, placebo-controlled</a:t>
            </a:r>
            <a:endParaRPr lang="en-US" sz="1050" dirty="0">
              <a:latin typeface="Times New Roman" panose="02020603050405020304" pitchFamily="18" charset="0"/>
              <a:cs typeface="Times New Roman" panose="02020603050405020304" pitchFamily="18" charset="0"/>
            </a:endParaRPr>
          </a:p>
          <a:p>
            <a:pPr>
              <a:lnSpc>
                <a:spcPct val="145000"/>
              </a:lnSpc>
            </a:pP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Population:</a:t>
            </a:r>
            <a:r>
              <a:rPr lang="en-US" sz="1000" dirty="0">
                <a:solidFill>
                  <a:srgbClr val="2D2926"/>
                </a:solidFill>
                <a:latin typeface="Times New Roman" panose="02020603050405020304" pitchFamily="18" charset="0"/>
                <a:ea typeface="QuattrocentoSans" pitchFamily="34" charset="-122"/>
                <a:cs typeface="Times New Roman" panose="02020603050405020304" pitchFamily="18" charset="0"/>
              </a:rPr>
              <a:t> First-line mTNBC (N = 902)</a:t>
            </a:r>
            <a:endParaRPr lang="en-US" sz="1050" dirty="0">
              <a:latin typeface="Times New Roman" panose="02020603050405020304" pitchFamily="18" charset="0"/>
              <a:cs typeface="Times New Roman" panose="02020603050405020304" pitchFamily="18" charset="0"/>
            </a:endParaRPr>
          </a:p>
          <a:p>
            <a:pPr>
              <a:lnSpc>
                <a:spcPct val="145000"/>
              </a:lnSpc>
            </a:pP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Randomization:</a:t>
            </a:r>
            <a:r>
              <a:rPr lang="en-US" sz="1000" dirty="0">
                <a:solidFill>
                  <a:srgbClr val="2D2926"/>
                </a:solidFill>
                <a:latin typeface="Times New Roman" panose="02020603050405020304" pitchFamily="18" charset="0"/>
                <a:ea typeface="QuattrocentoSans" pitchFamily="34" charset="-122"/>
                <a:cs typeface="Times New Roman" panose="02020603050405020304" pitchFamily="18" charset="0"/>
              </a:rPr>
              <a:t> 1:1 to Atezo + nP vs Placebo + nP</a:t>
            </a:r>
            <a:endParaRPr lang="en-US" sz="1050" dirty="0">
              <a:latin typeface="Times New Roman" panose="02020603050405020304" pitchFamily="18" charset="0"/>
              <a:cs typeface="Times New Roman" panose="02020603050405020304" pitchFamily="18" charset="0"/>
            </a:endParaRPr>
          </a:p>
          <a:p>
            <a:pPr>
              <a:lnSpc>
                <a:spcPct val="145000"/>
              </a:lnSpc>
            </a:pP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D</a:t>
            </a:r>
            <a:r>
              <a:rPr lang="en-US" altLang="zh-CN" sz="1000" b="1" dirty="0">
                <a:solidFill>
                  <a:srgbClr val="2D2926"/>
                </a:solidFill>
                <a:latin typeface="Times New Roman" panose="02020603050405020304" pitchFamily="18" charset="0"/>
                <a:ea typeface="QuattrocentoSans" pitchFamily="34" charset="-122"/>
                <a:cs typeface="Times New Roman" panose="02020603050405020304" pitchFamily="18" charset="0"/>
              </a:rPr>
              <a:t>ual </a:t>
            </a: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primary endpoints:</a:t>
            </a:r>
            <a:r>
              <a:rPr lang="en-US" sz="1000" dirty="0">
                <a:solidFill>
                  <a:srgbClr val="2D2926"/>
                </a:solidFill>
                <a:latin typeface="Times New Roman" panose="02020603050405020304" pitchFamily="18" charset="0"/>
                <a:ea typeface="QuattrocentoSans" pitchFamily="34" charset="-122"/>
                <a:cs typeface="Times New Roman" panose="02020603050405020304" pitchFamily="18" charset="0"/>
              </a:rPr>
              <a:t> PFS and OS in ITT and PD-L1+</a:t>
            </a:r>
            <a:endParaRPr lang="en-US" sz="1050" dirty="0">
              <a:latin typeface="Times New Roman" panose="02020603050405020304" pitchFamily="18" charset="0"/>
              <a:cs typeface="Times New Roman" panose="02020603050405020304" pitchFamily="18" charset="0"/>
            </a:endParaRPr>
          </a:p>
          <a:p>
            <a:pPr>
              <a:lnSpc>
                <a:spcPct val="145000"/>
              </a:lnSpc>
            </a:pPr>
            <a:r>
              <a:rPr lang="en-US" sz="1000" b="1" dirty="0">
                <a:solidFill>
                  <a:srgbClr val="2D2926"/>
                </a:solidFill>
                <a:latin typeface="Times New Roman" panose="02020603050405020304" pitchFamily="18" charset="0"/>
                <a:ea typeface="QuattrocentoSans" pitchFamily="34" charset="-122"/>
                <a:cs typeface="Times New Roman" panose="02020603050405020304" pitchFamily="18" charset="0"/>
              </a:rPr>
              <a:t>PD-L1+ prevalence:</a:t>
            </a:r>
            <a:r>
              <a:rPr lang="en-US" sz="1000" dirty="0">
                <a:solidFill>
                  <a:srgbClr val="2D2926"/>
                </a:solidFill>
                <a:latin typeface="Times New Roman" panose="02020603050405020304" pitchFamily="18" charset="0"/>
                <a:ea typeface="QuattrocentoSans" pitchFamily="34" charset="-122"/>
                <a:cs typeface="Times New Roman" panose="02020603050405020304" pitchFamily="18" charset="0"/>
              </a:rPr>
              <a:t> ~41% (n ≈ 369)</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4643438" y="1057275"/>
            <a:ext cx="4000500" cy="1250156"/>
          </a:xfrm>
          <a:prstGeom prst="rect">
            <a:avLst/>
          </a:prstGeom>
          <a:noFill/>
          <a:ln/>
        </p:spPr>
        <p:txBody>
          <a:bodyPr wrap="square" lIns="0" tIns="0" rIns="0" bIns="0" rtlCol="0" anchor="ctr"/>
          <a:lstStyle/>
          <a:p>
            <a:pPr>
              <a:lnSpc>
                <a:spcPct val="145000"/>
              </a:lnSpc>
            </a:pPr>
            <a:endParaRPr lang="en-US" sz="1013" dirty="0">
              <a:solidFill>
                <a:srgbClr val="FF0000"/>
              </a:solidFill>
            </a:endParaRPr>
          </a:p>
        </p:txBody>
      </p:sp>
      <p:graphicFrame>
        <p:nvGraphicFramePr>
          <p:cNvPr id="12" name="Table 0"/>
          <p:cNvGraphicFramePr>
            <a:graphicFrameLocks noGrp="1"/>
          </p:cNvGraphicFramePr>
          <p:nvPr>
            <p:extLst>
              <p:ext uri="{D42A27DB-BD31-4B8C-83A1-F6EECF244321}">
                <p14:modId xmlns:p14="http://schemas.microsoft.com/office/powerpoint/2010/main" val="311130850"/>
              </p:ext>
            </p:extLst>
          </p:nvPr>
        </p:nvGraphicFramePr>
        <p:xfrm>
          <a:off x="315913" y="4427539"/>
          <a:ext cx="4327525" cy="357219"/>
        </p:xfrm>
        <a:graphic>
          <a:graphicData uri="http://schemas.openxmlformats.org/drawingml/2006/table">
            <a:tbl>
              <a:tblPr/>
              <a:tblGrid>
                <a:gridCol w="1100138">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gridCol w="592137">
                  <a:extLst>
                    <a:ext uri="{9D8B030D-6E8A-4147-A177-3AD203B41FA5}">
                      <a16:colId xmlns:a16="http://schemas.microsoft.com/office/drawing/2014/main" val="20004"/>
                    </a:ext>
                  </a:extLst>
                </a:gridCol>
              </a:tblGrid>
              <a:tr h="105630">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Endpoint (PD-L1+)</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A63C30"/>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Atezo + nP</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A63C30"/>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Placebo + nP</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A63C30"/>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HR (95% CI)</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A63C30"/>
                    </a:solidFill>
                  </a:tcPr>
                </a:tc>
                <a:tc>
                  <a:txBody>
                    <a:bodyPr/>
                    <a:lstStyle/>
                    <a:p>
                      <a:pPr algn="ctr"/>
                      <a:r>
                        <a:rPr lang="en-US" sz="900" b="1" u="none" dirty="0">
                          <a:solidFill>
                            <a:srgbClr val="FFFFFF"/>
                          </a:solidFill>
                          <a:latin typeface="Times New Roman" panose="02020603050405020304" pitchFamily="18" charset="0"/>
                          <a:ea typeface="QuattrocentoSans" pitchFamily="34" charset="-122"/>
                          <a:cs typeface="Times New Roman" panose="02020603050405020304" pitchFamily="18" charset="0"/>
                        </a:rPr>
                        <a:t>P-value</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A63C30"/>
                    </a:solidFill>
                  </a:tcPr>
                </a:tc>
                <a:extLst>
                  <a:ext uri="{0D108BD9-81ED-4DB2-BD59-A6C34878D82A}">
                    <a16:rowId xmlns:a16="http://schemas.microsoft.com/office/drawing/2014/main" val="10000"/>
                  </a:ext>
                </a:extLst>
              </a:tr>
              <a:tr h="220059">
                <a:tc>
                  <a:txBody>
                    <a:bodyPr/>
                    <a:lstStyle/>
                    <a:p>
                      <a:pPr algn="ctr"/>
                      <a:r>
                        <a:rPr lang="en-US" sz="900" u="none" dirty="0">
                          <a:solidFill>
                            <a:srgbClr val="2D2926"/>
                          </a:solidFill>
                          <a:latin typeface="Times New Roman" panose="02020603050405020304" pitchFamily="18" charset="0"/>
                          <a:ea typeface="QuattrocentoSans" pitchFamily="34" charset="-122"/>
                          <a:cs typeface="Times New Roman" panose="02020603050405020304" pitchFamily="18" charset="0"/>
                        </a:rPr>
                        <a:t>PFS (months)</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FFFFFF"/>
                    </a:solidFill>
                  </a:tcPr>
                </a:tc>
                <a:tc>
                  <a:txBody>
                    <a:bodyPr/>
                    <a:lstStyle/>
                    <a:p>
                      <a:pPr algn="ctr"/>
                      <a:r>
                        <a:rPr lang="en-US" sz="900" u="none" dirty="0">
                          <a:solidFill>
                            <a:srgbClr val="2D2926"/>
                          </a:solidFill>
                          <a:latin typeface="Times New Roman" panose="02020603050405020304" pitchFamily="18" charset="0"/>
                          <a:ea typeface="QuattrocentoSans" pitchFamily="34" charset="-122"/>
                          <a:cs typeface="Times New Roman" panose="02020603050405020304" pitchFamily="18" charset="0"/>
                        </a:rPr>
                        <a:t>7.5</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FFFFFF"/>
                    </a:solidFill>
                  </a:tcPr>
                </a:tc>
                <a:tc>
                  <a:txBody>
                    <a:bodyPr/>
                    <a:lstStyle/>
                    <a:p>
                      <a:pPr algn="ctr"/>
                      <a:r>
                        <a:rPr lang="en-US" sz="900" u="none" dirty="0">
                          <a:solidFill>
                            <a:srgbClr val="2D2926"/>
                          </a:solidFill>
                          <a:latin typeface="Times New Roman" panose="02020603050405020304" pitchFamily="18" charset="0"/>
                          <a:ea typeface="QuattrocentoSans" pitchFamily="34" charset="-122"/>
                          <a:cs typeface="Times New Roman" panose="02020603050405020304" pitchFamily="18" charset="0"/>
                        </a:rPr>
                        <a:t>5.0</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FFFFFF"/>
                    </a:solidFill>
                  </a:tcPr>
                </a:tc>
                <a:tc>
                  <a:txBody>
                    <a:bodyPr/>
                    <a:lstStyle/>
                    <a:p>
                      <a:pPr algn="ctr"/>
                      <a:r>
                        <a:rPr lang="en-US" sz="900" u="none" dirty="0">
                          <a:solidFill>
                            <a:srgbClr val="2D2926"/>
                          </a:solidFill>
                          <a:latin typeface="Times New Roman" panose="02020603050405020304" pitchFamily="18" charset="0"/>
                          <a:ea typeface="QuattrocentoSans" pitchFamily="34" charset="-122"/>
                          <a:cs typeface="Times New Roman" panose="02020603050405020304" pitchFamily="18" charset="0"/>
                        </a:rPr>
                        <a:t>0.62 (0.49–0.78)</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FFFFFF"/>
                    </a:solidFill>
                  </a:tcPr>
                </a:tc>
                <a:tc>
                  <a:txBody>
                    <a:bodyPr/>
                    <a:lstStyle/>
                    <a:p>
                      <a:pPr algn="ctr"/>
                      <a:r>
                        <a:rPr lang="en-US" sz="900" u="none" dirty="0">
                          <a:solidFill>
                            <a:srgbClr val="A63C30"/>
                          </a:solidFill>
                          <a:latin typeface="Times New Roman" panose="02020603050405020304" pitchFamily="18" charset="0"/>
                          <a:ea typeface="QuattrocentoSans" pitchFamily="34" charset="-122"/>
                          <a:cs typeface="Times New Roman" panose="02020603050405020304" pitchFamily="18" charset="0"/>
                        </a:rPr>
                        <a:t>&lt;0.001*</a:t>
                      </a:r>
                      <a:endParaRPr lang="en-US" sz="900" dirty="0">
                        <a:latin typeface="Times New Roman" panose="02020603050405020304" pitchFamily="18" charset="0"/>
                        <a:ea typeface="QuattrocentoSans" charset="0"/>
                        <a:cs typeface="Times New Roman" panose="02020603050405020304" pitchFamily="18" charset="0"/>
                      </a:endParaRPr>
                    </a:p>
                  </a:txBody>
                  <a:tcPr marL="51435" marR="51435" marT="0" marB="0" anchor="ctr">
                    <a:lnL w="12700" cap="flat" cmpd="sng" algn="ctr">
                      <a:solidFill>
                        <a:srgbClr val="E0D5CD"/>
                      </a:solidFill>
                      <a:prstDash val="solid"/>
                      <a:round/>
                      <a:headEnd type="none" w="med" len="med"/>
                      <a:tailEnd type="none" w="med" len="med"/>
                    </a:lnL>
                    <a:lnR w="12700" cap="flat" cmpd="sng" algn="ctr">
                      <a:solidFill>
                        <a:srgbClr val="E0D5CD"/>
                      </a:solidFill>
                      <a:prstDash val="solid"/>
                      <a:round/>
                      <a:headEnd type="none" w="med" len="med"/>
                      <a:tailEnd type="none" w="med" len="med"/>
                    </a:lnR>
                    <a:lnT w="12700" cap="flat" cmpd="sng" algn="ctr">
                      <a:solidFill>
                        <a:srgbClr val="E0D5CD"/>
                      </a:solidFill>
                      <a:prstDash val="solid"/>
                      <a:round/>
                      <a:headEnd type="none" w="med" len="med"/>
                      <a:tailEnd type="none" w="med" len="med"/>
                    </a:lnT>
                    <a:lnB w="12700" cap="flat" cmpd="sng" algn="ctr">
                      <a:solidFill>
                        <a:srgbClr val="E0D5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9" name="TextBox 18">
            <a:extLst>
              <a:ext uri="{FF2B5EF4-FFF2-40B4-BE49-F238E27FC236}">
                <a16:creationId xmlns:a16="http://schemas.microsoft.com/office/drawing/2014/main" id="{1C30616D-8393-90D8-8C44-2CA8E7A78383}"/>
              </a:ext>
            </a:extLst>
          </p:cNvPr>
          <p:cNvSpPr txBox="1"/>
          <p:nvPr/>
        </p:nvSpPr>
        <p:spPr>
          <a:xfrm>
            <a:off x="282221" y="2370139"/>
            <a:ext cx="4748212" cy="1893078"/>
          </a:xfrm>
          <a:prstGeom prst="rect">
            <a:avLst/>
          </a:prstGeom>
          <a:noFill/>
        </p:spPr>
        <p:txBody>
          <a:bodyPr wrap="square">
            <a:spAutoFit/>
          </a:bodyPr>
          <a:lstStyle/>
          <a:p>
            <a:pPr>
              <a:lnSpc>
                <a:spcPct val="150000"/>
              </a:lnSpc>
            </a:pPr>
            <a:r>
              <a:rPr lang="en-US" sz="1100" dirty="0">
                <a:latin typeface="Times New Roman" panose="02020603050405020304" pitchFamily="18" charset="0"/>
                <a:cs typeface="Times New Roman" panose="02020603050405020304" pitchFamily="18" charset="0"/>
              </a:rPr>
              <a:t>   Assuming a PD-L1-elected rate of 40% in the enrolled population and assuming a median PFS of 6 months in the placebo + nab-paclitaxel arm and 12 months in the atezolizumab + nab-paclitaxel arm (corresponding to a HR of 0.5) in the PD-L1-selected subgroup, it is predicted that there will be about </a:t>
            </a:r>
            <a:r>
              <a:rPr lang="en-US" sz="1100" b="1" u="sng" dirty="0">
                <a:solidFill>
                  <a:schemeClr val="accent2"/>
                </a:solidFill>
                <a:latin typeface="Times New Roman" panose="02020603050405020304" pitchFamily="18" charset="0"/>
                <a:cs typeface="Times New Roman" panose="02020603050405020304" pitchFamily="18" charset="0"/>
              </a:rPr>
              <a:t>215 </a:t>
            </a:r>
            <a:r>
              <a:rPr lang="en-US" sz="1100" dirty="0">
                <a:latin typeface="Times New Roman" panose="02020603050405020304" pitchFamily="18" charset="0"/>
                <a:cs typeface="Times New Roman" panose="02020603050405020304" pitchFamily="18" charset="0"/>
              </a:rPr>
              <a:t>PFS events (59.8% of 360). This corresponds to a power of about 75% and a minimally detectable difference of HR = 0.57 (corresponding to an increase of about 4.5 months from 6 months to 10.5 months).</a:t>
            </a:r>
          </a:p>
        </p:txBody>
      </p:sp>
      <p:pic>
        <p:nvPicPr>
          <p:cNvPr id="21" name="Picture 20">
            <a:extLst>
              <a:ext uri="{FF2B5EF4-FFF2-40B4-BE49-F238E27FC236}">
                <a16:creationId xmlns:a16="http://schemas.microsoft.com/office/drawing/2014/main" id="{3F34EF39-6CDD-56A3-D8CE-C95E00321DB2}"/>
              </a:ext>
            </a:extLst>
          </p:cNvPr>
          <p:cNvPicPr>
            <a:picLocks noChangeAspect="1"/>
          </p:cNvPicPr>
          <p:nvPr/>
        </p:nvPicPr>
        <p:blipFill>
          <a:blip r:embed="rId3"/>
          <a:stretch>
            <a:fillRect/>
          </a:stretch>
        </p:blipFill>
        <p:spPr>
          <a:xfrm>
            <a:off x="4873625" y="1259278"/>
            <a:ext cx="3988154" cy="2753083"/>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5E0CC316-AEF5-2B13-274B-DE015C5754E3}"/>
              </a:ext>
            </a:extLst>
          </p:cNvPr>
          <p:cNvGrpSpPr/>
          <p:nvPr/>
        </p:nvGrpSpPr>
        <p:grpSpPr>
          <a:xfrm>
            <a:off x="7028510" y="3261111"/>
            <a:ext cx="1963089" cy="1193004"/>
            <a:chOff x="4770438" y="2800349"/>
            <a:chExt cx="2428875" cy="1571626"/>
          </a:xfrm>
        </p:grpSpPr>
        <p:grpSp>
          <p:nvGrpSpPr>
            <p:cNvPr id="78" name="Group 77">
              <a:extLst>
                <a:ext uri="{FF2B5EF4-FFF2-40B4-BE49-F238E27FC236}">
                  <a16:creationId xmlns:a16="http://schemas.microsoft.com/office/drawing/2014/main" id="{7BB1B785-FEC5-BF5C-84E3-5AFD24814B94}"/>
                </a:ext>
              </a:extLst>
            </p:cNvPr>
            <p:cNvGrpSpPr/>
            <p:nvPr/>
          </p:nvGrpSpPr>
          <p:grpSpPr>
            <a:xfrm>
              <a:off x="4770438" y="2800349"/>
              <a:ext cx="2428875" cy="1571626"/>
              <a:chOff x="4770438" y="2800349"/>
              <a:chExt cx="2428875" cy="1571626"/>
            </a:xfrm>
          </p:grpSpPr>
          <p:sp>
            <p:nvSpPr>
              <p:cNvPr id="80" name="Shape 22">
                <a:extLst>
                  <a:ext uri="{FF2B5EF4-FFF2-40B4-BE49-F238E27FC236}">
                    <a16:creationId xmlns:a16="http://schemas.microsoft.com/office/drawing/2014/main" id="{9C900514-647E-36CF-BB3B-50AD2785CF72}"/>
                  </a:ext>
                </a:extLst>
              </p:cNvPr>
              <p:cNvSpPr/>
              <p:nvPr/>
            </p:nvSpPr>
            <p:spPr>
              <a:xfrm>
                <a:off x="4770438" y="2800350"/>
                <a:ext cx="2428875" cy="1571625"/>
              </a:xfrm>
              <a:prstGeom prst="roundRect">
                <a:avLst>
                  <a:gd name="adj" fmla="val 5000"/>
                </a:avLst>
              </a:prstGeom>
              <a:solidFill>
                <a:srgbClr val="FFFFFF"/>
              </a:solidFill>
              <a:ln w="12700">
                <a:solidFill>
                  <a:srgbClr val="E8DDD8"/>
                </a:solidFill>
                <a:prstDash val="solid"/>
              </a:ln>
            </p:spPr>
            <p:txBody>
              <a:bodyPr/>
              <a:lstStyle/>
              <a:p>
                <a:endParaRPr lang="en-US" sz="1013"/>
              </a:p>
            </p:txBody>
          </p:sp>
          <p:sp>
            <p:nvSpPr>
              <p:cNvPr id="81" name="Shape 23">
                <a:extLst>
                  <a:ext uri="{FF2B5EF4-FFF2-40B4-BE49-F238E27FC236}">
                    <a16:creationId xmlns:a16="http://schemas.microsoft.com/office/drawing/2014/main" id="{3F756530-1C45-F103-6E42-0BA1C05B81F5}"/>
                  </a:ext>
                </a:extLst>
              </p:cNvPr>
              <p:cNvSpPr/>
              <p:nvPr/>
            </p:nvSpPr>
            <p:spPr>
              <a:xfrm>
                <a:off x="4770438" y="2800349"/>
                <a:ext cx="2428875" cy="35719"/>
              </a:xfrm>
              <a:prstGeom prst="rect">
                <a:avLst/>
              </a:prstGeom>
              <a:solidFill>
                <a:srgbClr val="A0453A"/>
              </a:solidFill>
              <a:ln/>
            </p:spPr>
            <p:txBody>
              <a:bodyPr/>
              <a:lstStyle/>
              <a:p>
                <a:endParaRPr lang="en-US" sz="1013"/>
              </a:p>
            </p:txBody>
          </p:sp>
          <p:sp>
            <p:nvSpPr>
              <p:cNvPr id="82" name="Shape 24">
                <a:extLst>
                  <a:ext uri="{FF2B5EF4-FFF2-40B4-BE49-F238E27FC236}">
                    <a16:creationId xmlns:a16="http://schemas.microsoft.com/office/drawing/2014/main" id="{21BA773D-8DFA-CF99-EC3E-237C2B7048B4}"/>
                  </a:ext>
                </a:extLst>
              </p:cNvPr>
              <p:cNvSpPr/>
              <p:nvPr/>
            </p:nvSpPr>
            <p:spPr>
              <a:xfrm>
                <a:off x="5791994" y="2957512"/>
                <a:ext cx="385763" cy="342900"/>
              </a:xfrm>
              <a:custGeom>
                <a:avLst/>
                <a:gdLst/>
                <a:ahLst/>
                <a:cxnLst/>
                <a:rect l="l" t="t" r="r" b="b"/>
                <a:pathLst>
                  <a:path w="685800" h="609600">
                    <a:moveTo>
                      <a:pt x="152400" y="76200"/>
                    </a:moveTo>
                    <a:cubicBezTo>
                      <a:pt x="152400" y="34171"/>
                      <a:pt x="186571" y="0"/>
                      <a:pt x="228600" y="0"/>
                    </a:cubicBezTo>
                    <a:lnTo>
                      <a:pt x="457200" y="0"/>
                    </a:lnTo>
                    <a:cubicBezTo>
                      <a:pt x="499229" y="0"/>
                      <a:pt x="533400" y="34171"/>
                      <a:pt x="533400" y="76200"/>
                    </a:cubicBezTo>
                    <a:lnTo>
                      <a:pt x="533400" y="152400"/>
                    </a:lnTo>
                    <a:lnTo>
                      <a:pt x="609600" y="152400"/>
                    </a:lnTo>
                    <a:cubicBezTo>
                      <a:pt x="651629" y="152400"/>
                      <a:pt x="685800" y="186571"/>
                      <a:pt x="685800" y="228600"/>
                    </a:cubicBezTo>
                    <a:lnTo>
                      <a:pt x="685800" y="533400"/>
                    </a:lnTo>
                    <a:cubicBezTo>
                      <a:pt x="685800" y="575429"/>
                      <a:pt x="651629" y="609600"/>
                      <a:pt x="609600" y="609600"/>
                    </a:cubicBezTo>
                    <a:lnTo>
                      <a:pt x="76200" y="609600"/>
                    </a:lnTo>
                    <a:cubicBezTo>
                      <a:pt x="34171" y="609600"/>
                      <a:pt x="0" y="575429"/>
                      <a:pt x="0" y="533400"/>
                    </a:cubicBezTo>
                    <a:lnTo>
                      <a:pt x="0" y="228600"/>
                    </a:lnTo>
                    <a:cubicBezTo>
                      <a:pt x="0" y="186571"/>
                      <a:pt x="34171" y="152400"/>
                      <a:pt x="76200" y="152400"/>
                    </a:cubicBezTo>
                    <a:lnTo>
                      <a:pt x="152400" y="152400"/>
                    </a:lnTo>
                    <a:lnTo>
                      <a:pt x="152400" y="76200"/>
                    </a:lnTo>
                    <a:close/>
                    <a:moveTo>
                      <a:pt x="323850" y="419100"/>
                    </a:moveTo>
                    <a:cubicBezTo>
                      <a:pt x="302776" y="419100"/>
                      <a:pt x="285750" y="436126"/>
                      <a:pt x="285750" y="457200"/>
                    </a:cubicBezTo>
                    <a:lnTo>
                      <a:pt x="285750" y="552450"/>
                    </a:lnTo>
                    <a:lnTo>
                      <a:pt x="400050" y="552450"/>
                    </a:lnTo>
                    <a:lnTo>
                      <a:pt x="400050" y="457200"/>
                    </a:lnTo>
                    <a:cubicBezTo>
                      <a:pt x="400050" y="436126"/>
                      <a:pt x="383024" y="419100"/>
                      <a:pt x="361950" y="419100"/>
                    </a:cubicBezTo>
                    <a:lnTo>
                      <a:pt x="323850" y="419100"/>
                    </a:lnTo>
                    <a:close/>
                    <a:moveTo>
                      <a:pt x="152400" y="438150"/>
                    </a:moveTo>
                    <a:lnTo>
                      <a:pt x="152400" y="400050"/>
                    </a:lnTo>
                    <a:cubicBezTo>
                      <a:pt x="152400" y="389573"/>
                      <a:pt x="143828" y="381000"/>
                      <a:pt x="133350" y="381000"/>
                    </a:cubicBezTo>
                    <a:lnTo>
                      <a:pt x="95250" y="381000"/>
                    </a:lnTo>
                    <a:cubicBezTo>
                      <a:pt x="84773" y="381000"/>
                      <a:pt x="76200" y="389573"/>
                      <a:pt x="76200" y="400050"/>
                    </a:cubicBezTo>
                    <a:lnTo>
                      <a:pt x="76200" y="438150"/>
                    </a:lnTo>
                    <a:cubicBezTo>
                      <a:pt x="76200" y="448628"/>
                      <a:pt x="84773" y="457200"/>
                      <a:pt x="95250" y="457200"/>
                    </a:cubicBezTo>
                    <a:lnTo>
                      <a:pt x="133350" y="457200"/>
                    </a:lnTo>
                    <a:cubicBezTo>
                      <a:pt x="143828" y="457200"/>
                      <a:pt x="152400" y="448628"/>
                      <a:pt x="152400" y="438150"/>
                    </a:cubicBezTo>
                    <a:close/>
                    <a:moveTo>
                      <a:pt x="133350" y="304800"/>
                    </a:moveTo>
                    <a:cubicBezTo>
                      <a:pt x="143828" y="304800"/>
                      <a:pt x="152400" y="296228"/>
                      <a:pt x="152400" y="285750"/>
                    </a:cubicBezTo>
                    <a:lnTo>
                      <a:pt x="152400" y="247650"/>
                    </a:lnTo>
                    <a:cubicBezTo>
                      <a:pt x="152400" y="237173"/>
                      <a:pt x="143828" y="228600"/>
                      <a:pt x="133350" y="228600"/>
                    </a:cubicBezTo>
                    <a:lnTo>
                      <a:pt x="95250" y="228600"/>
                    </a:lnTo>
                    <a:cubicBezTo>
                      <a:pt x="84773" y="228600"/>
                      <a:pt x="76200" y="237173"/>
                      <a:pt x="76200" y="247650"/>
                    </a:cubicBezTo>
                    <a:lnTo>
                      <a:pt x="76200" y="285750"/>
                    </a:lnTo>
                    <a:cubicBezTo>
                      <a:pt x="76200" y="296228"/>
                      <a:pt x="84773" y="304800"/>
                      <a:pt x="95250" y="304800"/>
                    </a:cubicBezTo>
                    <a:lnTo>
                      <a:pt x="133350" y="304800"/>
                    </a:lnTo>
                    <a:close/>
                    <a:moveTo>
                      <a:pt x="609600" y="438150"/>
                    </a:moveTo>
                    <a:lnTo>
                      <a:pt x="609600" y="400050"/>
                    </a:lnTo>
                    <a:cubicBezTo>
                      <a:pt x="609600" y="389573"/>
                      <a:pt x="601028" y="381000"/>
                      <a:pt x="590550" y="381000"/>
                    </a:cubicBezTo>
                    <a:lnTo>
                      <a:pt x="552450" y="381000"/>
                    </a:lnTo>
                    <a:cubicBezTo>
                      <a:pt x="541973" y="381000"/>
                      <a:pt x="533400" y="389573"/>
                      <a:pt x="533400" y="400050"/>
                    </a:cubicBezTo>
                    <a:lnTo>
                      <a:pt x="533400" y="438150"/>
                    </a:lnTo>
                    <a:cubicBezTo>
                      <a:pt x="533400" y="448628"/>
                      <a:pt x="541973" y="457200"/>
                      <a:pt x="552450" y="457200"/>
                    </a:cubicBezTo>
                    <a:lnTo>
                      <a:pt x="590550" y="457200"/>
                    </a:lnTo>
                    <a:cubicBezTo>
                      <a:pt x="601028" y="457200"/>
                      <a:pt x="609600" y="448628"/>
                      <a:pt x="609600" y="438150"/>
                    </a:cubicBezTo>
                    <a:close/>
                    <a:moveTo>
                      <a:pt x="590550" y="304800"/>
                    </a:moveTo>
                    <a:cubicBezTo>
                      <a:pt x="601028" y="304800"/>
                      <a:pt x="609600" y="296228"/>
                      <a:pt x="609600" y="285750"/>
                    </a:cubicBezTo>
                    <a:lnTo>
                      <a:pt x="609600" y="247650"/>
                    </a:lnTo>
                    <a:cubicBezTo>
                      <a:pt x="609600" y="237173"/>
                      <a:pt x="601028" y="228600"/>
                      <a:pt x="590550" y="228600"/>
                    </a:cubicBezTo>
                    <a:lnTo>
                      <a:pt x="552450" y="228600"/>
                    </a:lnTo>
                    <a:cubicBezTo>
                      <a:pt x="541973" y="228600"/>
                      <a:pt x="533400" y="237173"/>
                      <a:pt x="533400" y="247650"/>
                    </a:cubicBezTo>
                    <a:lnTo>
                      <a:pt x="533400" y="285750"/>
                    </a:lnTo>
                    <a:cubicBezTo>
                      <a:pt x="533400" y="296228"/>
                      <a:pt x="541973" y="304800"/>
                      <a:pt x="552450" y="304800"/>
                    </a:cubicBezTo>
                    <a:lnTo>
                      <a:pt x="590550" y="304800"/>
                    </a:lnTo>
                    <a:close/>
                    <a:moveTo>
                      <a:pt x="314325" y="123825"/>
                    </a:moveTo>
                    <a:lnTo>
                      <a:pt x="314325" y="161925"/>
                    </a:lnTo>
                    <a:lnTo>
                      <a:pt x="276225" y="161925"/>
                    </a:lnTo>
                    <a:cubicBezTo>
                      <a:pt x="265747" y="161925"/>
                      <a:pt x="257175" y="170497"/>
                      <a:pt x="257175" y="180975"/>
                    </a:cubicBezTo>
                    <a:lnTo>
                      <a:pt x="257175" y="200025"/>
                    </a:lnTo>
                    <a:cubicBezTo>
                      <a:pt x="257175" y="210503"/>
                      <a:pt x="265747" y="219075"/>
                      <a:pt x="276225" y="219075"/>
                    </a:cubicBezTo>
                    <a:lnTo>
                      <a:pt x="314325" y="219075"/>
                    </a:lnTo>
                    <a:lnTo>
                      <a:pt x="314325" y="257175"/>
                    </a:lnTo>
                    <a:cubicBezTo>
                      <a:pt x="314325" y="267653"/>
                      <a:pt x="322898" y="276225"/>
                      <a:pt x="333375" y="276225"/>
                    </a:cubicBezTo>
                    <a:lnTo>
                      <a:pt x="352425" y="276225"/>
                    </a:lnTo>
                    <a:cubicBezTo>
                      <a:pt x="362903" y="276225"/>
                      <a:pt x="371475" y="267653"/>
                      <a:pt x="371475" y="257175"/>
                    </a:cubicBezTo>
                    <a:lnTo>
                      <a:pt x="371475" y="219075"/>
                    </a:lnTo>
                    <a:lnTo>
                      <a:pt x="409575" y="219075"/>
                    </a:lnTo>
                    <a:cubicBezTo>
                      <a:pt x="420053" y="219075"/>
                      <a:pt x="428625" y="210503"/>
                      <a:pt x="428625" y="200025"/>
                    </a:cubicBezTo>
                    <a:lnTo>
                      <a:pt x="428625" y="180975"/>
                    </a:lnTo>
                    <a:cubicBezTo>
                      <a:pt x="428625" y="170497"/>
                      <a:pt x="420053" y="161925"/>
                      <a:pt x="409575" y="161925"/>
                    </a:cubicBezTo>
                    <a:lnTo>
                      <a:pt x="371475" y="161925"/>
                    </a:lnTo>
                    <a:lnTo>
                      <a:pt x="371475" y="123825"/>
                    </a:lnTo>
                    <a:cubicBezTo>
                      <a:pt x="371475" y="113348"/>
                      <a:pt x="362903" y="104775"/>
                      <a:pt x="352425" y="104775"/>
                    </a:cubicBezTo>
                    <a:lnTo>
                      <a:pt x="333375" y="104775"/>
                    </a:lnTo>
                    <a:cubicBezTo>
                      <a:pt x="322898" y="104775"/>
                      <a:pt x="314325" y="113348"/>
                      <a:pt x="314325" y="123825"/>
                    </a:cubicBezTo>
                    <a:close/>
                  </a:path>
                </a:pathLst>
              </a:custGeom>
              <a:solidFill>
                <a:srgbClr val="A0453A"/>
              </a:solidFill>
              <a:ln/>
            </p:spPr>
            <p:txBody>
              <a:bodyPr/>
              <a:lstStyle/>
              <a:p>
                <a:endParaRPr lang="en-US" sz="1013"/>
              </a:p>
            </p:txBody>
          </p:sp>
          <p:sp>
            <p:nvSpPr>
              <p:cNvPr id="83" name="Text 25">
                <a:extLst>
                  <a:ext uri="{FF2B5EF4-FFF2-40B4-BE49-F238E27FC236}">
                    <a16:creationId xmlns:a16="http://schemas.microsoft.com/office/drawing/2014/main" id="{EF3B0CE8-F105-A1F1-DD38-EFA4A4F68B00}"/>
                  </a:ext>
                </a:extLst>
              </p:cNvPr>
              <p:cNvSpPr/>
              <p:nvPr/>
            </p:nvSpPr>
            <p:spPr>
              <a:xfrm>
                <a:off x="4913313" y="3371850"/>
                <a:ext cx="2143125" cy="228600"/>
              </a:xfrm>
              <a:prstGeom prst="rect">
                <a:avLst/>
              </a:prstGeom>
              <a:noFill/>
              <a:ln/>
            </p:spPr>
            <p:txBody>
              <a:bodyPr wrap="none" lIns="0" tIns="0" rIns="0" bIns="0" rtlCol="0" anchor="ctr"/>
              <a:lstStyle/>
              <a:p>
                <a:pPr algn="ctr">
                  <a:lnSpc>
                    <a:spcPct val="100000"/>
                  </a:lnSpc>
                </a:pPr>
                <a:r>
                  <a:rPr lang="en-US" sz="1200" b="1" dirty="0">
                    <a:solidFill>
                      <a:srgbClr val="A0453A"/>
                    </a:solidFill>
                    <a:latin typeface="MiSans" pitchFamily="34" charset="0"/>
                    <a:ea typeface="MiSans" pitchFamily="34" charset="-122"/>
                    <a:cs typeface="MiSans" pitchFamily="34" charset="-120"/>
                  </a:rPr>
                  <a:t>地区或中心</a:t>
                </a:r>
                <a:endParaRPr lang="en-US" sz="1200" dirty="0"/>
              </a:p>
            </p:txBody>
          </p:sp>
        </p:grpSp>
        <p:sp>
          <p:nvSpPr>
            <p:cNvPr id="79" name="Text 26">
              <a:extLst>
                <a:ext uri="{FF2B5EF4-FFF2-40B4-BE49-F238E27FC236}">
                  <a16:creationId xmlns:a16="http://schemas.microsoft.com/office/drawing/2014/main" id="{55EF4E80-9DF2-3926-E3FC-089BDD400188}"/>
                </a:ext>
              </a:extLst>
            </p:cNvPr>
            <p:cNvSpPr/>
            <p:nvPr/>
          </p:nvSpPr>
          <p:spPr>
            <a:xfrm>
              <a:off x="4913313" y="3683122"/>
              <a:ext cx="2143125" cy="600075"/>
            </a:xfrm>
            <a:prstGeom prst="rect">
              <a:avLst/>
            </a:prstGeom>
            <a:noFill/>
            <a:ln/>
          </p:spPr>
          <p:txBody>
            <a:bodyPr wrap="square" lIns="0" tIns="0" rIns="0" bIns="0" rtlCol="0" anchor="t"/>
            <a:lstStyle/>
            <a:p>
              <a:pPr algn="ctr">
                <a:lnSpc>
                  <a:spcPct val="150000"/>
                </a:lnSpc>
              </a:pPr>
              <a:r>
                <a:rPr lang="en-US" sz="900" b="1" dirty="0">
                  <a:solidFill>
                    <a:srgbClr val="2D2926"/>
                  </a:solidFill>
                  <a:latin typeface="微软雅黑" panose="020B0503020204020204" pitchFamily="34" charset="-122"/>
                  <a:ea typeface="微软雅黑" panose="020B0503020204020204" pitchFamily="34" charset="-122"/>
                  <a:cs typeface="MiSans" pitchFamily="34" charset="-120"/>
                </a:rPr>
                <a:t>不同研究机构、地区医疗水平差异的系统性影响</a:t>
              </a:r>
              <a:endParaRPr lang="en-US" sz="900" b="1" dirty="0">
                <a:latin typeface="微软雅黑" panose="020B0503020204020204" pitchFamily="34" charset="-122"/>
                <a:ea typeface="微软雅黑" panose="020B0503020204020204" pitchFamily="34" charset="-122"/>
              </a:endParaRPr>
            </a:p>
          </p:txBody>
        </p:sp>
      </p:grpSp>
      <p:grpSp>
        <p:nvGrpSpPr>
          <p:cNvPr id="70" name="Group 69">
            <a:extLst>
              <a:ext uri="{FF2B5EF4-FFF2-40B4-BE49-F238E27FC236}">
                <a16:creationId xmlns:a16="http://schemas.microsoft.com/office/drawing/2014/main" id="{D09390B4-A568-B736-8C79-5CC7247C4978}"/>
              </a:ext>
            </a:extLst>
          </p:cNvPr>
          <p:cNvGrpSpPr/>
          <p:nvPr/>
        </p:nvGrpSpPr>
        <p:grpSpPr>
          <a:xfrm>
            <a:off x="4918869" y="3261110"/>
            <a:ext cx="1831975" cy="1220485"/>
            <a:chOff x="1964531" y="2786062"/>
            <a:chExt cx="2428875" cy="1571626"/>
          </a:xfrm>
        </p:grpSpPr>
        <p:sp>
          <p:nvSpPr>
            <p:cNvPr id="71" name="Shape 17"/>
            <p:cNvSpPr/>
            <p:nvPr/>
          </p:nvSpPr>
          <p:spPr>
            <a:xfrm>
              <a:off x="1964531" y="2786063"/>
              <a:ext cx="2428875" cy="1571625"/>
            </a:xfrm>
            <a:prstGeom prst="roundRect">
              <a:avLst>
                <a:gd name="adj" fmla="val 5000"/>
              </a:avLst>
            </a:prstGeom>
            <a:solidFill>
              <a:srgbClr val="FFFFFF"/>
            </a:solidFill>
            <a:ln w="12700">
              <a:solidFill>
                <a:srgbClr val="E8DDD8"/>
              </a:solidFill>
              <a:prstDash val="solid"/>
            </a:ln>
          </p:spPr>
          <p:txBody>
            <a:bodyPr/>
            <a:lstStyle/>
            <a:p>
              <a:endParaRPr lang="en-US" sz="1013"/>
            </a:p>
          </p:txBody>
        </p:sp>
        <p:grpSp>
          <p:nvGrpSpPr>
            <p:cNvPr id="72" name="Group 71">
              <a:extLst>
                <a:ext uri="{FF2B5EF4-FFF2-40B4-BE49-F238E27FC236}">
                  <a16:creationId xmlns:a16="http://schemas.microsoft.com/office/drawing/2014/main" id="{1598E203-10C8-294C-6846-5A57748B30D5}"/>
                </a:ext>
              </a:extLst>
            </p:cNvPr>
            <p:cNvGrpSpPr/>
            <p:nvPr/>
          </p:nvGrpSpPr>
          <p:grpSpPr>
            <a:xfrm>
              <a:off x="1964532" y="2786062"/>
              <a:ext cx="2428874" cy="1457326"/>
              <a:chOff x="1964531" y="2786062"/>
              <a:chExt cx="2428875" cy="1457326"/>
            </a:xfrm>
          </p:grpSpPr>
          <p:sp>
            <p:nvSpPr>
              <p:cNvPr id="73" name="Shape 18"/>
              <p:cNvSpPr/>
              <p:nvPr/>
            </p:nvSpPr>
            <p:spPr>
              <a:xfrm>
                <a:off x="1964531" y="2786062"/>
                <a:ext cx="2428875" cy="35719"/>
              </a:xfrm>
              <a:prstGeom prst="rect">
                <a:avLst/>
              </a:prstGeom>
              <a:solidFill>
                <a:srgbClr val="A0453A"/>
              </a:solidFill>
              <a:ln/>
            </p:spPr>
            <p:txBody>
              <a:bodyPr/>
              <a:lstStyle/>
              <a:p>
                <a:endParaRPr lang="en-US" sz="1013"/>
              </a:p>
            </p:txBody>
          </p:sp>
          <p:sp>
            <p:nvSpPr>
              <p:cNvPr id="74" name="Shape 19"/>
              <p:cNvSpPr/>
              <p:nvPr/>
            </p:nvSpPr>
            <p:spPr>
              <a:xfrm>
                <a:off x="3007519" y="2943225"/>
                <a:ext cx="342900" cy="342900"/>
              </a:xfrm>
              <a:custGeom>
                <a:avLst/>
                <a:gdLst/>
                <a:ahLst/>
                <a:cxnLst/>
                <a:rect l="l" t="t" r="r" b="b"/>
                <a:pathLst>
                  <a:path w="609600" h="609600">
                    <a:moveTo>
                      <a:pt x="76200" y="133350"/>
                    </a:moveTo>
                    <a:cubicBezTo>
                      <a:pt x="76200" y="101798"/>
                      <a:pt x="101798" y="76200"/>
                      <a:pt x="133350" y="76200"/>
                    </a:cubicBezTo>
                    <a:cubicBezTo>
                      <a:pt x="164902" y="76200"/>
                      <a:pt x="190500" y="101798"/>
                      <a:pt x="190500" y="133350"/>
                    </a:cubicBezTo>
                    <a:lnTo>
                      <a:pt x="190500" y="266700"/>
                    </a:lnTo>
                    <a:lnTo>
                      <a:pt x="76200" y="266700"/>
                    </a:lnTo>
                    <a:lnTo>
                      <a:pt x="76200" y="133350"/>
                    </a:lnTo>
                    <a:close/>
                    <a:moveTo>
                      <a:pt x="209550" y="438150"/>
                    </a:moveTo>
                    <a:cubicBezTo>
                      <a:pt x="209550" y="380167"/>
                      <a:pt x="231100" y="327184"/>
                      <a:pt x="266700" y="286941"/>
                    </a:cubicBezTo>
                    <a:lnTo>
                      <a:pt x="266700" y="133350"/>
                    </a:lnTo>
                    <a:cubicBezTo>
                      <a:pt x="266700" y="59650"/>
                      <a:pt x="207050" y="0"/>
                      <a:pt x="133350" y="0"/>
                    </a:cubicBezTo>
                    <a:cubicBezTo>
                      <a:pt x="59650" y="0"/>
                      <a:pt x="0" y="59650"/>
                      <a:pt x="0" y="133350"/>
                    </a:cubicBezTo>
                    <a:lnTo>
                      <a:pt x="0" y="476250"/>
                    </a:lnTo>
                    <a:cubicBezTo>
                      <a:pt x="0" y="549950"/>
                      <a:pt x="59650" y="609600"/>
                      <a:pt x="133350" y="609600"/>
                    </a:cubicBezTo>
                    <a:cubicBezTo>
                      <a:pt x="177760" y="609600"/>
                      <a:pt x="217051" y="587931"/>
                      <a:pt x="241340" y="554474"/>
                    </a:cubicBezTo>
                    <a:cubicBezTo>
                      <a:pt x="221099" y="520422"/>
                      <a:pt x="209550" y="480655"/>
                      <a:pt x="209550" y="438150"/>
                    </a:cubicBezTo>
                    <a:close/>
                    <a:moveTo>
                      <a:pt x="286583" y="518398"/>
                    </a:moveTo>
                    <a:cubicBezTo>
                      <a:pt x="292060" y="528757"/>
                      <a:pt x="305991" y="529947"/>
                      <a:pt x="314325" y="521613"/>
                    </a:cubicBezTo>
                    <a:lnTo>
                      <a:pt x="521613" y="314325"/>
                    </a:lnTo>
                    <a:cubicBezTo>
                      <a:pt x="529947" y="305991"/>
                      <a:pt x="528757" y="292060"/>
                      <a:pt x="518398" y="286583"/>
                    </a:cubicBezTo>
                    <a:cubicBezTo>
                      <a:pt x="494467" y="273844"/>
                      <a:pt x="467201" y="266700"/>
                      <a:pt x="438150" y="266700"/>
                    </a:cubicBezTo>
                    <a:cubicBezTo>
                      <a:pt x="343495" y="266700"/>
                      <a:pt x="266700" y="343495"/>
                      <a:pt x="266700" y="438150"/>
                    </a:cubicBezTo>
                    <a:cubicBezTo>
                      <a:pt x="266700" y="467082"/>
                      <a:pt x="273844" y="494467"/>
                      <a:pt x="286583" y="518398"/>
                    </a:cubicBezTo>
                    <a:close/>
                    <a:moveTo>
                      <a:pt x="354687" y="561975"/>
                    </a:moveTo>
                    <a:cubicBezTo>
                      <a:pt x="346353" y="570309"/>
                      <a:pt x="347543" y="584240"/>
                      <a:pt x="357902" y="589717"/>
                    </a:cubicBezTo>
                    <a:cubicBezTo>
                      <a:pt x="381833" y="602456"/>
                      <a:pt x="409099" y="609600"/>
                      <a:pt x="438150" y="609600"/>
                    </a:cubicBezTo>
                    <a:cubicBezTo>
                      <a:pt x="532805" y="609600"/>
                      <a:pt x="609600" y="532805"/>
                      <a:pt x="609600" y="438150"/>
                    </a:cubicBezTo>
                    <a:cubicBezTo>
                      <a:pt x="609600" y="409218"/>
                      <a:pt x="602456" y="381833"/>
                      <a:pt x="589717" y="357902"/>
                    </a:cubicBezTo>
                    <a:cubicBezTo>
                      <a:pt x="584240" y="347543"/>
                      <a:pt x="570309" y="346353"/>
                      <a:pt x="561975" y="354687"/>
                    </a:cubicBezTo>
                    <a:lnTo>
                      <a:pt x="354687" y="561975"/>
                    </a:lnTo>
                    <a:close/>
                  </a:path>
                </a:pathLst>
              </a:custGeom>
              <a:solidFill>
                <a:srgbClr val="A0453A"/>
              </a:solidFill>
              <a:ln/>
            </p:spPr>
            <p:txBody>
              <a:bodyPr/>
              <a:lstStyle/>
              <a:p>
                <a:endParaRPr lang="en-US" sz="1013"/>
              </a:p>
            </p:txBody>
          </p:sp>
          <p:sp>
            <p:nvSpPr>
              <p:cNvPr id="75" name="Text 20"/>
              <p:cNvSpPr/>
              <p:nvPr/>
            </p:nvSpPr>
            <p:spPr>
              <a:xfrm>
                <a:off x="2107406" y="3357563"/>
                <a:ext cx="2143125" cy="228600"/>
              </a:xfrm>
              <a:prstGeom prst="rect">
                <a:avLst/>
              </a:prstGeom>
              <a:noFill/>
              <a:ln/>
            </p:spPr>
            <p:txBody>
              <a:bodyPr wrap="none" lIns="0" tIns="0" rIns="0" bIns="0" rtlCol="0" anchor="ctr"/>
              <a:lstStyle/>
              <a:p>
                <a:pPr algn="ctr">
                  <a:lnSpc>
                    <a:spcPct val="100000"/>
                  </a:lnSpc>
                </a:pPr>
                <a:r>
                  <a:rPr lang="en-US" sz="1200" b="1" dirty="0">
                    <a:solidFill>
                      <a:srgbClr val="A0453A"/>
                    </a:solidFill>
                    <a:latin typeface="MiSans" pitchFamily="34" charset="0"/>
                    <a:ea typeface="MiSans" pitchFamily="34" charset="-122"/>
                    <a:cs typeface="MiSans" pitchFamily="34" charset="-120"/>
                  </a:rPr>
                  <a:t>临床考虑因素</a:t>
                </a:r>
                <a:endParaRPr lang="en-US" sz="1200" dirty="0"/>
              </a:p>
            </p:txBody>
          </p:sp>
          <p:sp>
            <p:nvSpPr>
              <p:cNvPr id="76" name="Text 21"/>
              <p:cNvSpPr/>
              <p:nvPr/>
            </p:nvSpPr>
            <p:spPr>
              <a:xfrm>
                <a:off x="2107406" y="3643313"/>
                <a:ext cx="2143125" cy="600075"/>
              </a:xfrm>
              <a:prstGeom prst="rect">
                <a:avLst/>
              </a:prstGeom>
              <a:noFill/>
              <a:ln/>
            </p:spPr>
            <p:txBody>
              <a:bodyPr wrap="square" lIns="0" tIns="0" rIns="0" bIns="0" rtlCol="0" anchor="t"/>
              <a:lstStyle/>
              <a:p>
                <a:pPr algn="ctr">
                  <a:lnSpc>
                    <a:spcPct val="150000"/>
                  </a:lnSpc>
                </a:pPr>
                <a:r>
                  <a:rPr lang="en-US" sz="900" b="1" dirty="0">
                    <a:solidFill>
                      <a:srgbClr val="2D2926"/>
                    </a:solidFill>
                    <a:latin typeface="微软雅黑" panose="020B0503020204020204" pitchFamily="34" charset="-122"/>
                    <a:ea typeface="微软雅黑" panose="020B0503020204020204" pitchFamily="34" charset="-122"/>
                    <a:cs typeface="MiSans" pitchFamily="34" charset="-120"/>
                  </a:rPr>
                  <a:t>合并用药、既往治疗史、合并症等治疗背景</a:t>
                </a:r>
                <a:endParaRPr lang="en-US" sz="900" b="1" dirty="0">
                  <a:latin typeface="微软雅黑" panose="020B0503020204020204" pitchFamily="34" charset="-122"/>
                  <a:ea typeface="微软雅黑" panose="020B0503020204020204" pitchFamily="34" charset="-122"/>
                </a:endParaRPr>
              </a:p>
            </p:txBody>
          </p:sp>
        </p:grpSp>
      </p:grpSp>
      <p:sp>
        <p:nvSpPr>
          <p:cNvPr id="3" name="Text 1"/>
          <p:cNvSpPr/>
          <p:nvPr/>
        </p:nvSpPr>
        <p:spPr>
          <a:xfrm>
            <a:off x="428625" y="0"/>
            <a:ext cx="8286750" cy="642938"/>
          </a:xfrm>
          <a:prstGeom prst="rect">
            <a:avLst/>
          </a:prstGeom>
          <a:noFill/>
          <a:ln/>
        </p:spPr>
        <p:txBody>
          <a:bodyPr wrap="none" lIns="0" tIns="0" rIns="0" bIns="0" rtlCol="0" anchor="ctr"/>
          <a:lstStyle/>
          <a:p>
            <a:pPr>
              <a:lnSpc>
                <a:spcPct val="100000"/>
              </a:lnSpc>
            </a:pPr>
            <a:r>
              <a:rPr lang="en-US" b="1" dirty="0" err="1">
                <a:solidFill>
                  <a:srgbClr val="FFFFFF"/>
                </a:solidFill>
                <a:latin typeface="MiSans" pitchFamily="34" charset="0"/>
                <a:ea typeface="MiSans" pitchFamily="34" charset="-122"/>
                <a:cs typeface="MiSans" pitchFamily="34" charset="-120"/>
              </a:rPr>
              <a:t>临床研究中亚</a:t>
            </a:r>
            <a:r>
              <a:rPr lang="en-US" b="1" dirty="0">
                <a:solidFill>
                  <a:srgbClr val="FFFFFF"/>
                </a:solidFill>
                <a:latin typeface="MiSans" pitchFamily="34" charset="0"/>
                <a:ea typeface="MiSans" pitchFamily="34" charset="-122"/>
                <a:cs typeface="MiSans" pitchFamily="34" charset="-120"/>
              </a:rPr>
              <a:t> </a:t>
            </a:r>
            <a:r>
              <a:rPr lang="en-US" altLang="zh-CN" b="1" dirty="0" err="1">
                <a:solidFill>
                  <a:srgbClr val="FFFFFF"/>
                </a:solidFill>
                <a:latin typeface="MiSans" pitchFamily="34" charset="0"/>
                <a:ea typeface="MiSans" pitchFamily="34" charset="-122"/>
                <a:cs typeface="MiSans" pitchFamily="34" charset="-120"/>
              </a:rPr>
              <a:t>ge</a:t>
            </a:r>
            <a:r>
              <a:rPr lang="en-US" b="1" dirty="0" err="1">
                <a:solidFill>
                  <a:srgbClr val="FFFFFF"/>
                </a:solidFill>
                <a:latin typeface="MiSans" pitchFamily="34" charset="0"/>
                <a:ea typeface="MiSans" pitchFamily="34" charset="-122"/>
                <a:cs typeface="MiSans" pitchFamily="34" charset="-120"/>
              </a:rPr>
              <a:t>组分析的</a:t>
            </a:r>
            <a:r>
              <a:rPr lang="en-US" b="1" dirty="0">
                <a:solidFill>
                  <a:srgbClr val="FFFFFF"/>
                </a:solidFill>
                <a:latin typeface="MiSans" pitchFamily="34" charset="0"/>
                <a:ea typeface="MiSans" pitchFamily="34" charset="-122"/>
                <a:cs typeface="MiSans" pitchFamily="34" charset="-120"/>
              </a:rPr>
              <a:t> General Good Practice</a:t>
            </a:r>
            <a:endParaRPr lang="en-US" dirty="0"/>
          </a:p>
        </p:txBody>
      </p:sp>
      <p:sp>
        <p:nvSpPr>
          <p:cNvPr id="5" name="Shape 3"/>
          <p:cNvSpPr/>
          <p:nvPr/>
        </p:nvSpPr>
        <p:spPr>
          <a:xfrm>
            <a:off x="428625" y="942975"/>
            <a:ext cx="3929063" cy="842963"/>
          </a:xfrm>
          <a:prstGeom prst="roundRect">
            <a:avLst>
              <a:gd name="adj" fmla="val 8000"/>
            </a:avLst>
          </a:prstGeom>
          <a:solidFill>
            <a:srgbClr val="F5EBE7"/>
          </a:solidFill>
          <a:ln/>
        </p:spPr>
        <p:txBody>
          <a:bodyPr/>
          <a:lstStyle/>
          <a:p>
            <a:endParaRPr lang="en-US" sz="1013"/>
          </a:p>
        </p:txBody>
      </p:sp>
      <p:sp>
        <p:nvSpPr>
          <p:cNvPr id="6" name="Shape 4"/>
          <p:cNvSpPr/>
          <p:nvPr/>
        </p:nvSpPr>
        <p:spPr>
          <a:xfrm>
            <a:off x="428625" y="942975"/>
            <a:ext cx="42863" cy="842963"/>
          </a:xfrm>
          <a:prstGeom prst="rect">
            <a:avLst/>
          </a:prstGeom>
          <a:solidFill>
            <a:srgbClr val="A0454F"/>
          </a:solidFill>
          <a:ln/>
        </p:spPr>
        <p:txBody>
          <a:bodyPr/>
          <a:lstStyle/>
          <a:p>
            <a:endParaRPr lang="en-US" sz="1013"/>
          </a:p>
        </p:txBody>
      </p:sp>
      <p:sp>
        <p:nvSpPr>
          <p:cNvPr id="7" name="Shape 5"/>
          <p:cNvSpPr/>
          <p:nvPr/>
        </p:nvSpPr>
        <p:spPr>
          <a:xfrm>
            <a:off x="600075" y="1057275"/>
            <a:ext cx="171450" cy="228600"/>
          </a:xfrm>
          <a:custGeom>
            <a:avLst/>
            <a:gdLst/>
            <a:ahLst/>
            <a:cxnLst/>
            <a:rect l="l" t="t" r="r" b="b"/>
            <a:pathLst>
              <a:path w="304800" h="406400">
                <a:moveTo>
                  <a:pt x="247174" y="25400"/>
                </a:moveTo>
                <a:lnTo>
                  <a:pt x="254000" y="25400"/>
                </a:lnTo>
                <a:cubicBezTo>
                  <a:pt x="282019" y="25400"/>
                  <a:pt x="304800" y="48181"/>
                  <a:pt x="304800" y="76200"/>
                </a:cubicBezTo>
                <a:lnTo>
                  <a:pt x="304800" y="355600"/>
                </a:lnTo>
                <a:cubicBezTo>
                  <a:pt x="304800" y="383619"/>
                  <a:pt x="282019" y="406400"/>
                  <a:pt x="254000" y="406400"/>
                </a:cubicBezTo>
                <a:lnTo>
                  <a:pt x="50800" y="406400"/>
                </a:lnTo>
                <a:cubicBezTo>
                  <a:pt x="22781" y="406400"/>
                  <a:pt x="0" y="383619"/>
                  <a:pt x="0" y="355600"/>
                </a:cubicBezTo>
                <a:lnTo>
                  <a:pt x="0" y="76200"/>
                </a:lnTo>
                <a:cubicBezTo>
                  <a:pt x="0" y="48181"/>
                  <a:pt x="22781" y="25400"/>
                  <a:pt x="50800" y="25400"/>
                </a:cubicBezTo>
                <a:lnTo>
                  <a:pt x="57626" y="25400"/>
                </a:lnTo>
                <a:cubicBezTo>
                  <a:pt x="66357" y="10239"/>
                  <a:pt x="82788" y="0"/>
                  <a:pt x="101600" y="0"/>
                </a:cubicBezTo>
                <a:lnTo>
                  <a:pt x="203200" y="0"/>
                </a:lnTo>
                <a:cubicBezTo>
                  <a:pt x="222012" y="0"/>
                  <a:pt x="238442" y="10239"/>
                  <a:pt x="247174" y="25400"/>
                </a:cubicBezTo>
                <a:close/>
                <a:moveTo>
                  <a:pt x="196850" y="88900"/>
                </a:moveTo>
                <a:cubicBezTo>
                  <a:pt x="207407" y="88900"/>
                  <a:pt x="215900" y="80407"/>
                  <a:pt x="215900" y="69850"/>
                </a:cubicBezTo>
                <a:cubicBezTo>
                  <a:pt x="215900" y="59293"/>
                  <a:pt x="207407" y="50800"/>
                  <a:pt x="196850" y="50800"/>
                </a:cubicBezTo>
                <a:lnTo>
                  <a:pt x="107950" y="50800"/>
                </a:lnTo>
                <a:cubicBezTo>
                  <a:pt x="97393" y="50800"/>
                  <a:pt x="88900" y="59293"/>
                  <a:pt x="88900" y="69850"/>
                </a:cubicBezTo>
                <a:cubicBezTo>
                  <a:pt x="88900" y="80407"/>
                  <a:pt x="97393" y="88900"/>
                  <a:pt x="107950" y="88900"/>
                </a:cubicBezTo>
                <a:lnTo>
                  <a:pt x="196850" y="88900"/>
                </a:lnTo>
                <a:close/>
                <a:moveTo>
                  <a:pt x="101600" y="203200"/>
                </a:moveTo>
                <a:cubicBezTo>
                  <a:pt x="101600" y="189181"/>
                  <a:pt x="90219" y="177800"/>
                  <a:pt x="76200" y="177800"/>
                </a:cubicBezTo>
                <a:cubicBezTo>
                  <a:pt x="62181" y="177800"/>
                  <a:pt x="50800" y="189181"/>
                  <a:pt x="50800" y="203200"/>
                </a:cubicBezTo>
                <a:cubicBezTo>
                  <a:pt x="50800" y="217219"/>
                  <a:pt x="62181" y="228600"/>
                  <a:pt x="76200" y="228600"/>
                </a:cubicBezTo>
                <a:cubicBezTo>
                  <a:pt x="90219" y="228600"/>
                  <a:pt x="101600" y="217219"/>
                  <a:pt x="101600" y="203200"/>
                </a:cubicBezTo>
                <a:close/>
                <a:moveTo>
                  <a:pt x="127000" y="203200"/>
                </a:moveTo>
                <a:cubicBezTo>
                  <a:pt x="127000" y="213757"/>
                  <a:pt x="135493" y="222250"/>
                  <a:pt x="146050" y="222250"/>
                </a:cubicBezTo>
                <a:lnTo>
                  <a:pt x="234950" y="222250"/>
                </a:lnTo>
                <a:cubicBezTo>
                  <a:pt x="245507" y="222250"/>
                  <a:pt x="254000" y="213757"/>
                  <a:pt x="254000" y="203200"/>
                </a:cubicBezTo>
                <a:cubicBezTo>
                  <a:pt x="254000" y="192643"/>
                  <a:pt x="245507" y="184150"/>
                  <a:pt x="234950" y="184150"/>
                </a:cubicBezTo>
                <a:lnTo>
                  <a:pt x="146050" y="184150"/>
                </a:lnTo>
                <a:cubicBezTo>
                  <a:pt x="135493" y="184150"/>
                  <a:pt x="127000" y="192643"/>
                  <a:pt x="127000" y="203200"/>
                </a:cubicBezTo>
                <a:close/>
                <a:moveTo>
                  <a:pt x="127000" y="304800"/>
                </a:moveTo>
                <a:cubicBezTo>
                  <a:pt x="127000" y="315357"/>
                  <a:pt x="135493" y="323850"/>
                  <a:pt x="146050" y="323850"/>
                </a:cubicBezTo>
                <a:lnTo>
                  <a:pt x="234950" y="323850"/>
                </a:lnTo>
                <a:cubicBezTo>
                  <a:pt x="245507" y="323850"/>
                  <a:pt x="254000" y="315357"/>
                  <a:pt x="254000" y="304800"/>
                </a:cubicBezTo>
                <a:cubicBezTo>
                  <a:pt x="254000" y="294243"/>
                  <a:pt x="245507" y="285750"/>
                  <a:pt x="234950" y="285750"/>
                </a:cubicBezTo>
                <a:lnTo>
                  <a:pt x="146050" y="285750"/>
                </a:lnTo>
                <a:cubicBezTo>
                  <a:pt x="135493" y="285750"/>
                  <a:pt x="127000" y="294243"/>
                  <a:pt x="127000" y="304800"/>
                </a:cubicBezTo>
                <a:close/>
                <a:moveTo>
                  <a:pt x="76200" y="330200"/>
                </a:moveTo>
                <a:cubicBezTo>
                  <a:pt x="90219" y="330200"/>
                  <a:pt x="101600" y="318819"/>
                  <a:pt x="101600" y="304800"/>
                </a:cubicBezTo>
                <a:cubicBezTo>
                  <a:pt x="101600" y="290781"/>
                  <a:pt x="90219" y="279400"/>
                  <a:pt x="76200" y="279400"/>
                </a:cubicBezTo>
                <a:cubicBezTo>
                  <a:pt x="62181" y="279400"/>
                  <a:pt x="50800" y="290781"/>
                  <a:pt x="50800" y="304800"/>
                </a:cubicBezTo>
                <a:cubicBezTo>
                  <a:pt x="50800" y="318819"/>
                  <a:pt x="62181" y="330200"/>
                  <a:pt x="76200" y="330200"/>
                </a:cubicBezTo>
                <a:close/>
              </a:path>
            </a:pathLst>
          </a:custGeom>
          <a:solidFill>
            <a:srgbClr val="A0454F"/>
          </a:solidFill>
          <a:ln/>
        </p:spPr>
        <p:txBody>
          <a:bodyPr/>
          <a:lstStyle/>
          <a:p>
            <a:endParaRPr lang="en-US" sz="1013"/>
          </a:p>
        </p:txBody>
      </p:sp>
      <p:sp>
        <p:nvSpPr>
          <p:cNvPr id="8" name="Text 6"/>
          <p:cNvSpPr/>
          <p:nvPr/>
        </p:nvSpPr>
        <p:spPr>
          <a:xfrm>
            <a:off x="885825" y="1028700"/>
            <a:ext cx="3328988" cy="200025"/>
          </a:xfrm>
          <a:prstGeom prst="rect">
            <a:avLst/>
          </a:prstGeom>
          <a:noFill/>
          <a:ln/>
        </p:spPr>
        <p:txBody>
          <a:bodyPr wrap="none" lIns="0" tIns="0" rIns="0" bIns="0" rtlCol="0" anchor="ctr"/>
          <a:lstStyle/>
          <a:p>
            <a:pPr>
              <a:lnSpc>
                <a:spcPct val="100000"/>
              </a:lnSpc>
            </a:pPr>
            <a:r>
              <a:rPr lang="en-US" sz="1125" b="1" dirty="0">
                <a:solidFill>
                  <a:srgbClr val="A0454F"/>
                </a:solidFill>
                <a:latin typeface="MiSans" pitchFamily="34" charset="0"/>
                <a:ea typeface="MiSans" pitchFamily="34" charset="-122"/>
                <a:cs typeface="MiSans" pitchFamily="34" charset="-120"/>
              </a:rPr>
              <a:t>01 预先规定 Pre-specification</a:t>
            </a:r>
            <a:endParaRPr lang="en-US" sz="1125" dirty="0"/>
          </a:p>
        </p:txBody>
      </p:sp>
      <p:sp>
        <p:nvSpPr>
          <p:cNvPr id="9" name="Text 7"/>
          <p:cNvSpPr/>
          <p:nvPr/>
        </p:nvSpPr>
        <p:spPr>
          <a:xfrm>
            <a:off x="885825" y="1257300"/>
            <a:ext cx="3328988" cy="428625"/>
          </a:xfrm>
          <a:prstGeom prst="rect">
            <a:avLst/>
          </a:prstGeom>
          <a:noFill/>
          <a:ln/>
        </p:spPr>
        <p:txBody>
          <a:bodyPr wrap="square" lIns="0" tIns="0" rIns="0" bIns="0" rtlCol="0" anchor="t"/>
          <a:lstStyle/>
          <a:p>
            <a:pPr>
              <a:lnSpc>
                <a:spcPct val="150000"/>
              </a:lnSpc>
            </a:pPr>
            <a:r>
              <a:rPr lang="en-US" sz="900" dirty="0" err="1">
                <a:solidFill>
                  <a:srgbClr val="2D2A29"/>
                </a:solidFill>
                <a:latin typeface="MiSans" pitchFamily="34" charset="0"/>
                <a:ea typeface="MiSans" pitchFamily="34" charset="-122"/>
                <a:cs typeface="MiSans" pitchFamily="34" charset="-120"/>
              </a:rPr>
              <a:t>在试验方案及SAP中预先设定亚组分析</a:t>
            </a:r>
            <a:r>
              <a:rPr lang="en-US" sz="900" dirty="0">
                <a:solidFill>
                  <a:srgbClr val="2D2A29"/>
                </a:solidFill>
                <a:latin typeface="MiSans" pitchFamily="34" charset="0"/>
                <a:ea typeface="MiSans" pitchFamily="34" charset="-122"/>
                <a:cs typeface="MiSans" pitchFamily="34" charset="-120"/>
              </a:rPr>
              <a:t>，</a:t>
            </a:r>
            <a:r>
              <a:rPr lang="zh-CN" altLang="en-US" sz="900" dirty="0">
                <a:solidFill>
                  <a:srgbClr val="2D2A29"/>
                </a:solidFill>
                <a:latin typeface="MiSans" pitchFamily="34" charset="0"/>
                <a:ea typeface="MiSans" pitchFamily="34" charset="-122"/>
                <a:cs typeface="MiSans" pitchFamily="34" charset="-120"/>
              </a:rPr>
              <a:t>亚组定义应基于疾病机制、已知预后或预测因素，而非纯数据驱动；</a:t>
            </a:r>
          </a:p>
          <a:p>
            <a:pPr>
              <a:lnSpc>
                <a:spcPct val="150000"/>
              </a:lnSpc>
            </a:pPr>
            <a:endParaRPr lang="en-US" sz="900" dirty="0"/>
          </a:p>
        </p:txBody>
      </p:sp>
      <p:grpSp>
        <p:nvGrpSpPr>
          <p:cNvPr id="48" name="Group 47">
            <a:extLst>
              <a:ext uri="{FF2B5EF4-FFF2-40B4-BE49-F238E27FC236}">
                <a16:creationId xmlns:a16="http://schemas.microsoft.com/office/drawing/2014/main" id="{EBFF085E-28E9-1285-5DE0-4A0FB65E1BE9}"/>
              </a:ext>
            </a:extLst>
          </p:cNvPr>
          <p:cNvGrpSpPr/>
          <p:nvPr/>
        </p:nvGrpSpPr>
        <p:grpSpPr>
          <a:xfrm>
            <a:off x="428625" y="2114549"/>
            <a:ext cx="3973514" cy="850107"/>
            <a:chOff x="412749" y="2114549"/>
            <a:chExt cx="3973514" cy="850107"/>
          </a:xfrm>
        </p:grpSpPr>
        <p:sp>
          <p:nvSpPr>
            <p:cNvPr id="26" name="Shape 24"/>
            <p:cNvSpPr/>
            <p:nvPr/>
          </p:nvSpPr>
          <p:spPr>
            <a:xfrm>
              <a:off x="412749" y="2121693"/>
              <a:ext cx="42863" cy="842963"/>
            </a:xfrm>
            <a:prstGeom prst="rect">
              <a:avLst/>
            </a:prstGeom>
            <a:solidFill>
              <a:srgbClr val="A0454F"/>
            </a:solidFill>
            <a:ln/>
          </p:spPr>
          <p:txBody>
            <a:bodyPr/>
            <a:lstStyle/>
            <a:p>
              <a:endParaRPr lang="en-US" sz="1013"/>
            </a:p>
          </p:txBody>
        </p:sp>
        <p:grpSp>
          <p:nvGrpSpPr>
            <p:cNvPr id="47" name="Group 46">
              <a:extLst>
                <a:ext uri="{FF2B5EF4-FFF2-40B4-BE49-F238E27FC236}">
                  <a16:creationId xmlns:a16="http://schemas.microsoft.com/office/drawing/2014/main" id="{92CA86BA-60DB-A207-CA30-2D3BC831AB57}"/>
                </a:ext>
              </a:extLst>
            </p:cNvPr>
            <p:cNvGrpSpPr/>
            <p:nvPr/>
          </p:nvGrpSpPr>
          <p:grpSpPr>
            <a:xfrm>
              <a:off x="457200" y="2114549"/>
              <a:ext cx="3929063" cy="842963"/>
              <a:chOff x="4807743" y="914400"/>
              <a:chExt cx="3929063" cy="842963"/>
            </a:xfrm>
          </p:grpSpPr>
          <p:sp>
            <p:nvSpPr>
              <p:cNvPr id="25" name="Shape 23"/>
              <p:cNvSpPr/>
              <p:nvPr/>
            </p:nvSpPr>
            <p:spPr>
              <a:xfrm>
                <a:off x="4807743" y="914400"/>
                <a:ext cx="3929063" cy="842963"/>
              </a:xfrm>
              <a:prstGeom prst="roundRect">
                <a:avLst>
                  <a:gd name="adj" fmla="val 8000"/>
                </a:avLst>
              </a:prstGeom>
              <a:solidFill>
                <a:srgbClr val="F5EBE7"/>
              </a:solidFill>
              <a:ln/>
            </p:spPr>
            <p:txBody>
              <a:bodyPr/>
              <a:lstStyle/>
              <a:p>
                <a:endParaRPr lang="en-US" sz="1013"/>
              </a:p>
            </p:txBody>
          </p:sp>
          <p:sp>
            <p:nvSpPr>
              <p:cNvPr id="27" name="Shape 25"/>
              <p:cNvSpPr/>
              <p:nvPr/>
            </p:nvSpPr>
            <p:spPr>
              <a:xfrm>
                <a:off x="4900613" y="1057275"/>
                <a:ext cx="285750" cy="228600"/>
              </a:xfrm>
              <a:custGeom>
                <a:avLst/>
                <a:gdLst/>
                <a:ahLst/>
                <a:cxnLst/>
                <a:rect l="l" t="t" r="r" b="b"/>
                <a:pathLst>
                  <a:path w="508000" h="406400">
                    <a:moveTo>
                      <a:pt x="254000" y="12700"/>
                    </a:moveTo>
                    <a:cubicBezTo>
                      <a:pt x="299561" y="12700"/>
                      <a:pt x="336550" y="49689"/>
                      <a:pt x="336550" y="95250"/>
                    </a:cubicBezTo>
                    <a:cubicBezTo>
                      <a:pt x="336550" y="140811"/>
                      <a:pt x="299561" y="177800"/>
                      <a:pt x="254000" y="177800"/>
                    </a:cubicBezTo>
                    <a:cubicBezTo>
                      <a:pt x="208439" y="177800"/>
                      <a:pt x="171450" y="140811"/>
                      <a:pt x="171450" y="95250"/>
                    </a:cubicBezTo>
                    <a:cubicBezTo>
                      <a:pt x="171450" y="49689"/>
                      <a:pt x="208439" y="12700"/>
                      <a:pt x="254000" y="12700"/>
                    </a:cubicBezTo>
                    <a:close/>
                    <a:moveTo>
                      <a:pt x="76200" y="69850"/>
                    </a:moveTo>
                    <a:cubicBezTo>
                      <a:pt x="107742" y="69850"/>
                      <a:pt x="133350" y="95458"/>
                      <a:pt x="133350" y="127000"/>
                    </a:cubicBezTo>
                    <a:cubicBezTo>
                      <a:pt x="133350" y="158542"/>
                      <a:pt x="107742" y="184150"/>
                      <a:pt x="76200" y="184150"/>
                    </a:cubicBezTo>
                    <a:cubicBezTo>
                      <a:pt x="44658" y="184150"/>
                      <a:pt x="19050" y="158542"/>
                      <a:pt x="19050" y="127000"/>
                    </a:cubicBezTo>
                    <a:cubicBezTo>
                      <a:pt x="19050" y="95458"/>
                      <a:pt x="44658" y="69850"/>
                      <a:pt x="76200" y="69850"/>
                    </a:cubicBezTo>
                    <a:close/>
                    <a:moveTo>
                      <a:pt x="0" y="330200"/>
                    </a:moveTo>
                    <a:cubicBezTo>
                      <a:pt x="0" y="274082"/>
                      <a:pt x="45482" y="228600"/>
                      <a:pt x="101600" y="228600"/>
                    </a:cubicBezTo>
                    <a:cubicBezTo>
                      <a:pt x="111760" y="228600"/>
                      <a:pt x="121603" y="230108"/>
                      <a:pt x="130889" y="232886"/>
                    </a:cubicBezTo>
                    <a:cubicBezTo>
                      <a:pt x="104775" y="262096"/>
                      <a:pt x="88900" y="300672"/>
                      <a:pt x="88900" y="342900"/>
                    </a:cubicBezTo>
                    <a:lnTo>
                      <a:pt x="88900" y="355600"/>
                    </a:lnTo>
                    <a:cubicBezTo>
                      <a:pt x="88900" y="364649"/>
                      <a:pt x="90805" y="373221"/>
                      <a:pt x="94218" y="381000"/>
                    </a:cubicBezTo>
                    <a:lnTo>
                      <a:pt x="25400" y="381000"/>
                    </a:lnTo>
                    <a:cubicBezTo>
                      <a:pt x="11351" y="381000"/>
                      <a:pt x="0" y="369649"/>
                      <a:pt x="0" y="355600"/>
                    </a:cubicBezTo>
                    <a:lnTo>
                      <a:pt x="0" y="330200"/>
                    </a:lnTo>
                    <a:close/>
                    <a:moveTo>
                      <a:pt x="413782" y="381000"/>
                    </a:moveTo>
                    <a:cubicBezTo>
                      <a:pt x="417195" y="373221"/>
                      <a:pt x="419100" y="364649"/>
                      <a:pt x="419100" y="355600"/>
                    </a:cubicBezTo>
                    <a:lnTo>
                      <a:pt x="419100" y="342900"/>
                    </a:lnTo>
                    <a:cubicBezTo>
                      <a:pt x="419100" y="300673"/>
                      <a:pt x="403225" y="262096"/>
                      <a:pt x="377111" y="232886"/>
                    </a:cubicBezTo>
                    <a:cubicBezTo>
                      <a:pt x="386398" y="230108"/>
                      <a:pt x="396240" y="228600"/>
                      <a:pt x="406400" y="228600"/>
                    </a:cubicBezTo>
                    <a:cubicBezTo>
                      <a:pt x="462518" y="228600"/>
                      <a:pt x="508000" y="274082"/>
                      <a:pt x="508000" y="330200"/>
                    </a:cubicBezTo>
                    <a:lnTo>
                      <a:pt x="508000" y="355600"/>
                    </a:lnTo>
                    <a:cubicBezTo>
                      <a:pt x="508000" y="369649"/>
                      <a:pt x="496649" y="381000"/>
                      <a:pt x="482600" y="381000"/>
                    </a:cubicBezTo>
                    <a:lnTo>
                      <a:pt x="413782" y="381000"/>
                    </a:lnTo>
                    <a:close/>
                    <a:moveTo>
                      <a:pt x="374650" y="127000"/>
                    </a:moveTo>
                    <a:cubicBezTo>
                      <a:pt x="374650" y="95458"/>
                      <a:pt x="400258" y="69850"/>
                      <a:pt x="431800" y="69850"/>
                    </a:cubicBezTo>
                    <a:cubicBezTo>
                      <a:pt x="463342" y="69850"/>
                      <a:pt x="488950" y="95458"/>
                      <a:pt x="488950" y="127000"/>
                    </a:cubicBezTo>
                    <a:cubicBezTo>
                      <a:pt x="488950" y="158542"/>
                      <a:pt x="463342" y="184150"/>
                      <a:pt x="431800" y="184150"/>
                    </a:cubicBezTo>
                    <a:cubicBezTo>
                      <a:pt x="400258" y="184150"/>
                      <a:pt x="374650" y="158542"/>
                      <a:pt x="374650" y="127000"/>
                    </a:cubicBezTo>
                    <a:close/>
                    <a:moveTo>
                      <a:pt x="127000" y="342900"/>
                    </a:moveTo>
                    <a:cubicBezTo>
                      <a:pt x="127000" y="272733"/>
                      <a:pt x="183833" y="215900"/>
                      <a:pt x="254000" y="215900"/>
                    </a:cubicBezTo>
                    <a:cubicBezTo>
                      <a:pt x="324167" y="215900"/>
                      <a:pt x="381000" y="272733"/>
                      <a:pt x="381000" y="342900"/>
                    </a:cubicBezTo>
                    <a:lnTo>
                      <a:pt x="381000" y="355600"/>
                    </a:lnTo>
                    <a:cubicBezTo>
                      <a:pt x="381000" y="369649"/>
                      <a:pt x="369649" y="381000"/>
                      <a:pt x="355600" y="381000"/>
                    </a:cubicBezTo>
                    <a:lnTo>
                      <a:pt x="152400" y="381000"/>
                    </a:lnTo>
                    <a:cubicBezTo>
                      <a:pt x="138351" y="381000"/>
                      <a:pt x="127000" y="369649"/>
                      <a:pt x="127000" y="355600"/>
                    </a:cubicBezTo>
                    <a:lnTo>
                      <a:pt x="127000" y="342900"/>
                    </a:lnTo>
                    <a:close/>
                  </a:path>
                </a:pathLst>
              </a:custGeom>
              <a:solidFill>
                <a:srgbClr val="A0454F"/>
              </a:solidFill>
              <a:ln/>
            </p:spPr>
            <p:txBody>
              <a:bodyPr/>
              <a:lstStyle/>
              <a:p>
                <a:endParaRPr lang="en-US" sz="1013"/>
              </a:p>
            </p:txBody>
          </p:sp>
          <p:sp>
            <p:nvSpPr>
              <p:cNvPr id="28" name="Text 26"/>
              <p:cNvSpPr/>
              <p:nvPr/>
            </p:nvSpPr>
            <p:spPr>
              <a:xfrm>
                <a:off x="5243512" y="1028700"/>
                <a:ext cx="3328988" cy="200025"/>
              </a:xfrm>
              <a:prstGeom prst="rect">
                <a:avLst/>
              </a:prstGeom>
              <a:noFill/>
              <a:ln/>
            </p:spPr>
            <p:txBody>
              <a:bodyPr wrap="none" lIns="0" tIns="0" rIns="0" bIns="0" rtlCol="0" anchor="ctr"/>
              <a:lstStyle/>
              <a:p>
                <a:pPr>
                  <a:lnSpc>
                    <a:spcPct val="100000"/>
                  </a:lnSpc>
                </a:pPr>
                <a:r>
                  <a:rPr lang="en-US" sz="1125" b="1" dirty="0">
                    <a:solidFill>
                      <a:srgbClr val="A0454F"/>
                    </a:solidFill>
                    <a:latin typeface="MiSans" pitchFamily="34" charset="0"/>
                    <a:ea typeface="MiSans" pitchFamily="34" charset="-122"/>
                    <a:cs typeface="MiSans" pitchFamily="34" charset="-120"/>
                  </a:rPr>
                  <a:t>02 样本量考量 Adequate </a:t>
                </a:r>
                <a:r>
                  <a:rPr lang="en-US" altLang="zh-CN" sz="1125" b="1" dirty="0">
                    <a:solidFill>
                      <a:srgbClr val="A0454F"/>
                    </a:solidFill>
                    <a:latin typeface="MiSans" pitchFamily="34" charset="0"/>
                    <a:ea typeface="MiSans" pitchFamily="34" charset="-122"/>
                    <a:cs typeface="MiSans" pitchFamily="34" charset="-120"/>
                  </a:rPr>
                  <a:t>per subgroup objective</a:t>
                </a:r>
                <a:endParaRPr lang="en-US" sz="1125" dirty="0"/>
              </a:p>
            </p:txBody>
          </p:sp>
          <p:sp>
            <p:nvSpPr>
              <p:cNvPr id="29" name="Text 27"/>
              <p:cNvSpPr/>
              <p:nvPr/>
            </p:nvSpPr>
            <p:spPr>
              <a:xfrm>
                <a:off x="5243512" y="1257300"/>
                <a:ext cx="3328988" cy="428625"/>
              </a:xfrm>
              <a:prstGeom prst="rect">
                <a:avLst/>
              </a:prstGeom>
              <a:noFill/>
              <a:ln/>
            </p:spPr>
            <p:txBody>
              <a:bodyPr wrap="square" lIns="0" tIns="0" rIns="0" bIns="0" rtlCol="0" anchor="t"/>
              <a:lstStyle/>
              <a:p>
                <a:pPr>
                  <a:lnSpc>
                    <a:spcPct val="150000"/>
                  </a:lnSpc>
                </a:pPr>
                <a:r>
                  <a:rPr lang="zh-CN" altLang="en-US" sz="900" dirty="0">
                    <a:solidFill>
                      <a:srgbClr val="2D2A29"/>
                    </a:solidFill>
                    <a:latin typeface="MiSans" pitchFamily="34" charset="0"/>
                    <a:ea typeface="MiSans" pitchFamily="34" charset="-122"/>
                    <a:cs typeface="MiSans" pitchFamily="34" charset="-120"/>
                  </a:rPr>
                  <a:t>基于亚组的目的进行计划，</a:t>
                </a:r>
                <a:r>
                  <a:rPr lang="en-US" sz="900" dirty="0">
                    <a:solidFill>
                      <a:srgbClr val="2D2A29"/>
                    </a:solidFill>
                    <a:latin typeface="MiSans" pitchFamily="34" charset="0"/>
                    <a:ea typeface="MiSans" pitchFamily="34" charset="-122"/>
                    <a:cs typeface="MiSans" pitchFamily="34" charset="-120"/>
                  </a:rPr>
                  <a:t>确保目标亚组有足够样本量   </a:t>
                </a:r>
                <a:endParaRPr lang="en-US" sz="900" dirty="0"/>
              </a:p>
            </p:txBody>
          </p:sp>
        </p:grpSp>
      </p:grpSp>
      <p:grpSp>
        <p:nvGrpSpPr>
          <p:cNvPr id="50" name="Group 49">
            <a:extLst>
              <a:ext uri="{FF2B5EF4-FFF2-40B4-BE49-F238E27FC236}">
                <a16:creationId xmlns:a16="http://schemas.microsoft.com/office/drawing/2014/main" id="{1BE767E3-D4B2-E36E-BFCE-8D2D52654C1A}"/>
              </a:ext>
            </a:extLst>
          </p:cNvPr>
          <p:cNvGrpSpPr/>
          <p:nvPr/>
        </p:nvGrpSpPr>
        <p:grpSpPr>
          <a:xfrm>
            <a:off x="415925" y="3403598"/>
            <a:ext cx="3974309" cy="842963"/>
            <a:chOff x="4792662" y="2771775"/>
            <a:chExt cx="3974309" cy="842963"/>
          </a:xfrm>
        </p:grpSpPr>
        <p:sp>
          <p:nvSpPr>
            <p:cNvPr id="36" name="Shape 34"/>
            <p:cNvSpPr/>
            <p:nvPr/>
          </p:nvSpPr>
          <p:spPr>
            <a:xfrm>
              <a:off x="4792662" y="2771775"/>
              <a:ext cx="42863" cy="842963"/>
            </a:xfrm>
            <a:prstGeom prst="rect">
              <a:avLst/>
            </a:prstGeom>
            <a:solidFill>
              <a:srgbClr val="A0454F"/>
            </a:solidFill>
            <a:ln/>
          </p:spPr>
          <p:txBody>
            <a:bodyPr/>
            <a:lstStyle/>
            <a:p>
              <a:endParaRPr lang="en-US" sz="1013"/>
            </a:p>
          </p:txBody>
        </p:sp>
        <p:grpSp>
          <p:nvGrpSpPr>
            <p:cNvPr id="49" name="Group 48">
              <a:extLst>
                <a:ext uri="{FF2B5EF4-FFF2-40B4-BE49-F238E27FC236}">
                  <a16:creationId xmlns:a16="http://schemas.microsoft.com/office/drawing/2014/main" id="{CB5CDE07-CD07-FAB9-2165-73D42CAC3C4C}"/>
                </a:ext>
              </a:extLst>
            </p:cNvPr>
            <p:cNvGrpSpPr/>
            <p:nvPr/>
          </p:nvGrpSpPr>
          <p:grpSpPr>
            <a:xfrm>
              <a:off x="4837908" y="2771775"/>
              <a:ext cx="3929063" cy="842963"/>
              <a:chOff x="4786312" y="2771775"/>
              <a:chExt cx="3929063" cy="842963"/>
            </a:xfrm>
          </p:grpSpPr>
          <p:sp>
            <p:nvSpPr>
              <p:cNvPr id="35" name="Shape 33"/>
              <p:cNvSpPr/>
              <p:nvPr/>
            </p:nvSpPr>
            <p:spPr>
              <a:xfrm>
                <a:off x="4786312" y="2771775"/>
                <a:ext cx="3929063" cy="842963"/>
              </a:xfrm>
              <a:prstGeom prst="roundRect">
                <a:avLst>
                  <a:gd name="adj" fmla="val 8000"/>
                </a:avLst>
              </a:prstGeom>
              <a:solidFill>
                <a:srgbClr val="F5EBE7"/>
              </a:solidFill>
              <a:ln/>
            </p:spPr>
            <p:txBody>
              <a:bodyPr/>
              <a:lstStyle/>
              <a:p>
                <a:endParaRPr lang="en-US" sz="1013"/>
              </a:p>
            </p:txBody>
          </p:sp>
          <p:sp>
            <p:nvSpPr>
              <p:cNvPr id="37" name="Shape 35"/>
              <p:cNvSpPr/>
              <p:nvPr/>
            </p:nvSpPr>
            <p:spPr>
              <a:xfrm>
                <a:off x="4957763" y="2886075"/>
                <a:ext cx="171450" cy="228600"/>
              </a:xfrm>
              <a:custGeom>
                <a:avLst/>
                <a:gdLst/>
                <a:ahLst/>
                <a:cxnLst/>
                <a:rect l="l" t="t" r="r" b="b"/>
                <a:pathLst>
                  <a:path w="304800" h="406400">
                    <a:moveTo>
                      <a:pt x="0" y="50800"/>
                    </a:moveTo>
                    <a:cubicBezTo>
                      <a:pt x="0" y="22781"/>
                      <a:pt x="22781" y="0"/>
                      <a:pt x="50800" y="0"/>
                    </a:cubicBezTo>
                    <a:lnTo>
                      <a:pt x="169466" y="0"/>
                    </a:lnTo>
                    <a:cubicBezTo>
                      <a:pt x="182959" y="0"/>
                      <a:pt x="195898" y="5318"/>
                      <a:pt x="205423" y="14843"/>
                    </a:cubicBezTo>
                    <a:lnTo>
                      <a:pt x="289957" y="99457"/>
                    </a:lnTo>
                    <a:cubicBezTo>
                      <a:pt x="299482" y="108982"/>
                      <a:pt x="304800" y="121920"/>
                      <a:pt x="304800" y="135414"/>
                    </a:cubicBezTo>
                    <a:lnTo>
                      <a:pt x="304800" y="355600"/>
                    </a:lnTo>
                    <a:cubicBezTo>
                      <a:pt x="304800" y="383619"/>
                      <a:pt x="282019" y="406400"/>
                      <a:pt x="254000" y="406400"/>
                    </a:cubicBezTo>
                    <a:lnTo>
                      <a:pt x="50800" y="406400"/>
                    </a:lnTo>
                    <a:cubicBezTo>
                      <a:pt x="22781" y="406400"/>
                      <a:pt x="0" y="383619"/>
                      <a:pt x="0" y="355600"/>
                    </a:cubicBezTo>
                    <a:lnTo>
                      <a:pt x="0" y="50800"/>
                    </a:lnTo>
                    <a:close/>
                    <a:moveTo>
                      <a:pt x="165100" y="46434"/>
                    </a:moveTo>
                    <a:lnTo>
                      <a:pt x="165100" y="120650"/>
                    </a:lnTo>
                    <a:cubicBezTo>
                      <a:pt x="165100" y="131207"/>
                      <a:pt x="173593" y="139700"/>
                      <a:pt x="184150" y="139700"/>
                    </a:cubicBezTo>
                    <a:lnTo>
                      <a:pt x="258366" y="139700"/>
                    </a:lnTo>
                    <a:lnTo>
                      <a:pt x="165100" y="46434"/>
                    </a:lnTo>
                    <a:close/>
                    <a:moveTo>
                      <a:pt x="95250" y="203200"/>
                    </a:moveTo>
                    <a:cubicBezTo>
                      <a:pt x="84693" y="203200"/>
                      <a:pt x="76200" y="211693"/>
                      <a:pt x="76200" y="222250"/>
                    </a:cubicBezTo>
                    <a:cubicBezTo>
                      <a:pt x="76200" y="232807"/>
                      <a:pt x="84693" y="241300"/>
                      <a:pt x="95250" y="241300"/>
                    </a:cubicBezTo>
                    <a:lnTo>
                      <a:pt x="209550" y="241300"/>
                    </a:lnTo>
                    <a:cubicBezTo>
                      <a:pt x="220107" y="241300"/>
                      <a:pt x="228600" y="232807"/>
                      <a:pt x="228600" y="222250"/>
                    </a:cubicBezTo>
                    <a:cubicBezTo>
                      <a:pt x="228600" y="211693"/>
                      <a:pt x="220107" y="203200"/>
                      <a:pt x="209550" y="203200"/>
                    </a:cubicBezTo>
                    <a:lnTo>
                      <a:pt x="95250" y="203200"/>
                    </a:lnTo>
                    <a:close/>
                    <a:moveTo>
                      <a:pt x="95250" y="279400"/>
                    </a:moveTo>
                    <a:cubicBezTo>
                      <a:pt x="84693" y="279400"/>
                      <a:pt x="76200" y="287893"/>
                      <a:pt x="76200" y="298450"/>
                    </a:cubicBezTo>
                    <a:cubicBezTo>
                      <a:pt x="76200" y="309007"/>
                      <a:pt x="84693" y="317500"/>
                      <a:pt x="95250" y="317500"/>
                    </a:cubicBezTo>
                    <a:lnTo>
                      <a:pt x="209550" y="317500"/>
                    </a:lnTo>
                    <a:cubicBezTo>
                      <a:pt x="220107" y="317500"/>
                      <a:pt x="228600" y="309007"/>
                      <a:pt x="228600" y="298450"/>
                    </a:cubicBezTo>
                    <a:cubicBezTo>
                      <a:pt x="228600" y="287893"/>
                      <a:pt x="220107" y="279400"/>
                      <a:pt x="209550" y="279400"/>
                    </a:cubicBezTo>
                    <a:lnTo>
                      <a:pt x="95250" y="279400"/>
                    </a:lnTo>
                    <a:close/>
                  </a:path>
                </a:pathLst>
              </a:custGeom>
              <a:solidFill>
                <a:srgbClr val="A0454F"/>
              </a:solidFill>
              <a:ln/>
            </p:spPr>
            <p:txBody>
              <a:bodyPr/>
              <a:lstStyle/>
              <a:p>
                <a:endParaRPr lang="en-US" sz="1013"/>
              </a:p>
            </p:txBody>
          </p:sp>
          <p:sp>
            <p:nvSpPr>
              <p:cNvPr id="38" name="Text 36"/>
              <p:cNvSpPr/>
              <p:nvPr/>
            </p:nvSpPr>
            <p:spPr>
              <a:xfrm>
                <a:off x="5243512" y="2857500"/>
                <a:ext cx="3328988" cy="200025"/>
              </a:xfrm>
              <a:prstGeom prst="rect">
                <a:avLst/>
              </a:prstGeom>
              <a:noFill/>
              <a:ln/>
            </p:spPr>
            <p:txBody>
              <a:bodyPr wrap="none" lIns="0" tIns="0" rIns="0" bIns="0" rtlCol="0" anchor="ctr"/>
              <a:lstStyle/>
              <a:p>
                <a:pPr>
                  <a:lnSpc>
                    <a:spcPct val="100000"/>
                  </a:lnSpc>
                </a:pPr>
                <a:r>
                  <a:rPr lang="en-US" sz="1125" b="1" dirty="0">
                    <a:solidFill>
                      <a:srgbClr val="A0454F"/>
                    </a:solidFill>
                    <a:latin typeface="MiSans" pitchFamily="34" charset="0"/>
                    <a:ea typeface="MiSans" pitchFamily="34" charset="-122"/>
                    <a:cs typeface="MiSans" pitchFamily="34" charset="-120"/>
                  </a:rPr>
                  <a:t>03 透明报告 Transparent Reporting</a:t>
                </a:r>
                <a:endParaRPr lang="en-US" sz="1125" dirty="0"/>
              </a:p>
            </p:txBody>
          </p:sp>
          <p:sp>
            <p:nvSpPr>
              <p:cNvPr id="39" name="Text 37"/>
              <p:cNvSpPr/>
              <p:nvPr/>
            </p:nvSpPr>
            <p:spPr>
              <a:xfrm>
                <a:off x="5243512" y="3086100"/>
                <a:ext cx="3328988" cy="428625"/>
              </a:xfrm>
              <a:prstGeom prst="rect">
                <a:avLst/>
              </a:prstGeom>
              <a:noFill/>
              <a:ln/>
            </p:spPr>
            <p:txBody>
              <a:bodyPr wrap="square" lIns="0" tIns="0" rIns="0" bIns="0" rtlCol="0" anchor="t"/>
              <a:lstStyle/>
              <a:p>
                <a:pPr>
                  <a:lnSpc>
                    <a:spcPct val="150000"/>
                  </a:lnSpc>
                </a:pPr>
                <a:r>
                  <a:rPr lang="en-US" sz="900" dirty="0">
                    <a:solidFill>
                      <a:srgbClr val="2D2A29"/>
                    </a:solidFill>
                    <a:latin typeface="MiSans" pitchFamily="34" charset="0"/>
                    <a:ea typeface="MiSans" pitchFamily="34" charset="-122"/>
                    <a:cs typeface="MiSans" pitchFamily="34" charset="-120"/>
                  </a:rPr>
                  <a:t>明确区分预先规定与探索性分析，以森林图展示各亚组效应，结合临床背景与其他证据综合解读</a:t>
                </a:r>
                <a:endParaRPr lang="en-US" sz="900" dirty="0"/>
              </a:p>
            </p:txBody>
          </p:sp>
        </p:grpSp>
      </p:grpSp>
      <p:sp>
        <p:nvSpPr>
          <p:cNvPr id="40" name="Shape 38"/>
          <p:cNvSpPr/>
          <p:nvPr/>
        </p:nvSpPr>
        <p:spPr>
          <a:xfrm>
            <a:off x="5857875" y="3786188"/>
            <a:ext cx="571500" cy="571500"/>
          </a:xfrm>
          <a:prstGeom prst="ellipse">
            <a:avLst/>
          </a:prstGeom>
          <a:solidFill>
            <a:srgbClr val="A0454F">
              <a:alpha val="12000"/>
            </a:srgbClr>
          </a:solidFill>
          <a:ln/>
        </p:spPr>
        <p:txBody>
          <a:bodyPr/>
          <a:lstStyle/>
          <a:p>
            <a:endParaRPr lang="en-US" sz="1013"/>
          </a:p>
        </p:txBody>
      </p:sp>
      <p:sp>
        <p:nvSpPr>
          <p:cNvPr id="41" name="Shape 39"/>
          <p:cNvSpPr/>
          <p:nvPr/>
        </p:nvSpPr>
        <p:spPr>
          <a:xfrm>
            <a:off x="6572250" y="4000500"/>
            <a:ext cx="357188" cy="357188"/>
          </a:xfrm>
          <a:prstGeom prst="ellipse">
            <a:avLst/>
          </a:prstGeom>
          <a:solidFill>
            <a:srgbClr val="A0454F">
              <a:alpha val="8000"/>
            </a:srgbClr>
          </a:solidFill>
          <a:ln/>
        </p:spPr>
        <p:txBody>
          <a:bodyPr/>
          <a:lstStyle/>
          <a:p>
            <a:endParaRPr lang="en-US" sz="1013"/>
          </a:p>
        </p:txBody>
      </p:sp>
      <p:sp>
        <p:nvSpPr>
          <p:cNvPr id="42" name="Shape 40"/>
          <p:cNvSpPr/>
          <p:nvPr/>
        </p:nvSpPr>
        <p:spPr>
          <a:xfrm>
            <a:off x="8143875" y="3825079"/>
            <a:ext cx="428625" cy="428625"/>
          </a:xfrm>
          <a:prstGeom prst="ellipse">
            <a:avLst/>
          </a:prstGeom>
          <a:solidFill>
            <a:srgbClr val="A0454F">
              <a:alpha val="10000"/>
            </a:srgbClr>
          </a:solidFill>
          <a:ln/>
        </p:spPr>
        <p:txBody>
          <a:bodyPr/>
          <a:lstStyle/>
          <a:p>
            <a:endParaRPr lang="en-US" sz="1013"/>
          </a:p>
        </p:txBody>
      </p:sp>
      <p:sp>
        <p:nvSpPr>
          <p:cNvPr id="44" name="Shape 42"/>
          <p:cNvSpPr/>
          <p:nvPr/>
        </p:nvSpPr>
        <p:spPr>
          <a:xfrm>
            <a:off x="457200" y="4772025"/>
            <a:ext cx="171450" cy="2286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FFFFFF"/>
          </a:solidFill>
          <a:ln/>
        </p:spPr>
        <p:txBody>
          <a:bodyPr/>
          <a:lstStyle/>
          <a:p>
            <a:endParaRPr lang="en-US" sz="1013"/>
          </a:p>
        </p:txBody>
      </p:sp>
      <p:sp>
        <p:nvSpPr>
          <p:cNvPr id="46" name="Text 0">
            <a:extLst>
              <a:ext uri="{FF2B5EF4-FFF2-40B4-BE49-F238E27FC236}">
                <a16:creationId xmlns:a16="http://schemas.microsoft.com/office/drawing/2014/main" id="{1DA24204-8FF4-4C63-D9D5-3BACF6783335}"/>
              </a:ext>
            </a:extLst>
          </p:cNvPr>
          <p:cNvSpPr/>
          <p:nvPr/>
        </p:nvSpPr>
        <p:spPr>
          <a:xfrm>
            <a:off x="1768476" y="215903"/>
            <a:ext cx="2528887" cy="366711"/>
          </a:xfrm>
          <a:prstGeom prst="rect">
            <a:avLst/>
          </a:prstGeom>
          <a:noFill/>
          <a:ln/>
        </p:spPr>
        <p:txBody>
          <a:bodyPr wrap="none" lIns="0" tIns="0" rIns="0" bIns="0" rtlCol="0" anchor="ctr"/>
          <a:lstStyle/>
          <a:p>
            <a:pPr algn="ctr">
              <a:lnSpc>
                <a:spcPct val="120000"/>
              </a:lnSpc>
            </a:pPr>
            <a:r>
              <a:rPr lang="en-US" sz="2025" b="1" dirty="0">
                <a:solidFill>
                  <a:srgbClr val="BF1733"/>
                </a:solidFill>
                <a:latin typeface="QuattrocentoSans" pitchFamily="34" charset="0"/>
                <a:ea typeface="QuattrocentoSans" pitchFamily="34" charset="-122"/>
                <a:cs typeface="QuattrocentoSans" pitchFamily="34" charset="-120"/>
              </a:rPr>
              <a:t>02.1 </a:t>
            </a:r>
            <a:r>
              <a:rPr lang="en-US" sz="2025" b="1" dirty="0" err="1">
                <a:solidFill>
                  <a:srgbClr val="BF1733"/>
                </a:solidFill>
                <a:latin typeface="QuattrocentoSans" pitchFamily="34" charset="0"/>
                <a:ea typeface="QuattrocentoSans" pitchFamily="34" charset="-122"/>
                <a:cs typeface="QuattrocentoSans" pitchFamily="34" charset="-120"/>
              </a:rPr>
              <a:t>亚组分析</a:t>
            </a:r>
            <a:r>
              <a:rPr lang="en-US" sz="2025" b="1" dirty="0">
                <a:solidFill>
                  <a:srgbClr val="BF1733"/>
                </a:solidFill>
                <a:latin typeface="QuattrocentoSans" pitchFamily="34" charset="0"/>
                <a:ea typeface="QuattrocentoSans" pitchFamily="34" charset="-122"/>
                <a:cs typeface="QuattrocentoSans" pitchFamily="34" charset="-120"/>
              </a:rPr>
              <a:t> General Good Practice &amp; </a:t>
            </a:r>
            <a:r>
              <a:rPr lang="zh-CN" altLang="en-US" sz="2025" b="1" dirty="0">
                <a:solidFill>
                  <a:srgbClr val="BF1733"/>
                </a:solidFill>
                <a:latin typeface="QuattrocentoSans" pitchFamily="34" charset="0"/>
                <a:ea typeface="QuattrocentoSans" pitchFamily="34" charset="-122"/>
                <a:cs typeface="QuattrocentoSans" pitchFamily="34" charset="-120"/>
              </a:rPr>
              <a:t>常用分类</a:t>
            </a:r>
            <a:endParaRPr lang="en-US" sz="2025" dirty="0">
              <a:solidFill>
                <a:srgbClr val="BF1733"/>
              </a:solidFill>
            </a:endParaRPr>
          </a:p>
        </p:txBody>
      </p:sp>
      <p:grpSp>
        <p:nvGrpSpPr>
          <p:cNvPr id="51" name="Group 50">
            <a:extLst>
              <a:ext uri="{FF2B5EF4-FFF2-40B4-BE49-F238E27FC236}">
                <a16:creationId xmlns:a16="http://schemas.microsoft.com/office/drawing/2014/main" id="{DB5FA77E-CEE0-B974-6FEB-DCBA4A750238}"/>
              </a:ext>
            </a:extLst>
          </p:cNvPr>
          <p:cNvGrpSpPr/>
          <p:nvPr/>
        </p:nvGrpSpPr>
        <p:grpSpPr>
          <a:xfrm>
            <a:off x="5782590" y="589814"/>
            <a:ext cx="2114550" cy="1092030"/>
            <a:chOff x="571500" y="1000125"/>
            <a:chExt cx="2428875" cy="1571625"/>
          </a:xfrm>
        </p:grpSpPr>
        <p:sp>
          <p:nvSpPr>
            <p:cNvPr id="52" name="Shape 2"/>
            <p:cNvSpPr/>
            <p:nvPr/>
          </p:nvSpPr>
          <p:spPr>
            <a:xfrm>
              <a:off x="571500" y="1000125"/>
              <a:ext cx="2428875" cy="1571625"/>
            </a:xfrm>
            <a:prstGeom prst="roundRect">
              <a:avLst>
                <a:gd name="adj" fmla="val 5000"/>
              </a:avLst>
            </a:prstGeom>
            <a:solidFill>
              <a:srgbClr val="FFFFFF"/>
            </a:solidFill>
            <a:ln w="12700">
              <a:solidFill>
                <a:srgbClr val="E8DDD8"/>
              </a:solidFill>
              <a:prstDash val="solid"/>
            </a:ln>
          </p:spPr>
          <p:txBody>
            <a:bodyPr/>
            <a:lstStyle/>
            <a:p>
              <a:endParaRPr lang="en-US" sz="1013"/>
            </a:p>
          </p:txBody>
        </p:sp>
        <p:grpSp>
          <p:nvGrpSpPr>
            <p:cNvPr id="53" name="Group 52">
              <a:extLst>
                <a:ext uri="{FF2B5EF4-FFF2-40B4-BE49-F238E27FC236}">
                  <a16:creationId xmlns:a16="http://schemas.microsoft.com/office/drawing/2014/main" id="{A72CC2B9-4D36-0608-CEEF-4B2DE96777F6}"/>
                </a:ext>
              </a:extLst>
            </p:cNvPr>
            <p:cNvGrpSpPr/>
            <p:nvPr/>
          </p:nvGrpSpPr>
          <p:grpSpPr>
            <a:xfrm>
              <a:off x="571500" y="1014809"/>
              <a:ext cx="2428875" cy="1457325"/>
              <a:chOff x="571500" y="1000125"/>
              <a:chExt cx="2428875" cy="1457325"/>
            </a:xfrm>
          </p:grpSpPr>
          <p:sp>
            <p:nvSpPr>
              <p:cNvPr id="54" name="Shape 3"/>
              <p:cNvSpPr/>
              <p:nvPr/>
            </p:nvSpPr>
            <p:spPr>
              <a:xfrm>
                <a:off x="571500" y="1000125"/>
                <a:ext cx="2428875" cy="35719"/>
              </a:xfrm>
              <a:prstGeom prst="rect">
                <a:avLst/>
              </a:prstGeom>
              <a:solidFill>
                <a:srgbClr val="A0453A"/>
              </a:solidFill>
              <a:ln/>
            </p:spPr>
            <p:txBody>
              <a:bodyPr/>
              <a:lstStyle/>
              <a:p>
                <a:endParaRPr lang="en-US" sz="1013"/>
              </a:p>
            </p:txBody>
          </p:sp>
          <p:sp>
            <p:nvSpPr>
              <p:cNvPr id="55" name="Shape 4"/>
              <p:cNvSpPr/>
              <p:nvPr/>
            </p:nvSpPr>
            <p:spPr>
              <a:xfrm>
                <a:off x="1571625" y="1157288"/>
                <a:ext cx="428625" cy="342900"/>
              </a:xfrm>
              <a:custGeom>
                <a:avLst/>
                <a:gdLst/>
                <a:ahLst/>
                <a:cxnLst/>
                <a:rect l="l" t="t" r="r" b="b"/>
                <a:pathLst>
                  <a:path w="762000" h="609600">
                    <a:moveTo>
                      <a:pt x="381000" y="19050"/>
                    </a:moveTo>
                    <a:cubicBezTo>
                      <a:pt x="449341" y="19050"/>
                      <a:pt x="504825" y="74534"/>
                      <a:pt x="504825" y="142875"/>
                    </a:cubicBezTo>
                    <a:cubicBezTo>
                      <a:pt x="504825" y="211216"/>
                      <a:pt x="449341" y="266700"/>
                      <a:pt x="381000" y="266700"/>
                    </a:cubicBezTo>
                    <a:cubicBezTo>
                      <a:pt x="312659" y="266700"/>
                      <a:pt x="257175" y="211216"/>
                      <a:pt x="257175" y="142875"/>
                    </a:cubicBezTo>
                    <a:cubicBezTo>
                      <a:pt x="257175" y="74534"/>
                      <a:pt x="312659" y="19050"/>
                      <a:pt x="381000" y="19050"/>
                    </a:cubicBezTo>
                    <a:close/>
                    <a:moveTo>
                      <a:pt x="114300" y="104775"/>
                    </a:moveTo>
                    <a:cubicBezTo>
                      <a:pt x="161613" y="104775"/>
                      <a:pt x="200025" y="143187"/>
                      <a:pt x="200025" y="190500"/>
                    </a:cubicBezTo>
                    <a:cubicBezTo>
                      <a:pt x="200025" y="237813"/>
                      <a:pt x="161613" y="276225"/>
                      <a:pt x="114300" y="276225"/>
                    </a:cubicBezTo>
                    <a:cubicBezTo>
                      <a:pt x="66987" y="276225"/>
                      <a:pt x="28575" y="237813"/>
                      <a:pt x="28575" y="190500"/>
                    </a:cubicBezTo>
                    <a:cubicBezTo>
                      <a:pt x="28575" y="143187"/>
                      <a:pt x="66987" y="104775"/>
                      <a:pt x="114300" y="104775"/>
                    </a:cubicBezTo>
                    <a:close/>
                    <a:moveTo>
                      <a:pt x="0" y="495300"/>
                    </a:moveTo>
                    <a:cubicBezTo>
                      <a:pt x="0" y="411123"/>
                      <a:pt x="68223" y="342900"/>
                      <a:pt x="152400" y="342900"/>
                    </a:cubicBezTo>
                    <a:cubicBezTo>
                      <a:pt x="167640" y="342900"/>
                      <a:pt x="182404" y="345162"/>
                      <a:pt x="196334" y="349329"/>
                    </a:cubicBezTo>
                    <a:cubicBezTo>
                      <a:pt x="157163" y="393144"/>
                      <a:pt x="133350" y="451009"/>
                      <a:pt x="133350" y="514350"/>
                    </a:cubicBezTo>
                    <a:lnTo>
                      <a:pt x="133350" y="533400"/>
                    </a:lnTo>
                    <a:cubicBezTo>
                      <a:pt x="133350" y="546973"/>
                      <a:pt x="136208" y="559832"/>
                      <a:pt x="141327" y="571500"/>
                    </a:cubicBezTo>
                    <a:lnTo>
                      <a:pt x="38100" y="571500"/>
                    </a:lnTo>
                    <a:cubicBezTo>
                      <a:pt x="17026" y="571500"/>
                      <a:pt x="0" y="554474"/>
                      <a:pt x="0" y="533400"/>
                    </a:cubicBezTo>
                    <a:lnTo>
                      <a:pt x="0" y="495300"/>
                    </a:lnTo>
                    <a:close/>
                    <a:moveTo>
                      <a:pt x="620673" y="571500"/>
                    </a:moveTo>
                    <a:cubicBezTo>
                      <a:pt x="625793" y="559832"/>
                      <a:pt x="628650" y="546973"/>
                      <a:pt x="628650" y="533400"/>
                    </a:cubicBezTo>
                    <a:lnTo>
                      <a:pt x="628650" y="514350"/>
                    </a:lnTo>
                    <a:cubicBezTo>
                      <a:pt x="628650" y="451009"/>
                      <a:pt x="604837" y="393144"/>
                      <a:pt x="565666" y="349329"/>
                    </a:cubicBezTo>
                    <a:cubicBezTo>
                      <a:pt x="579596" y="345162"/>
                      <a:pt x="594360" y="342900"/>
                      <a:pt x="609600" y="342900"/>
                    </a:cubicBezTo>
                    <a:cubicBezTo>
                      <a:pt x="693777" y="342900"/>
                      <a:pt x="762000" y="411123"/>
                      <a:pt x="762000" y="495300"/>
                    </a:cubicBezTo>
                    <a:lnTo>
                      <a:pt x="762000" y="533400"/>
                    </a:lnTo>
                    <a:cubicBezTo>
                      <a:pt x="762000" y="554474"/>
                      <a:pt x="744974" y="571500"/>
                      <a:pt x="723900" y="571500"/>
                    </a:cubicBezTo>
                    <a:lnTo>
                      <a:pt x="620673" y="571500"/>
                    </a:lnTo>
                    <a:close/>
                    <a:moveTo>
                      <a:pt x="561975" y="190500"/>
                    </a:moveTo>
                    <a:cubicBezTo>
                      <a:pt x="561975" y="143187"/>
                      <a:pt x="600387" y="104775"/>
                      <a:pt x="647700" y="104775"/>
                    </a:cubicBezTo>
                    <a:cubicBezTo>
                      <a:pt x="695013" y="104775"/>
                      <a:pt x="733425" y="143187"/>
                      <a:pt x="733425" y="190500"/>
                    </a:cubicBezTo>
                    <a:cubicBezTo>
                      <a:pt x="733425" y="237813"/>
                      <a:pt x="695013" y="276225"/>
                      <a:pt x="647700" y="276225"/>
                    </a:cubicBezTo>
                    <a:cubicBezTo>
                      <a:pt x="600387" y="276225"/>
                      <a:pt x="561975" y="237813"/>
                      <a:pt x="561975" y="190500"/>
                    </a:cubicBezTo>
                    <a:close/>
                    <a:moveTo>
                      <a:pt x="190500" y="514350"/>
                    </a:moveTo>
                    <a:cubicBezTo>
                      <a:pt x="190500" y="409099"/>
                      <a:pt x="275749" y="323850"/>
                      <a:pt x="381000" y="323850"/>
                    </a:cubicBezTo>
                    <a:cubicBezTo>
                      <a:pt x="486251" y="323850"/>
                      <a:pt x="571500" y="409099"/>
                      <a:pt x="571500" y="514350"/>
                    </a:cubicBezTo>
                    <a:lnTo>
                      <a:pt x="571500" y="533400"/>
                    </a:lnTo>
                    <a:cubicBezTo>
                      <a:pt x="571500" y="554474"/>
                      <a:pt x="554474" y="571500"/>
                      <a:pt x="533400" y="571500"/>
                    </a:cubicBezTo>
                    <a:lnTo>
                      <a:pt x="228600" y="571500"/>
                    </a:lnTo>
                    <a:cubicBezTo>
                      <a:pt x="207526" y="571500"/>
                      <a:pt x="190500" y="554474"/>
                      <a:pt x="190500" y="533400"/>
                    </a:cubicBezTo>
                    <a:lnTo>
                      <a:pt x="190500" y="514350"/>
                    </a:lnTo>
                    <a:close/>
                  </a:path>
                </a:pathLst>
              </a:custGeom>
              <a:solidFill>
                <a:srgbClr val="A0453A"/>
              </a:solidFill>
              <a:ln/>
            </p:spPr>
            <p:txBody>
              <a:bodyPr/>
              <a:lstStyle/>
              <a:p>
                <a:endParaRPr lang="en-US" sz="1013"/>
              </a:p>
            </p:txBody>
          </p:sp>
          <p:sp>
            <p:nvSpPr>
              <p:cNvPr id="56" name="Text 5"/>
              <p:cNvSpPr/>
              <p:nvPr/>
            </p:nvSpPr>
            <p:spPr>
              <a:xfrm>
                <a:off x="714375" y="1571625"/>
                <a:ext cx="2143125" cy="228600"/>
              </a:xfrm>
              <a:prstGeom prst="rect">
                <a:avLst/>
              </a:prstGeom>
              <a:noFill/>
              <a:ln/>
            </p:spPr>
            <p:txBody>
              <a:bodyPr wrap="none" lIns="0" tIns="0" rIns="0" bIns="0" rtlCol="0" anchor="ctr"/>
              <a:lstStyle/>
              <a:p>
                <a:pPr algn="ctr">
                  <a:lnSpc>
                    <a:spcPct val="100000"/>
                  </a:lnSpc>
                </a:pPr>
                <a:r>
                  <a:rPr lang="en-US" sz="1100" b="1" dirty="0">
                    <a:solidFill>
                      <a:srgbClr val="A0453A"/>
                    </a:solidFill>
                    <a:latin typeface="MiSans" pitchFamily="34" charset="0"/>
                    <a:ea typeface="MiSans" pitchFamily="34" charset="-122"/>
                    <a:cs typeface="MiSans" pitchFamily="34" charset="-120"/>
                  </a:rPr>
                  <a:t>人口统计学特征</a:t>
                </a:r>
                <a:endParaRPr lang="en-US" sz="1100" dirty="0"/>
              </a:p>
            </p:txBody>
          </p:sp>
          <p:sp>
            <p:nvSpPr>
              <p:cNvPr id="57" name="Text 6"/>
              <p:cNvSpPr/>
              <p:nvPr/>
            </p:nvSpPr>
            <p:spPr>
              <a:xfrm>
                <a:off x="714375" y="1857375"/>
                <a:ext cx="2143125" cy="600075"/>
              </a:xfrm>
              <a:prstGeom prst="rect">
                <a:avLst/>
              </a:prstGeom>
              <a:noFill/>
              <a:ln/>
            </p:spPr>
            <p:txBody>
              <a:bodyPr wrap="square" lIns="0" tIns="0" rIns="0" bIns="0" rtlCol="0" anchor="t"/>
              <a:lstStyle/>
              <a:p>
                <a:pPr algn="ctr">
                  <a:lnSpc>
                    <a:spcPct val="150000"/>
                  </a:lnSpc>
                </a:pPr>
                <a:r>
                  <a:rPr lang="en-US" sz="900" b="1" dirty="0" err="1">
                    <a:solidFill>
                      <a:srgbClr val="2D2926"/>
                    </a:solidFill>
                    <a:latin typeface="微软雅黑" panose="020B0503020204020204" pitchFamily="34" charset="-122"/>
                    <a:ea typeface="微软雅黑" panose="020B0503020204020204" pitchFamily="34" charset="-122"/>
                    <a:cs typeface="MiSans" pitchFamily="34" charset="-120"/>
                  </a:rPr>
                  <a:t>年龄、性别、种族、遗传</a:t>
                </a:r>
                <a:endParaRPr lang="en-US" sz="900" b="1" dirty="0">
                  <a:solidFill>
                    <a:srgbClr val="2D2926"/>
                  </a:solidFill>
                  <a:latin typeface="微软雅黑" panose="020B0503020204020204" pitchFamily="34" charset="-122"/>
                  <a:ea typeface="微软雅黑" panose="020B0503020204020204" pitchFamily="34" charset="-122"/>
                  <a:cs typeface="MiSans" pitchFamily="34" charset="-120"/>
                </a:endParaRPr>
              </a:p>
              <a:p>
                <a:pPr algn="ctr">
                  <a:lnSpc>
                    <a:spcPct val="150000"/>
                  </a:lnSpc>
                </a:pPr>
                <a:r>
                  <a:rPr lang="en-US" sz="900" b="1" dirty="0" err="1">
                    <a:solidFill>
                      <a:srgbClr val="2D2926"/>
                    </a:solidFill>
                    <a:latin typeface="微软雅黑" panose="020B0503020204020204" pitchFamily="34" charset="-122"/>
                    <a:ea typeface="微软雅黑" panose="020B0503020204020204" pitchFamily="34" charset="-122"/>
                    <a:cs typeface="MiSans" pitchFamily="34" charset="-120"/>
                  </a:rPr>
                  <a:t>或生物标志物等基线特征</a:t>
                </a:r>
                <a:endParaRPr lang="en-US" sz="900" b="1" dirty="0">
                  <a:latin typeface="微软雅黑" panose="020B0503020204020204" pitchFamily="34" charset="-122"/>
                  <a:ea typeface="微软雅黑" panose="020B0503020204020204" pitchFamily="34" charset="-122"/>
                </a:endParaRPr>
              </a:p>
            </p:txBody>
          </p:sp>
        </p:grpSp>
      </p:grpSp>
      <p:grpSp>
        <p:nvGrpSpPr>
          <p:cNvPr id="58" name="Group 57">
            <a:extLst>
              <a:ext uri="{FF2B5EF4-FFF2-40B4-BE49-F238E27FC236}">
                <a16:creationId xmlns:a16="http://schemas.microsoft.com/office/drawing/2014/main" id="{552C12CF-C39C-EC9A-39E6-9363B44ADE94}"/>
              </a:ext>
            </a:extLst>
          </p:cNvPr>
          <p:cNvGrpSpPr/>
          <p:nvPr/>
        </p:nvGrpSpPr>
        <p:grpSpPr>
          <a:xfrm>
            <a:off x="6978336" y="1943494"/>
            <a:ext cx="1963089" cy="1139031"/>
            <a:chOff x="3357563" y="1000125"/>
            <a:chExt cx="2428875" cy="1571625"/>
          </a:xfrm>
        </p:grpSpPr>
        <p:sp>
          <p:nvSpPr>
            <p:cNvPr id="59" name="Shape 7"/>
            <p:cNvSpPr/>
            <p:nvPr/>
          </p:nvSpPr>
          <p:spPr>
            <a:xfrm>
              <a:off x="3357563" y="1000125"/>
              <a:ext cx="2428875" cy="1571625"/>
            </a:xfrm>
            <a:prstGeom prst="roundRect">
              <a:avLst>
                <a:gd name="adj" fmla="val 5000"/>
              </a:avLst>
            </a:prstGeom>
            <a:solidFill>
              <a:srgbClr val="FFFFFF"/>
            </a:solidFill>
            <a:ln w="12700">
              <a:solidFill>
                <a:srgbClr val="E8DDD8"/>
              </a:solidFill>
              <a:prstDash val="solid"/>
            </a:ln>
          </p:spPr>
          <p:txBody>
            <a:bodyPr/>
            <a:lstStyle/>
            <a:p>
              <a:endParaRPr lang="en-US" sz="1013"/>
            </a:p>
          </p:txBody>
        </p:sp>
        <p:sp>
          <p:nvSpPr>
            <p:cNvPr id="60" name="Shape 8"/>
            <p:cNvSpPr/>
            <p:nvPr/>
          </p:nvSpPr>
          <p:spPr>
            <a:xfrm>
              <a:off x="3357563" y="1000125"/>
              <a:ext cx="2428875" cy="35719"/>
            </a:xfrm>
            <a:prstGeom prst="rect">
              <a:avLst/>
            </a:prstGeom>
            <a:solidFill>
              <a:srgbClr val="A0453A"/>
            </a:solidFill>
            <a:ln/>
          </p:spPr>
          <p:txBody>
            <a:bodyPr/>
            <a:lstStyle/>
            <a:p>
              <a:endParaRPr lang="en-US" sz="1013"/>
            </a:p>
          </p:txBody>
        </p:sp>
        <p:sp>
          <p:nvSpPr>
            <p:cNvPr id="61" name="Shape 9"/>
            <p:cNvSpPr/>
            <p:nvPr/>
          </p:nvSpPr>
          <p:spPr>
            <a:xfrm>
              <a:off x="4379119" y="1157288"/>
              <a:ext cx="385763" cy="342900"/>
            </a:xfrm>
            <a:custGeom>
              <a:avLst/>
              <a:gdLst/>
              <a:ahLst/>
              <a:cxnLst/>
              <a:rect l="l" t="t" r="r" b="b"/>
              <a:pathLst>
                <a:path w="685800" h="609600">
                  <a:moveTo>
                    <a:pt x="38100" y="57150"/>
                  </a:moveTo>
                  <a:cubicBezTo>
                    <a:pt x="38100" y="25598"/>
                    <a:pt x="63698" y="0"/>
                    <a:pt x="95250" y="0"/>
                  </a:cubicBezTo>
                  <a:lnTo>
                    <a:pt x="152400" y="0"/>
                  </a:lnTo>
                  <a:cubicBezTo>
                    <a:pt x="173474" y="0"/>
                    <a:pt x="190500" y="17026"/>
                    <a:pt x="190500" y="38100"/>
                  </a:cubicBezTo>
                  <a:cubicBezTo>
                    <a:pt x="190500" y="59174"/>
                    <a:pt x="173474" y="76200"/>
                    <a:pt x="152400" y="76200"/>
                  </a:cubicBezTo>
                  <a:lnTo>
                    <a:pt x="114300" y="76200"/>
                  </a:lnTo>
                  <a:lnTo>
                    <a:pt x="114300" y="228600"/>
                  </a:lnTo>
                  <a:cubicBezTo>
                    <a:pt x="114300" y="291703"/>
                    <a:pt x="165497" y="342900"/>
                    <a:pt x="228600" y="342900"/>
                  </a:cubicBezTo>
                  <a:cubicBezTo>
                    <a:pt x="291703" y="342900"/>
                    <a:pt x="342900" y="291703"/>
                    <a:pt x="342900" y="228600"/>
                  </a:cubicBezTo>
                  <a:lnTo>
                    <a:pt x="342900" y="76200"/>
                  </a:lnTo>
                  <a:lnTo>
                    <a:pt x="304800" y="76200"/>
                  </a:lnTo>
                  <a:cubicBezTo>
                    <a:pt x="283726" y="76200"/>
                    <a:pt x="266700" y="59174"/>
                    <a:pt x="266700" y="38100"/>
                  </a:cubicBezTo>
                  <a:cubicBezTo>
                    <a:pt x="266700" y="17026"/>
                    <a:pt x="283726" y="0"/>
                    <a:pt x="304800" y="0"/>
                  </a:cubicBezTo>
                  <a:lnTo>
                    <a:pt x="361950" y="0"/>
                  </a:lnTo>
                  <a:cubicBezTo>
                    <a:pt x="393502" y="0"/>
                    <a:pt x="419100" y="25598"/>
                    <a:pt x="419100" y="57150"/>
                  </a:cubicBezTo>
                  <a:lnTo>
                    <a:pt x="419100" y="228600"/>
                  </a:lnTo>
                  <a:cubicBezTo>
                    <a:pt x="419100" y="320754"/>
                    <a:pt x="353616" y="397669"/>
                    <a:pt x="266700" y="415290"/>
                  </a:cubicBezTo>
                  <a:lnTo>
                    <a:pt x="266700" y="438150"/>
                  </a:lnTo>
                  <a:cubicBezTo>
                    <a:pt x="266700" y="511850"/>
                    <a:pt x="326350" y="571500"/>
                    <a:pt x="400050" y="571500"/>
                  </a:cubicBezTo>
                  <a:cubicBezTo>
                    <a:pt x="473750" y="571500"/>
                    <a:pt x="533400" y="511850"/>
                    <a:pt x="533400" y="438150"/>
                  </a:cubicBezTo>
                  <a:lnTo>
                    <a:pt x="533400" y="336352"/>
                  </a:lnTo>
                  <a:cubicBezTo>
                    <a:pt x="488990" y="320635"/>
                    <a:pt x="457200" y="278368"/>
                    <a:pt x="457200" y="228600"/>
                  </a:cubicBezTo>
                  <a:cubicBezTo>
                    <a:pt x="457200" y="165497"/>
                    <a:pt x="508397" y="114300"/>
                    <a:pt x="571500" y="114300"/>
                  </a:cubicBezTo>
                  <a:cubicBezTo>
                    <a:pt x="634603" y="114300"/>
                    <a:pt x="685800" y="165497"/>
                    <a:pt x="685800" y="228600"/>
                  </a:cubicBezTo>
                  <a:cubicBezTo>
                    <a:pt x="685800" y="278368"/>
                    <a:pt x="654010" y="320754"/>
                    <a:pt x="609600" y="336352"/>
                  </a:cubicBezTo>
                  <a:lnTo>
                    <a:pt x="609600" y="438150"/>
                  </a:lnTo>
                  <a:cubicBezTo>
                    <a:pt x="609600" y="553879"/>
                    <a:pt x="515779" y="647700"/>
                    <a:pt x="400050" y="647700"/>
                  </a:cubicBezTo>
                  <a:cubicBezTo>
                    <a:pt x="284321" y="647700"/>
                    <a:pt x="190500" y="553879"/>
                    <a:pt x="190500" y="438150"/>
                  </a:cubicBezTo>
                  <a:lnTo>
                    <a:pt x="190500" y="415290"/>
                  </a:lnTo>
                  <a:cubicBezTo>
                    <a:pt x="103584" y="397669"/>
                    <a:pt x="38100" y="320754"/>
                    <a:pt x="38100" y="228600"/>
                  </a:cubicBezTo>
                  <a:lnTo>
                    <a:pt x="38100" y="57150"/>
                  </a:lnTo>
                  <a:close/>
                  <a:moveTo>
                    <a:pt x="571500" y="266700"/>
                  </a:moveTo>
                  <a:cubicBezTo>
                    <a:pt x="592528" y="266700"/>
                    <a:pt x="609600" y="249628"/>
                    <a:pt x="609600" y="228600"/>
                  </a:cubicBezTo>
                  <a:cubicBezTo>
                    <a:pt x="609600" y="207572"/>
                    <a:pt x="592528" y="190500"/>
                    <a:pt x="571500" y="190500"/>
                  </a:cubicBezTo>
                  <a:cubicBezTo>
                    <a:pt x="550472" y="190500"/>
                    <a:pt x="533400" y="207572"/>
                    <a:pt x="533400" y="228600"/>
                  </a:cubicBezTo>
                  <a:cubicBezTo>
                    <a:pt x="533400" y="249628"/>
                    <a:pt x="550472" y="266700"/>
                    <a:pt x="571500" y="266700"/>
                  </a:cubicBezTo>
                  <a:close/>
                </a:path>
              </a:pathLst>
            </a:custGeom>
            <a:solidFill>
              <a:srgbClr val="A0453A"/>
            </a:solidFill>
            <a:ln/>
          </p:spPr>
          <p:txBody>
            <a:bodyPr/>
            <a:lstStyle/>
            <a:p>
              <a:endParaRPr lang="en-US" sz="1013"/>
            </a:p>
          </p:txBody>
        </p:sp>
        <p:sp>
          <p:nvSpPr>
            <p:cNvPr id="62" name="Text 10"/>
            <p:cNvSpPr/>
            <p:nvPr/>
          </p:nvSpPr>
          <p:spPr>
            <a:xfrm>
              <a:off x="3500438" y="1571625"/>
              <a:ext cx="2143125" cy="228600"/>
            </a:xfrm>
            <a:prstGeom prst="rect">
              <a:avLst/>
            </a:prstGeom>
            <a:noFill/>
            <a:ln/>
          </p:spPr>
          <p:txBody>
            <a:bodyPr wrap="none" lIns="0" tIns="0" rIns="0" bIns="0" rtlCol="0" anchor="ctr"/>
            <a:lstStyle/>
            <a:p>
              <a:pPr algn="ctr">
                <a:lnSpc>
                  <a:spcPct val="100000"/>
                </a:lnSpc>
              </a:pPr>
              <a:r>
                <a:rPr lang="en-US" sz="1200" b="1" dirty="0">
                  <a:solidFill>
                    <a:srgbClr val="A0453A"/>
                  </a:solidFill>
                  <a:latin typeface="MiSans" pitchFamily="34" charset="0"/>
                  <a:ea typeface="MiSans" pitchFamily="34" charset="-122"/>
                  <a:cs typeface="MiSans" pitchFamily="34" charset="-120"/>
                </a:rPr>
                <a:t>疾病特征</a:t>
              </a:r>
              <a:endParaRPr lang="en-US" sz="1200" dirty="0"/>
            </a:p>
          </p:txBody>
        </p:sp>
        <p:sp>
          <p:nvSpPr>
            <p:cNvPr id="63" name="Text 11"/>
            <p:cNvSpPr/>
            <p:nvPr/>
          </p:nvSpPr>
          <p:spPr>
            <a:xfrm>
              <a:off x="3500438" y="1857375"/>
              <a:ext cx="2143125" cy="600075"/>
            </a:xfrm>
            <a:prstGeom prst="rect">
              <a:avLst/>
            </a:prstGeom>
            <a:noFill/>
            <a:ln/>
          </p:spPr>
          <p:txBody>
            <a:bodyPr wrap="square" lIns="0" tIns="0" rIns="0" bIns="0" rtlCol="0" anchor="t"/>
            <a:lstStyle/>
            <a:p>
              <a:pPr algn="ctr">
                <a:lnSpc>
                  <a:spcPct val="150000"/>
                </a:lnSpc>
              </a:pPr>
              <a:r>
                <a:rPr lang="en-US" sz="900" b="1" dirty="0" err="1">
                  <a:solidFill>
                    <a:srgbClr val="2D2926"/>
                  </a:solidFill>
                  <a:latin typeface="微软雅黑" panose="020B0503020204020204" pitchFamily="34" charset="-122"/>
                  <a:ea typeface="微软雅黑" panose="020B0503020204020204" pitchFamily="34" charset="-122"/>
                  <a:cs typeface="MiSans" pitchFamily="34" charset="-120"/>
                </a:rPr>
                <a:t>疾病严重程度、病程</a:t>
              </a:r>
              <a:r>
                <a:rPr lang="en-US" sz="900" b="1" dirty="0">
                  <a:solidFill>
                    <a:srgbClr val="2D2926"/>
                  </a:solidFill>
                  <a:latin typeface="微软雅黑" panose="020B0503020204020204" pitchFamily="34" charset="-122"/>
                  <a:ea typeface="微软雅黑" panose="020B0503020204020204" pitchFamily="34" charset="-122"/>
                  <a:cs typeface="MiSans" pitchFamily="34" charset="-120"/>
                </a:rPr>
                <a:t>、</a:t>
              </a:r>
            </a:p>
            <a:p>
              <a:pPr algn="ctr">
                <a:lnSpc>
                  <a:spcPct val="150000"/>
                </a:lnSpc>
              </a:pPr>
              <a:r>
                <a:rPr lang="en-US" sz="900" b="1" dirty="0" err="1">
                  <a:solidFill>
                    <a:srgbClr val="2D2926"/>
                  </a:solidFill>
                  <a:latin typeface="微软雅黑" panose="020B0503020204020204" pitchFamily="34" charset="-122"/>
                  <a:ea typeface="微软雅黑" panose="020B0503020204020204" pitchFamily="34" charset="-122"/>
                  <a:cs typeface="MiSans" pitchFamily="34" charset="-120"/>
                </a:rPr>
                <a:t>疾病亚型或表型等</a:t>
              </a:r>
              <a:endParaRPr lang="en-US" sz="900" b="1" dirty="0">
                <a:latin typeface="微软雅黑" panose="020B0503020204020204" pitchFamily="34" charset="-122"/>
                <a:ea typeface="微软雅黑" panose="020B0503020204020204" pitchFamily="34" charset="-122"/>
              </a:endParaRPr>
            </a:p>
          </p:txBody>
        </p:sp>
      </p:grpSp>
      <p:grpSp>
        <p:nvGrpSpPr>
          <p:cNvPr id="64" name="Group 63">
            <a:extLst>
              <a:ext uri="{FF2B5EF4-FFF2-40B4-BE49-F238E27FC236}">
                <a16:creationId xmlns:a16="http://schemas.microsoft.com/office/drawing/2014/main" id="{D14646D6-B20E-FF33-3A4F-299F81DC5CD6}"/>
              </a:ext>
            </a:extLst>
          </p:cNvPr>
          <p:cNvGrpSpPr/>
          <p:nvPr/>
        </p:nvGrpSpPr>
        <p:grpSpPr>
          <a:xfrm>
            <a:off x="4774595" y="1943493"/>
            <a:ext cx="1996119" cy="1113643"/>
            <a:chOff x="6119203" y="1060802"/>
            <a:chExt cx="2453296" cy="1571626"/>
          </a:xfrm>
        </p:grpSpPr>
        <p:sp>
          <p:nvSpPr>
            <p:cNvPr id="65" name="Shape 12"/>
            <p:cNvSpPr/>
            <p:nvPr/>
          </p:nvSpPr>
          <p:spPr>
            <a:xfrm>
              <a:off x="6143624" y="1060802"/>
              <a:ext cx="2428875" cy="1571626"/>
            </a:xfrm>
            <a:prstGeom prst="roundRect">
              <a:avLst>
                <a:gd name="adj" fmla="val 5000"/>
              </a:avLst>
            </a:prstGeom>
            <a:solidFill>
              <a:srgbClr val="FFFFFF"/>
            </a:solidFill>
            <a:ln w="12700">
              <a:solidFill>
                <a:srgbClr val="E8DDD8"/>
              </a:solidFill>
              <a:prstDash val="solid"/>
            </a:ln>
          </p:spPr>
          <p:txBody>
            <a:bodyPr/>
            <a:lstStyle/>
            <a:p>
              <a:endParaRPr lang="en-US" sz="1013"/>
            </a:p>
          </p:txBody>
        </p:sp>
        <p:sp>
          <p:nvSpPr>
            <p:cNvPr id="66" name="Shape 13"/>
            <p:cNvSpPr/>
            <p:nvPr/>
          </p:nvSpPr>
          <p:spPr>
            <a:xfrm>
              <a:off x="6119203" y="1080869"/>
              <a:ext cx="2428875" cy="35719"/>
            </a:xfrm>
            <a:prstGeom prst="rect">
              <a:avLst/>
            </a:prstGeom>
            <a:solidFill>
              <a:srgbClr val="A0453A"/>
            </a:solidFill>
            <a:ln/>
          </p:spPr>
          <p:txBody>
            <a:bodyPr/>
            <a:lstStyle/>
            <a:p>
              <a:endParaRPr lang="en-US" sz="1013"/>
            </a:p>
          </p:txBody>
        </p:sp>
        <p:sp>
          <p:nvSpPr>
            <p:cNvPr id="67" name="Shape 14"/>
            <p:cNvSpPr/>
            <p:nvPr/>
          </p:nvSpPr>
          <p:spPr>
            <a:xfrm>
              <a:off x="7186613" y="1157288"/>
              <a:ext cx="342900" cy="342900"/>
            </a:xfrm>
            <a:custGeom>
              <a:avLst/>
              <a:gdLst/>
              <a:ahLst/>
              <a:cxnLst/>
              <a:rect l="l" t="t" r="r" b="b"/>
              <a:pathLst>
                <a:path w="609600" h="609600">
                  <a:moveTo>
                    <a:pt x="418981" y="333375"/>
                  </a:moveTo>
                  <a:lnTo>
                    <a:pt x="191691" y="333375"/>
                  </a:lnTo>
                  <a:cubicBezTo>
                    <a:pt x="195143" y="410170"/>
                    <a:pt x="212169" y="480893"/>
                    <a:pt x="236339" y="532686"/>
                  </a:cubicBezTo>
                  <a:cubicBezTo>
                    <a:pt x="249912" y="561856"/>
                    <a:pt x="264557" y="582454"/>
                    <a:pt x="278130" y="595074"/>
                  </a:cubicBezTo>
                  <a:cubicBezTo>
                    <a:pt x="291465" y="607576"/>
                    <a:pt x="300633" y="609600"/>
                    <a:pt x="305395" y="609600"/>
                  </a:cubicBezTo>
                  <a:cubicBezTo>
                    <a:pt x="310158" y="609600"/>
                    <a:pt x="319326" y="607576"/>
                    <a:pt x="332661" y="595074"/>
                  </a:cubicBezTo>
                  <a:cubicBezTo>
                    <a:pt x="346234" y="582454"/>
                    <a:pt x="360878" y="561737"/>
                    <a:pt x="374452" y="532686"/>
                  </a:cubicBezTo>
                  <a:cubicBezTo>
                    <a:pt x="398621" y="480893"/>
                    <a:pt x="415647" y="410170"/>
                    <a:pt x="419100" y="333375"/>
                  </a:cubicBezTo>
                  <a:close/>
                  <a:moveTo>
                    <a:pt x="191572" y="276225"/>
                  </a:moveTo>
                  <a:lnTo>
                    <a:pt x="418862" y="276225"/>
                  </a:lnTo>
                  <a:cubicBezTo>
                    <a:pt x="415528" y="199430"/>
                    <a:pt x="398502" y="128707"/>
                    <a:pt x="374332" y="76914"/>
                  </a:cubicBezTo>
                  <a:cubicBezTo>
                    <a:pt x="360759" y="47863"/>
                    <a:pt x="346115" y="27146"/>
                    <a:pt x="332542" y="14526"/>
                  </a:cubicBezTo>
                  <a:cubicBezTo>
                    <a:pt x="319207" y="2024"/>
                    <a:pt x="310039" y="0"/>
                    <a:pt x="305276" y="0"/>
                  </a:cubicBezTo>
                  <a:cubicBezTo>
                    <a:pt x="300514" y="0"/>
                    <a:pt x="291346" y="2024"/>
                    <a:pt x="278011" y="14526"/>
                  </a:cubicBezTo>
                  <a:cubicBezTo>
                    <a:pt x="264438" y="27146"/>
                    <a:pt x="249793" y="47863"/>
                    <a:pt x="236220" y="76914"/>
                  </a:cubicBezTo>
                  <a:cubicBezTo>
                    <a:pt x="212050" y="128707"/>
                    <a:pt x="195024" y="199430"/>
                    <a:pt x="191572" y="276225"/>
                  </a:cubicBezTo>
                  <a:close/>
                  <a:moveTo>
                    <a:pt x="134422" y="276225"/>
                  </a:moveTo>
                  <a:cubicBezTo>
                    <a:pt x="138589" y="174308"/>
                    <a:pt x="164902" y="79653"/>
                    <a:pt x="203359" y="17502"/>
                  </a:cubicBezTo>
                  <a:cubicBezTo>
                    <a:pt x="93702" y="56317"/>
                    <a:pt x="12978" y="156210"/>
                    <a:pt x="1786" y="276225"/>
                  </a:cubicBezTo>
                  <a:lnTo>
                    <a:pt x="134422" y="276225"/>
                  </a:lnTo>
                  <a:close/>
                  <a:moveTo>
                    <a:pt x="1786" y="333375"/>
                  </a:moveTo>
                  <a:cubicBezTo>
                    <a:pt x="12978" y="453390"/>
                    <a:pt x="93702" y="553283"/>
                    <a:pt x="203359" y="592098"/>
                  </a:cubicBezTo>
                  <a:cubicBezTo>
                    <a:pt x="164902" y="529947"/>
                    <a:pt x="138589" y="435293"/>
                    <a:pt x="134422" y="333375"/>
                  </a:cubicBezTo>
                  <a:lnTo>
                    <a:pt x="1786" y="333375"/>
                  </a:lnTo>
                  <a:close/>
                  <a:moveTo>
                    <a:pt x="476131" y="333375"/>
                  </a:moveTo>
                  <a:cubicBezTo>
                    <a:pt x="471964" y="435293"/>
                    <a:pt x="445651" y="529947"/>
                    <a:pt x="407194" y="592098"/>
                  </a:cubicBezTo>
                  <a:cubicBezTo>
                    <a:pt x="516850" y="553164"/>
                    <a:pt x="597575" y="453390"/>
                    <a:pt x="608767" y="333375"/>
                  </a:cubicBezTo>
                  <a:lnTo>
                    <a:pt x="476131" y="333375"/>
                  </a:lnTo>
                  <a:close/>
                  <a:moveTo>
                    <a:pt x="608767" y="276225"/>
                  </a:moveTo>
                  <a:cubicBezTo>
                    <a:pt x="597575" y="156210"/>
                    <a:pt x="516850" y="56317"/>
                    <a:pt x="407194" y="17502"/>
                  </a:cubicBezTo>
                  <a:cubicBezTo>
                    <a:pt x="445651" y="79653"/>
                    <a:pt x="471964" y="174308"/>
                    <a:pt x="476131" y="276225"/>
                  </a:cubicBezTo>
                  <a:lnTo>
                    <a:pt x="608767" y="276225"/>
                  </a:lnTo>
                  <a:close/>
                </a:path>
              </a:pathLst>
            </a:custGeom>
            <a:solidFill>
              <a:srgbClr val="A0453A"/>
            </a:solidFill>
            <a:ln/>
          </p:spPr>
          <p:txBody>
            <a:bodyPr/>
            <a:lstStyle/>
            <a:p>
              <a:endParaRPr lang="en-US" sz="1013"/>
            </a:p>
          </p:txBody>
        </p:sp>
        <p:sp>
          <p:nvSpPr>
            <p:cNvPr id="68" name="Text 15"/>
            <p:cNvSpPr/>
            <p:nvPr/>
          </p:nvSpPr>
          <p:spPr>
            <a:xfrm>
              <a:off x="6286500" y="1642897"/>
              <a:ext cx="2143125" cy="228599"/>
            </a:xfrm>
            <a:prstGeom prst="rect">
              <a:avLst/>
            </a:prstGeom>
            <a:noFill/>
            <a:ln/>
          </p:spPr>
          <p:txBody>
            <a:bodyPr wrap="none" lIns="0" tIns="0" rIns="0" bIns="0" rtlCol="0" anchor="ctr"/>
            <a:lstStyle/>
            <a:p>
              <a:pPr algn="ctr">
                <a:lnSpc>
                  <a:spcPct val="100000"/>
                </a:lnSpc>
              </a:pPr>
              <a:r>
                <a:rPr lang="en-US" sz="1200" b="1" dirty="0">
                  <a:solidFill>
                    <a:srgbClr val="A0453A"/>
                  </a:solidFill>
                  <a:latin typeface="MiSans" pitchFamily="34" charset="0"/>
                  <a:ea typeface="MiSans" pitchFamily="34" charset="-122"/>
                  <a:cs typeface="MiSans" pitchFamily="34" charset="-120"/>
                </a:rPr>
                <a:t>环境因素</a:t>
              </a:r>
              <a:endParaRPr lang="en-US" sz="1200" dirty="0"/>
            </a:p>
          </p:txBody>
        </p:sp>
        <p:sp>
          <p:nvSpPr>
            <p:cNvPr id="69" name="Text 16"/>
            <p:cNvSpPr/>
            <p:nvPr/>
          </p:nvSpPr>
          <p:spPr>
            <a:xfrm>
              <a:off x="6286500" y="1928838"/>
              <a:ext cx="2143125" cy="600075"/>
            </a:xfrm>
            <a:prstGeom prst="rect">
              <a:avLst/>
            </a:prstGeom>
            <a:noFill/>
            <a:ln/>
          </p:spPr>
          <p:txBody>
            <a:bodyPr wrap="square" lIns="0" tIns="0" rIns="0" bIns="0" rtlCol="0" anchor="t"/>
            <a:lstStyle/>
            <a:p>
              <a:pPr algn="ctr">
                <a:lnSpc>
                  <a:spcPct val="150000"/>
                </a:lnSpc>
              </a:pPr>
              <a:r>
                <a:rPr lang="en-US" sz="900" b="1" dirty="0" err="1">
                  <a:solidFill>
                    <a:srgbClr val="2D2926"/>
                  </a:solidFill>
                  <a:latin typeface="MiSans" pitchFamily="34" charset="0"/>
                  <a:ea typeface="MiSans" pitchFamily="34" charset="-122"/>
                  <a:cs typeface="MiSans" pitchFamily="34" charset="-120"/>
                </a:rPr>
                <a:t>地理位置、气候、文化背景</a:t>
              </a:r>
              <a:r>
                <a:rPr lang="en-US" sz="900" b="1" dirty="0">
                  <a:solidFill>
                    <a:srgbClr val="2D2926"/>
                  </a:solidFill>
                  <a:latin typeface="MiSans" pitchFamily="34" charset="0"/>
                  <a:ea typeface="MiSans" pitchFamily="34" charset="-122"/>
                  <a:cs typeface="MiSans" pitchFamily="34" charset="-120"/>
                </a:rPr>
                <a:t>、</a:t>
              </a:r>
            </a:p>
            <a:p>
              <a:pPr algn="ctr">
                <a:lnSpc>
                  <a:spcPct val="150000"/>
                </a:lnSpc>
              </a:pPr>
              <a:r>
                <a:rPr lang="en-US" sz="900" b="1" dirty="0" err="1">
                  <a:solidFill>
                    <a:srgbClr val="2D2926"/>
                  </a:solidFill>
                  <a:latin typeface="MiSans" pitchFamily="34" charset="0"/>
                  <a:ea typeface="MiSans" pitchFamily="34" charset="-122"/>
                  <a:cs typeface="MiSans" pitchFamily="34" charset="-120"/>
                </a:rPr>
                <a:t>生活方式等外部条件</a:t>
              </a:r>
              <a:endParaRPr lang="en-US" sz="900" b="1" dirty="0"/>
            </a:p>
          </p:txBody>
        </p:sp>
      </p:gr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3CD7003D-6A05-EB11-0C04-1014477A54D8}"/>
              </a:ext>
            </a:extLst>
          </p:cNvPr>
          <p:cNvSpPr>
            <a:spLocks noGrp="1"/>
          </p:cNvSpPr>
          <p:nvPr>
            <p:ph type="body" sz="quarter" idx="11"/>
          </p:nvPr>
        </p:nvSpPr>
        <p:spPr>
          <a:xfrm>
            <a:off x="237601" y="648000"/>
            <a:ext cx="8757174" cy="3172141"/>
          </a:xfrm>
        </p:spPr>
        <p:txBody>
          <a:bodyPr/>
          <a:lstStyle/>
          <a:p>
            <a:pPr>
              <a:lnSpc>
                <a:spcPct val="200000"/>
              </a:lnSpc>
            </a:pPr>
            <a:r>
              <a:rPr lang="zh-CN" altLang="en-US" sz="1600" b="1" dirty="0"/>
              <a:t>监管建议：</a:t>
            </a:r>
            <a:endParaRPr lang="en-US" altLang="zh-CN" sz="1400" b="1" dirty="0"/>
          </a:p>
          <a:p>
            <a:pPr>
              <a:lnSpc>
                <a:spcPct val="200000"/>
              </a:lnSpc>
            </a:pPr>
            <a:r>
              <a:rPr lang="en-US" sz="1400" dirty="0">
                <a:latin typeface="Times New Roman" panose="02020603050405020304" pitchFamily="18" charset="0"/>
                <a:cs typeface="Times New Roman" panose="02020603050405020304" pitchFamily="18" charset="0"/>
              </a:rPr>
              <a:t>   S</a:t>
            </a:r>
            <a:r>
              <a:rPr lang="en-US" sz="1600" dirty="0">
                <a:latin typeface="Times New Roman" panose="02020603050405020304" pitchFamily="18" charset="0"/>
                <a:cs typeface="Times New Roman" panose="02020603050405020304" pitchFamily="18" charset="0"/>
              </a:rPr>
              <a:t>ample size for a trial is usually planned in order to meet trial objectives based on analysis of the whole population. However</a:t>
            </a:r>
            <a:r>
              <a:rPr lang="en-US" sz="1600" b="1" u="sng" dirty="0">
                <a:solidFill>
                  <a:schemeClr val="accent2"/>
                </a:solidFill>
                <a:latin typeface="Times New Roman" panose="02020603050405020304" pitchFamily="18" charset="0"/>
                <a:cs typeface="Times New Roman" panose="02020603050405020304" pitchFamily="18" charset="0"/>
              </a:rPr>
              <a:t>, it is recommended also to consider whether sufficient evidence will be generated in key subgroups, to support the assessment of consistency of treatment effects. </a:t>
            </a:r>
            <a:r>
              <a:rPr lang="en-US" sz="1600" dirty="0">
                <a:latin typeface="Times New Roman" panose="02020603050405020304" pitchFamily="18" charset="0"/>
                <a:cs typeface="Times New Roman" panose="02020603050405020304" pitchFamily="18" charset="0"/>
              </a:rPr>
              <a:t>This needs to be considered on a case-by-case basis, depending on the risk, a priori, to observe an inconsistent treatment effect. This can be of particular interest when considering countries (or regions).</a:t>
            </a:r>
          </a:p>
          <a:p>
            <a:endParaRPr lang="en-US" dirty="0"/>
          </a:p>
        </p:txBody>
      </p:sp>
      <p:sp>
        <p:nvSpPr>
          <p:cNvPr id="18" name="Slide Number Placeholder 17">
            <a:extLst>
              <a:ext uri="{FF2B5EF4-FFF2-40B4-BE49-F238E27FC236}">
                <a16:creationId xmlns:a16="http://schemas.microsoft.com/office/drawing/2014/main" id="{C97F19BC-A90D-F2E5-1054-537435175A81}"/>
              </a:ext>
            </a:extLst>
          </p:cNvPr>
          <p:cNvSpPr>
            <a:spLocks noGrp="1"/>
          </p:cNvSpPr>
          <p:nvPr>
            <p:ph type="sldNum" sz="quarter" idx="4"/>
          </p:nvPr>
        </p:nvSpPr>
        <p:spPr/>
        <p:txBody>
          <a:bodyPr/>
          <a:lstStyle/>
          <a:p>
            <a:fld id="{3C4F54F3-C349-4609-AFEE-01462D5C7942}" type="slidenum">
              <a:rPr lang="en-GB" smtClean="0"/>
              <a:pPr/>
              <a:t>20</a:t>
            </a:fld>
            <a:endParaRPr lang="en-GB" dirty="0"/>
          </a:p>
        </p:txBody>
      </p:sp>
      <p:sp>
        <p:nvSpPr>
          <p:cNvPr id="3" name="TextBox 2">
            <a:extLst>
              <a:ext uri="{FF2B5EF4-FFF2-40B4-BE49-F238E27FC236}">
                <a16:creationId xmlns:a16="http://schemas.microsoft.com/office/drawing/2014/main" id="{08FC95D5-79CE-C944-15CD-3D98925F1973}"/>
              </a:ext>
            </a:extLst>
          </p:cNvPr>
          <p:cNvSpPr txBox="1"/>
          <p:nvPr/>
        </p:nvSpPr>
        <p:spPr>
          <a:xfrm>
            <a:off x="287072" y="4165036"/>
            <a:ext cx="8181058" cy="276999"/>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EMA. Guideline on the investigation of subgroups in confirmatory clinical trials. EMA/CHMP/539146/2013. 31 January 2019.</a:t>
            </a:r>
          </a:p>
        </p:txBody>
      </p:sp>
      <p:sp>
        <p:nvSpPr>
          <p:cNvPr id="6" name="Title 21">
            <a:extLst>
              <a:ext uri="{FF2B5EF4-FFF2-40B4-BE49-F238E27FC236}">
                <a16:creationId xmlns:a16="http://schemas.microsoft.com/office/drawing/2014/main" id="{BA572F02-7AB3-489C-82D6-34DAF722A7A2}"/>
              </a:ext>
            </a:extLst>
          </p:cNvPr>
          <p:cNvSpPr txBox="1">
            <a:spLocks/>
          </p:cNvSpPr>
          <p:nvPr/>
        </p:nvSpPr>
        <p:spPr>
          <a:xfrm>
            <a:off x="181419" y="280412"/>
            <a:ext cx="3520426" cy="330458"/>
          </a:xfrm>
          <a:prstGeom prst="rect">
            <a:avLst/>
          </a:prstGeom>
        </p:spPr>
        <p:txBody>
          <a:bodyPr vert="horz"/>
          <a:lstStyle>
            <a:lvl1pPr algn="l" defTabSz="457200" rtl="0" eaLnBrk="1" latinLnBrk="0" hangingPunct="1">
              <a:lnSpc>
                <a:spcPct val="100000"/>
              </a:lnSpc>
              <a:spcBef>
                <a:spcPct val="0"/>
              </a:spcBef>
              <a:buNone/>
              <a:defRPr sz="2400" b="1" kern="1200" baseline="0">
                <a:solidFill>
                  <a:srgbClr val="BF1733"/>
                </a:solidFill>
                <a:latin typeface="Arial" pitchFamily="34" charset="0"/>
                <a:ea typeface="+mj-ea"/>
                <a:cs typeface="Arial" pitchFamily="34" charset="0"/>
              </a:defRPr>
            </a:lvl1pPr>
          </a:lstStyle>
          <a:p>
            <a:r>
              <a:rPr lang="en-US" sz="2000" dirty="0">
                <a:latin typeface="微软雅黑" panose="020B0503020204020204" pitchFamily="34" charset="-122"/>
                <a:ea typeface="微软雅黑" panose="020B0503020204020204" pitchFamily="34" charset="-122"/>
              </a:rPr>
              <a:t>02.2 </a:t>
            </a:r>
            <a:r>
              <a:rPr lang="zh-CN" altLang="en-US" sz="2000" dirty="0">
                <a:latin typeface="微软雅黑" panose="020B0503020204020204" pitchFamily="34" charset="-122"/>
                <a:ea typeface="微软雅黑" panose="020B0503020204020204" pitchFamily="34" charset="-122"/>
              </a:rPr>
              <a:t>亚组分析样本量考量</a:t>
            </a:r>
            <a:r>
              <a:rPr lang="en-US" altLang="zh-CN" sz="2000" dirty="0">
                <a:latin typeface="微软雅黑" panose="020B0503020204020204" pitchFamily="34" charset="-122"/>
                <a:ea typeface="微软雅黑" panose="020B0503020204020204" pitchFamily="34" charset="-122"/>
              </a:rPr>
              <a:t> </a:t>
            </a:r>
            <a:endParaRPr 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9604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1083A954-30DC-0260-5166-3E67FA3CCCE0}"/>
              </a:ext>
            </a:extLst>
          </p:cNvPr>
          <p:cNvSpPr>
            <a:spLocks noGrp="1"/>
          </p:cNvSpPr>
          <p:nvPr>
            <p:ph type="sldNum" sz="quarter" idx="4"/>
          </p:nvPr>
        </p:nvSpPr>
        <p:spPr/>
        <p:txBody>
          <a:bodyPr/>
          <a:lstStyle/>
          <a:p>
            <a:fld id="{3C4F54F3-C349-4609-AFEE-01462D5C7942}" type="slidenum">
              <a:rPr lang="en-GB" smtClean="0"/>
              <a:pPr/>
              <a:t>21</a:t>
            </a:fld>
            <a:endParaRPr lang="en-GB" dirty="0"/>
          </a:p>
        </p:txBody>
      </p:sp>
      <p:pic>
        <p:nvPicPr>
          <p:cNvPr id="9" name="Picture 8">
            <a:extLst>
              <a:ext uri="{FF2B5EF4-FFF2-40B4-BE49-F238E27FC236}">
                <a16:creationId xmlns:a16="http://schemas.microsoft.com/office/drawing/2014/main" id="{257F2482-38CD-5F0F-32FA-55BE8E9C95F2}"/>
              </a:ext>
            </a:extLst>
          </p:cNvPr>
          <p:cNvPicPr>
            <a:picLocks noChangeAspect="1"/>
          </p:cNvPicPr>
          <p:nvPr/>
        </p:nvPicPr>
        <p:blipFill>
          <a:blip r:embed="rId2"/>
          <a:stretch>
            <a:fillRect/>
          </a:stretch>
        </p:blipFill>
        <p:spPr>
          <a:xfrm>
            <a:off x="366379" y="1791360"/>
            <a:ext cx="4011222" cy="3208977"/>
          </a:xfrm>
          <a:prstGeom prst="rect">
            <a:avLst/>
          </a:prstGeom>
        </p:spPr>
      </p:pic>
      <p:pic>
        <p:nvPicPr>
          <p:cNvPr id="11" name="Picture 10">
            <a:extLst>
              <a:ext uri="{FF2B5EF4-FFF2-40B4-BE49-F238E27FC236}">
                <a16:creationId xmlns:a16="http://schemas.microsoft.com/office/drawing/2014/main" id="{753E9329-4100-036C-4B69-6E6817696787}"/>
              </a:ext>
            </a:extLst>
          </p:cNvPr>
          <p:cNvPicPr>
            <a:picLocks noChangeAspect="1"/>
          </p:cNvPicPr>
          <p:nvPr/>
        </p:nvPicPr>
        <p:blipFill>
          <a:blip r:embed="rId3"/>
          <a:stretch>
            <a:fillRect/>
          </a:stretch>
        </p:blipFill>
        <p:spPr>
          <a:xfrm>
            <a:off x="4393265" y="1784605"/>
            <a:ext cx="4030187" cy="3224149"/>
          </a:xfrm>
          <a:prstGeom prst="rect">
            <a:avLst/>
          </a:prstGeom>
        </p:spPr>
      </p:pic>
      <p:sp>
        <p:nvSpPr>
          <p:cNvPr id="13" name="TextBox 12">
            <a:extLst>
              <a:ext uri="{FF2B5EF4-FFF2-40B4-BE49-F238E27FC236}">
                <a16:creationId xmlns:a16="http://schemas.microsoft.com/office/drawing/2014/main" id="{7E207572-9B79-0805-6109-5E33D24872D7}"/>
              </a:ext>
            </a:extLst>
          </p:cNvPr>
          <p:cNvSpPr txBox="1"/>
          <p:nvPr/>
        </p:nvSpPr>
        <p:spPr>
          <a:xfrm>
            <a:off x="366379" y="778444"/>
            <a:ext cx="8609557" cy="887487"/>
          </a:xfrm>
          <a:prstGeom prst="rect">
            <a:avLst/>
          </a:prstGeom>
          <a:noFill/>
        </p:spPr>
        <p:txBody>
          <a:bodyPr wrap="square">
            <a:spAutoFit/>
          </a:bodyPr>
          <a:lstStyle/>
          <a:p>
            <a:pPr>
              <a:lnSpc>
                <a:spcPct val="150000"/>
              </a:lnSpc>
            </a:pPr>
            <a:r>
              <a:rPr lang="zh-CN" altLang="en-US" sz="1200" dirty="0"/>
              <a:t>     本模拟采用</a:t>
            </a:r>
            <a:r>
              <a:rPr lang="en-US" altLang="zh-CN" sz="1200" dirty="0"/>
              <a:t>1:1</a:t>
            </a:r>
            <a:r>
              <a:rPr lang="zh-CN" altLang="en-US" sz="1200" dirty="0"/>
              <a:t>随机化设计，通过指数分布生成两组生存数据：对照组中位生存时间可指定（如</a:t>
            </a:r>
            <a:r>
              <a:rPr lang="en-US" altLang="zh-CN" sz="1200" dirty="0"/>
              <a:t>5</a:t>
            </a:r>
            <a:r>
              <a:rPr lang="zh-CN" altLang="en-US" sz="1200" dirty="0"/>
              <a:t>个月），试验组中位由目标</a:t>
            </a:r>
            <a:r>
              <a:rPr lang="en-US" altLang="zh-CN" sz="1200" dirty="0"/>
              <a:t>HR</a:t>
            </a:r>
            <a:r>
              <a:rPr lang="zh-CN" altLang="en-US" sz="1200" dirty="0"/>
              <a:t>反推（</a:t>
            </a:r>
            <a:r>
              <a:rPr lang="en-US" altLang="zh-CN" sz="1200" dirty="0"/>
              <a:t>HR=0.5</a:t>
            </a:r>
            <a:r>
              <a:rPr lang="zh-CN" altLang="en-US" sz="1200" dirty="0"/>
              <a:t>即中位</a:t>
            </a:r>
            <a:r>
              <a:rPr lang="en-US" altLang="zh-CN" sz="1200" dirty="0"/>
              <a:t>10</a:t>
            </a:r>
            <a:r>
              <a:rPr lang="zh-CN" altLang="en-US" sz="1200" dirty="0"/>
              <a:t>个月）。患者按均匀分布在设定入组期内入组（如</a:t>
            </a:r>
            <a:r>
              <a:rPr lang="en-US" altLang="zh-CN" sz="1200" dirty="0"/>
              <a:t>12</a:t>
            </a:r>
            <a:r>
              <a:rPr lang="zh-CN" altLang="en-US" sz="1200" dirty="0"/>
              <a:t>个月），研究总时长固定（如</a:t>
            </a:r>
            <a:r>
              <a:rPr lang="en-US" altLang="zh-CN" sz="1200" dirty="0"/>
              <a:t>36</a:t>
            </a:r>
            <a:r>
              <a:rPr lang="zh-CN" altLang="en-US" sz="1200" dirty="0"/>
              <a:t>个月）。</a:t>
            </a:r>
          </a:p>
          <a:p>
            <a:pPr>
              <a:lnSpc>
                <a:spcPct val="150000"/>
              </a:lnSpc>
            </a:pPr>
            <a:r>
              <a:rPr lang="zh-CN" altLang="en-US" sz="1200" dirty="0"/>
              <a:t>模拟采用事件驱动截断：当观察到预设总事件数 </a:t>
            </a:r>
            <a:r>
              <a:rPr lang="en-US" altLang="zh-CN" sz="1200" dirty="0"/>
              <a:t>D </a:t>
            </a:r>
            <a:r>
              <a:rPr lang="zh-CN" altLang="en-US" sz="1200" dirty="0"/>
              <a:t>（如</a:t>
            </a:r>
            <a:r>
              <a:rPr lang="en-US" altLang="zh-CN" sz="1200" dirty="0"/>
              <a:t>5</a:t>
            </a:r>
            <a:r>
              <a:rPr lang="zh-CN" altLang="en-US" sz="1200" dirty="0"/>
              <a:t>、</a:t>
            </a:r>
            <a:r>
              <a:rPr lang="en-US" altLang="zh-CN" sz="1200" dirty="0"/>
              <a:t>10</a:t>
            </a:r>
            <a:r>
              <a:rPr lang="zh-CN" altLang="en-US" sz="1200" dirty="0"/>
              <a:t>、</a:t>
            </a:r>
            <a:r>
              <a:rPr lang="en-US" altLang="zh-CN" sz="1200" dirty="0"/>
              <a:t>20</a:t>
            </a:r>
            <a:r>
              <a:rPr lang="zh-CN" altLang="en-US" sz="1200" dirty="0"/>
              <a:t>、</a:t>
            </a:r>
            <a:r>
              <a:rPr lang="en-US" altLang="zh-CN" sz="1200" dirty="0"/>
              <a:t>30</a:t>
            </a:r>
            <a:r>
              <a:rPr lang="zh-CN" altLang="en-US" sz="1200" dirty="0"/>
              <a:t>）时即行分析，拟合</a:t>
            </a:r>
            <a:r>
              <a:rPr lang="en-US" altLang="zh-CN" sz="1200" dirty="0"/>
              <a:t>Cox</a:t>
            </a:r>
            <a:r>
              <a:rPr lang="zh-CN" altLang="en-US" sz="1200" dirty="0"/>
              <a:t>比例风险模型提取</a:t>
            </a:r>
            <a:r>
              <a:rPr lang="en-US" altLang="zh-CN" sz="1200" dirty="0"/>
              <a:t>HR</a:t>
            </a:r>
            <a:r>
              <a:rPr lang="zh-CN" altLang="en-US" sz="1200" dirty="0"/>
              <a:t>估计值。</a:t>
            </a:r>
            <a:endParaRPr lang="en-US" sz="1200" dirty="0"/>
          </a:p>
        </p:txBody>
      </p:sp>
      <p:sp>
        <p:nvSpPr>
          <p:cNvPr id="4" name="Title 21">
            <a:extLst>
              <a:ext uri="{FF2B5EF4-FFF2-40B4-BE49-F238E27FC236}">
                <a16:creationId xmlns:a16="http://schemas.microsoft.com/office/drawing/2014/main" id="{AB9811A4-E343-1FBC-0026-AD8194C76A09}"/>
              </a:ext>
            </a:extLst>
          </p:cNvPr>
          <p:cNvSpPr>
            <a:spLocks noGrp="1"/>
          </p:cNvSpPr>
          <p:nvPr>
            <p:ph type="title"/>
          </p:nvPr>
        </p:nvSpPr>
        <p:spPr>
          <a:xfrm>
            <a:off x="238124" y="144464"/>
            <a:ext cx="4257676" cy="330458"/>
          </a:xfrm>
        </p:spPr>
        <p:txBody>
          <a:bodyPr/>
          <a:lstStyle/>
          <a:p>
            <a:r>
              <a:rPr lang="en-US" sz="2000" dirty="0">
                <a:latin typeface="微软雅黑" panose="020B0503020204020204" pitchFamily="34" charset="-122"/>
                <a:ea typeface="微软雅黑" panose="020B0503020204020204" pitchFamily="34" charset="-122"/>
              </a:rPr>
              <a:t>02.3 TTE</a:t>
            </a:r>
            <a:r>
              <a:rPr lang="zh-CN" altLang="en-US" sz="2000" dirty="0">
                <a:latin typeface="微软雅黑" panose="020B0503020204020204" pitchFamily="34" charset="-122"/>
                <a:ea typeface="微软雅黑" panose="020B0503020204020204" pitchFamily="34" charset="-122"/>
              </a:rPr>
              <a:t>终点亚组分析样本量考量</a:t>
            </a:r>
            <a:r>
              <a:rPr lang="en-US" altLang="zh-CN" sz="2000" dirty="0">
                <a:latin typeface="微软雅黑" panose="020B0503020204020204" pitchFamily="34" charset="-122"/>
                <a:ea typeface="微软雅黑" panose="020B0503020204020204" pitchFamily="34" charset="-122"/>
              </a:rPr>
              <a:t> </a:t>
            </a:r>
            <a:endParaRPr lang="en-US" sz="2000" dirty="0">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CB49DCAF-CF5F-55A7-ED54-4E494C4F8CFB}"/>
              </a:ext>
            </a:extLst>
          </p:cNvPr>
          <p:cNvSpPr txBox="1"/>
          <p:nvPr/>
        </p:nvSpPr>
        <p:spPr>
          <a:xfrm>
            <a:off x="595423" y="530999"/>
            <a:ext cx="3175591"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疗效估计角度：</a:t>
            </a:r>
            <a:endParaRPr 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94463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3FC9-F633-B0D5-E8A8-B7BEB9F21815}"/>
            </a:ext>
          </a:extLst>
        </p:cNvPr>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4EC09E3F-073A-3233-D0B3-6E44781EFCE0}"/>
              </a:ext>
            </a:extLst>
          </p:cNvPr>
          <p:cNvSpPr>
            <a:spLocks noGrp="1"/>
          </p:cNvSpPr>
          <p:nvPr>
            <p:ph type="sldNum" sz="quarter" idx="4"/>
          </p:nvPr>
        </p:nvSpPr>
        <p:spPr/>
        <p:txBody>
          <a:bodyPr/>
          <a:lstStyle/>
          <a:p>
            <a:fld id="{3C4F54F3-C349-4609-AFEE-01462D5C7942}" type="slidenum">
              <a:rPr lang="en-GB" smtClean="0"/>
              <a:pPr/>
              <a:t>22</a:t>
            </a:fld>
            <a:endParaRPr lang="en-GB" dirty="0"/>
          </a:p>
        </p:txBody>
      </p:sp>
      <p:pic>
        <p:nvPicPr>
          <p:cNvPr id="9" name="Picture 8">
            <a:extLst>
              <a:ext uri="{FF2B5EF4-FFF2-40B4-BE49-F238E27FC236}">
                <a16:creationId xmlns:a16="http://schemas.microsoft.com/office/drawing/2014/main" id="{3DDFD3C8-D91D-9555-42F3-651D1E14060A}"/>
              </a:ext>
            </a:extLst>
          </p:cNvPr>
          <p:cNvPicPr>
            <a:picLocks noChangeAspect="1"/>
          </p:cNvPicPr>
          <p:nvPr/>
        </p:nvPicPr>
        <p:blipFill>
          <a:blip r:embed="rId2"/>
          <a:stretch>
            <a:fillRect/>
          </a:stretch>
        </p:blipFill>
        <p:spPr>
          <a:xfrm>
            <a:off x="238125" y="1502076"/>
            <a:ext cx="3996036" cy="3196828"/>
          </a:xfrm>
          <a:prstGeom prst="rect">
            <a:avLst/>
          </a:prstGeom>
        </p:spPr>
      </p:pic>
      <p:pic>
        <p:nvPicPr>
          <p:cNvPr id="11" name="Picture 10">
            <a:extLst>
              <a:ext uri="{FF2B5EF4-FFF2-40B4-BE49-F238E27FC236}">
                <a16:creationId xmlns:a16="http://schemas.microsoft.com/office/drawing/2014/main" id="{0ACF0963-047A-0FE6-D239-2FCF19DEC7EB}"/>
              </a:ext>
            </a:extLst>
          </p:cNvPr>
          <p:cNvPicPr>
            <a:picLocks noChangeAspect="1"/>
          </p:cNvPicPr>
          <p:nvPr/>
        </p:nvPicPr>
        <p:blipFill>
          <a:blip r:embed="rId3"/>
          <a:stretch>
            <a:fillRect/>
          </a:stretch>
        </p:blipFill>
        <p:spPr>
          <a:xfrm>
            <a:off x="4458534" y="1575650"/>
            <a:ext cx="3812099" cy="3049679"/>
          </a:xfrm>
          <a:prstGeom prst="rect">
            <a:avLst/>
          </a:prstGeom>
        </p:spPr>
      </p:pic>
      <p:sp>
        <p:nvSpPr>
          <p:cNvPr id="5" name="TextBox 4">
            <a:extLst>
              <a:ext uri="{FF2B5EF4-FFF2-40B4-BE49-F238E27FC236}">
                <a16:creationId xmlns:a16="http://schemas.microsoft.com/office/drawing/2014/main" id="{567BF2D0-F673-7274-981B-A46CE7CDD879}"/>
              </a:ext>
            </a:extLst>
          </p:cNvPr>
          <p:cNvSpPr txBox="1"/>
          <p:nvPr/>
        </p:nvSpPr>
        <p:spPr>
          <a:xfrm>
            <a:off x="382772" y="660285"/>
            <a:ext cx="3175591"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疗效估计角度：</a:t>
            </a:r>
            <a:endParaRPr lang="en-US" sz="1600" b="1" dirty="0">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E08874E7-663D-AB0E-C5A6-E3D26CE8A087}"/>
              </a:ext>
            </a:extLst>
          </p:cNvPr>
          <p:cNvSpPr txBox="1"/>
          <p:nvPr/>
        </p:nvSpPr>
        <p:spPr>
          <a:xfrm>
            <a:off x="517270" y="998839"/>
            <a:ext cx="8109460" cy="369332"/>
          </a:xfrm>
          <a:prstGeom prst="rect">
            <a:avLst/>
          </a:prstGeom>
          <a:noFill/>
        </p:spPr>
        <p:txBody>
          <a:bodyPr wrap="square" rtlCol="0">
            <a:spAutoFit/>
          </a:bodyPr>
          <a:lstStyle/>
          <a:p>
            <a:r>
              <a:rPr lang="zh-CN" altLang="en-US" sz="1100" dirty="0">
                <a:latin typeface="微软雅黑" panose="020B0503020204020204" pitchFamily="34" charset="-122"/>
                <a:ea typeface="微软雅黑" panose="020B0503020204020204" pitchFamily="34" charset="-122"/>
              </a:rPr>
              <a:t>模拟研究提示，以亚组事件数≥</a:t>
            </a:r>
            <a:r>
              <a:rPr lang="en-US" altLang="zh-CN" sz="1100" dirty="0">
                <a:latin typeface="微软雅黑" panose="020B0503020204020204" pitchFamily="34" charset="-122"/>
                <a:ea typeface="微软雅黑" panose="020B0503020204020204" pitchFamily="34" charset="-122"/>
              </a:rPr>
              <a:t>20</a:t>
            </a:r>
            <a:r>
              <a:rPr lang="zh-CN" altLang="en-US" sz="1100" dirty="0">
                <a:latin typeface="微软雅黑" panose="020B0503020204020204" pitchFamily="34" charset="-122"/>
                <a:ea typeface="微软雅黑" panose="020B0503020204020204" pitchFamily="34" charset="-122"/>
              </a:rPr>
              <a:t>作为分析阈值时，</a:t>
            </a:r>
            <a:r>
              <a:rPr lang="en-US" altLang="zh-CN" sz="1100" dirty="0">
                <a:latin typeface="微软雅黑" panose="020B0503020204020204" pitchFamily="34" charset="-122"/>
                <a:ea typeface="微软雅黑" panose="020B0503020204020204" pitchFamily="34" charset="-122"/>
              </a:rPr>
              <a:t>HR</a:t>
            </a:r>
            <a:r>
              <a:rPr lang="zh-CN" altLang="en-US" sz="1100" dirty="0">
                <a:latin typeface="微软雅黑" panose="020B0503020204020204" pitchFamily="34" charset="-122"/>
                <a:ea typeface="微软雅黑" panose="020B0503020204020204" pitchFamily="34" charset="-122"/>
              </a:rPr>
              <a:t>估计结果稳健，置信区间范围合理，并可完全避免</a:t>
            </a:r>
            <a:r>
              <a:rPr lang="en-US" altLang="zh-CN" sz="1100" dirty="0">
                <a:latin typeface="微软雅黑" panose="020B0503020204020204" pitchFamily="34" charset="-122"/>
                <a:ea typeface="微软雅黑" panose="020B0503020204020204" pitchFamily="34" charset="-122"/>
              </a:rPr>
              <a:t>HR</a:t>
            </a:r>
            <a:r>
              <a:rPr lang="zh-CN" altLang="en-US" sz="1100" dirty="0">
                <a:latin typeface="微软雅黑" panose="020B0503020204020204" pitchFamily="34" charset="-122"/>
                <a:ea typeface="微软雅黑" panose="020B0503020204020204" pitchFamily="34" charset="-122"/>
              </a:rPr>
              <a:t>不可估计的问题</a:t>
            </a:r>
            <a:r>
              <a:rPr lang="zh-CN" altLang="en-US" dirty="0"/>
              <a:t>。</a:t>
            </a:r>
            <a:endParaRPr lang="en-US" dirty="0"/>
          </a:p>
        </p:txBody>
      </p:sp>
      <p:sp>
        <p:nvSpPr>
          <p:cNvPr id="6" name="Title 21">
            <a:extLst>
              <a:ext uri="{FF2B5EF4-FFF2-40B4-BE49-F238E27FC236}">
                <a16:creationId xmlns:a16="http://schemas.microsoft.com/office/drawing/2014/main" id="{62B89DB5-6A9C-E8F3-60A0-1C6D18F5BBD2}"/>
              </a:ext>
            </a:extLst>
          </p:cNvPr>
          <p:cNvSpPr txBox="1">
            <a:spLocks/>
          </p:cNvSpPr>
          <p:nvPr/>
        </p:nvSpPr>
        <p:spPr>
          <a:xfrm>
            <a:off x="238124" y="144464"/>
            <a:ext cx="4257676" cy="330458"/>
          </a:xfrm>
          <a:prstGeom prst="rect">
            <a:avLst/>
          </a:prstGeom>
        </p:spPr>
        <p:txBody>
          <a:bodyPr vert="horz"/>
          <a:lstStyle>
            <a:lvl1pPr algn="l" defTabSz="457200" rtl="0" eaLnBrk="1" latinLnBrk="0" hangingPunct="1">
              <a:lnSpc>
                <a:spcPct val="100000"/>
              </a:lnSpc>
              <a:spcBef>
                <a:spcPct val="0"/>
              </a:spcBef>
              <a:buNone/>
              <a:defRPr sz="2400" b="1" kern="1200" baseline="0">
                <a:solidFill>
                  <a:srgbClr val="BF1733"/>
                </a:solidFill>
                <a:latin typeface="Arial" pitchFamily="34" charset="0"/>
                <a:ea typeface="+mj-ea"/>
                <a:cs typeface="Arial" pitchFamily="34" charset="0"/>
              </a:defRPr>
            </a:lvl1pPr>
          </a:lstStyle>
          <a:p>
            <a:r>
              <a:rPr lang="en-US" sz="2000" dirty="0">
                <a:latin typeface="微软雅黑" panose="020B0503020204020204" pitchFamily="34" charset="-122"/>
                <a:ea typeface="微软雅黑" panose="020B0503020204020204" pitchFamily="34" charset="-122"/>
              </a:rPr>
              <a:t>02.3 TTE</a:t>
            </a:r>
            <a:r>
              <a:rPr lang="zh-CN" altLang="en-US" sz="2000" dirty="0">
                <a:latin typeface="微软雅黑" panose="020B0503020204020204" pitchFamily="34" charset="-122"/>
                <a:ea typeface="微软雅黑" panose="020B0503020204020204" pitchFamily="34" charset="-122"/>
              </a:rPr>
              <a:t>终点亚组分析样本量考量</a:t>
            </a:r>
            <a:r>
              <a:rPr lang="en-US" altLang="zh-CN" sz="2000" dirty="0">
                <a:latin typeface="微软雅黑" panose="020B0503020204020204" pitchFamily="34" charset="-122"/>
                <a:ea typeface="微软雅黑" panose="020B0503020204020204" pitchFamily="34" charset="-122"/>
              </a:rPr>
              <a:t> </a:t>
            </a:r>
            <a:endParaRPr 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58553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Number Placeholder 17">
            <a:extLst>
              <a:ext uri="{FF2B5EF4-FFF2-40B4-BE49-F238E27FC236}">
                <a16:creationId xmlns:a16="http://schemas.microsoft.com/office/drawing/2014/main" id="{BE52D37A-99F7-6835-D169-5EA128353830}"/>
              </a:ext>
            </a:extLst>
          </p:cNvPr>
          <p:cNvSpPr>
            <a:spLocks noGrp="1"/>
          </p:cNvSpPr>
          <p:nvPr>
            <p:ph type="sldNum" sz="quarter" idx="4"/>
          </p:nvPr>
        </p:nvSpPr>
        <p:spPr/>
        <p:txBody>
          <a:bodyPr/>
          <a:lstStyle/>
          <a:p>
            <a:fld id="{3C4F54F3-C349-4609-AFEE-01462D5C7942}" type="slidenum">
              <a:rPr lang="en-GB" smtClean="0"/>
              <a:pPr/>
              <a:t>23</a:t>
            </a:fld>
            <a:endParaRPr lang="en-GB" dirty="0"/>
          </a:p>
        </p:txBody>
      </p:sp>
      <p:sp>
        <p:nvSpPr>
          <p:cNvPr id="5" name="TextBox 4">
            <a:extLst>
              <a:ext uri="{FF2B5EF4-FFF2-40B4-BE49-F238E27FC236}">
                <a16:creationId xmlns:a16="http://schemas.microsoft.com/office/drawing/2014/main" id="{6E57665D-AE85-BB98-4239-9944B27DBE75}"/>
              </a:ext>
            </a:extLst>
          </p:cNvPr>
          <p:cNvSpPr txBox="1"/>
          <p:nvPr/>
        </p:nvSpPr>
        <p:spPr>
          <a:xfrm>
            <a:off x="290674" y="443956"/>
            <a:ext cx="8653025" cy="1238609"/>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1. PAOLA-1 Trial </a:t>
            </a:r>
            <a:r>
              <a:rPr lang="en-US" sz="1400" dirty="0">
                <a:latin typeface="Times New Roman" panose="02020603050405020304" pitchFamily="18" charset="0"/>
                <a:cs typeface="Times New Roman" panose="02020603050405020304" pitchFamily="18" charset="0"/>
              </a:rPr>
              <a:t>SAP</a:t>
            </a:r>
            <a:r>
              <a:rPr lang="zh-CN" altLang="en-US" sz="1400" dirty="0">
                <a:latin typeface="Times New Roman" panose="02020603050405020304" pitchFamily="18" charset="0"/>
                <a:cs typeface="Times New Roman" panose="02020603050405020304" pitchFamily="18" charset="0"/>
              </a:rPr>
              <a:t>针对亚组事件数规定：</a:t>
            </a:r>
            <a:endParaRPr lang="en-US" altLang="zh-CN" sz="1400" dirty="0">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Subgroup PFS analyses will be conducted to assess consistency of treatment effect across potential or expected prognostic factors, including stratification factors. </a:t>
            </a:r>
            <a:r>
              <a:rPr lang="en-US" sz="1400" b="1" dirty="0">
                <a:solidFill>
                  <a:srgbClr val="BF1733"/>
                </a:solidFill>
                <a:latin typeface="Times New Roman" panose="02020603050405020304" pitchFamily="18" charset="0"/>
                <a:cs typeface="Times New Roman" panose="02020603050405020304" pitchFamily="18" charset="0"/>
              </a:rPr>
              <a:t>An analysis will not be performed if there are too few events available for a meaningful analysis of a particular subgroup (less than 20 events in a subgroup).</a:t>
            </a:r>
          </a:p>
        </p:txBody>
      </p:sp>
      <p:sp>
        <p:nvSpPr>
          <p:cNvPr id="9" name="Text 0">
            <a:extLst>
              <a:ext uri="{FF2B5EF4-FFF2-40B4-BE49-F238E27FC236}">
                <a16:creationId xmlns:a16="http://schemas.microsoft.com/office/drawing/2014/main" id="{6BCAB273-3167-8B0E-9D1A-E15BE041DEDF}"/>
              </a:ext>
            </a:extLst>
          </p:cNvPr>
          <p:cNvSpPr/>
          <p:nvPr/>
        </p:nvSpPr>
        <p:spPr>
          <a:xfrm>
            <a:off x="132200" y="90132"/>
            <a:ext cx="8286750" cy="285750"/>
          </a:xfrm>
          <a:prstGeom prst="rect">
            <a:avLst/>
          </a:prstGeom>
          <a:noFill/>
          <a:ln/>
        </p:spPr>
        <p:txBody>
          <a:bodyPr wrap="none" lIns="0" tIns="0" rIns="0" bIns="0" rtlCol="0" anchor="ctr"/>
          <a:lstStyle/>
          <a:p>
            <a:pPr>
              <a:lnSpc>
                <a:spcPct val="130000"/>
              </a:lnSpc>
            </a:pPr>
            <a:r>
              <a:rPr lang="en-US" altLang="zh-CN" sz="1575" b="1" dirty="0">
                <a:solidFill>
                  <a:srgbClr val="BF1733"/>
                </a:solidFill>
                <a:latin typeface="QuattrocentoSans" pitchFamily="34" charset="0"/>
                <a:ea typeface="QuattrocentoSans" pitchFamily="34" charset="-122"/>
                <a:cs typeface="QuattrocentoSans" pitchFamily="34" charset="-120"/>
              </a:rPr>
              <a:t>02.4 </a:t>
            </a:r>
            <a:r>
              <a:rPr lang="zh-CN" altLang="en-US" sz="1575" b="1" dirty="0">
                <a:solidFill>
                  <a:srgbClr val="BF1733"/>
                </a:solidFill>
                <a:latin typeface="QuattrocentoSans" pitchFamily="34" charset="0"/>
                <a:ea typeface="QuattrocentoSans" pitchFamily="34" charset="-122"/>
                <a:cs typeface="QuattrocentoSans" pitchFamily="34" charset="-120"/>
              </a:rPr>
              <a:t>亚组分析案例</a:t>
            </a:r>
            <a:r>
              <a:rPr lang="en-US" altLang="zh-CN" sz="1575" b="1" dirty="0">
                <a:solidFill>
                  <a:srgbClr val="BF1733"/>
                </a:solidFill>
                <a:latin typeface="QuattrocentoSans" pitchFamily="34" charset="0"/>
                <a:ea typeface="QuattrocentoSans" pitchFamily="34" charset="-122"/>
                <a:cs typeface="QuattrocentoSans" pitchFamily="34" charset="-120"/>
              </a:rPr>
              <a:t> –TTE </a:t>
            </a:r>
            <a:r>
              <a:rPr lang="zh-CN" altLang="en-US" sz="1575" b="1" dirty="0">
                <a:solidFill>
                  <a:srgbClr val="BF1733"/>
                </a:solidFill>
                <a:latin typeface="QuattrocentoSans" pitchFamily="34" charset="0"/>
                <a:ea typeface="QuattrocentoSans" pitchFamily="34" charset="-122"/>
                <a:cs typeface="QuattrocentoSans" pitchFamily="34" charset="-120"/>
              </a:rPr>
              <a:t>终点</a:t>
            </a:r>
            <a:r>
              <a:rPr lang="en-US" sz="1575" b="1" dirty="0">
                <a:solidFill>
                  <a:srgbClr val="BF1733"/>
                </a:solidFill>
                <a:latin typeface="QuattrocentoSans" pitchFamily="34" charset="0"/>
                <a:ea typeface="QuattrocentoSans" pitchFamily="34" charset="-122"/>
                <a:cs typeface="QuattrocentoSans" pitchFamily="34" charset="-120"/>
              </a:rPr>
              <a:t> </a:t>
            </a:r>
            <a:endParaRPr lang="en-US" sz="1575" dirty="0">
              <a:solidFill>
                <a:srgbClr val="BF1733"/>
              </a:solidFill>
            </a:endParaRPr>
          </a:p>
        </p:txBody>
      </p:sp>
      <p:sp>
        <p:nvSpPr>
          <p:cNvPr id="14" name="TextBox 13">
            <a:extLst>
              <a:ext uri="{FF2B5EF4-FFF2-40B4-BE49-F238E27FC236}">
                <a16:creationId xmlns:a16="http://schemas.microsoft.com/office/drawing/2014/main" id="{C4DA8E64-517B-E34B-6B50-57FCEA36CDF4}"/>
              </a:ext>
            </a:extLst>
          </p:cNvPr>
          <p:cNvSpPr txBox="1"/>
          <p:nvPr/>
        </p:nvSpPr>
        <p:spPr>
          <a:xfrm>
            <a:off x="119396" y="4919096"/>
            <a:ext cx="8309456" cy="230832"/>
          </a:xfrm>
          <a:prstGeom prst="rect">
            <a:avLst/>
          </a:prstGeom>
          <a:noFill/>
        </p:spPr>
        <p:txBody>
          <a:bodyPr wrap="square">
            <a:spAutoFit/>
          </a:bodyPr>
          <a:lstStyle/>
          <a:p>
            <a:r>
              <a:rPr lang="en-US" sz="900" dirty="0">
                <a:latin typeface="Times New Roman" panose="02020603050405020304" pitchFamily="18" charset="0"/>
                <a:cs typeface="Times New Roman" panose="02020603050405020304" pitchFamily="18" charset="0"/>
              </a:rPr>
              <a:t>Ray-</a:t>
            </a:r>
            <a:r>
              <a:rPr lang="en-US" sz="900" dirty="0" err="1">
                <a:latin typeface="Times New Roman" panose="02020603050405020304" pitchFamily="18" charset="0"/>
                <a:cs typeface="Times New Roman" panose="02020603050405020304" pitchFamily="18" charset="0"/>
              </a:rPr>
              <a:t>Coquard</a:t>
            </a:r>
            <a:r>
              <a:rPr lang="en-US" sz="900" dirty="0">
                <a:latin typeface="Times New Roman" panose="02020603050405020304" pitchFamily="18" charset="0"/>
                <a:cs typeface="Times New Roman" panose="02020603050405020304" pitchFamily="18" charset="0"/>
              </a:rPr>
              <a:t>, Isabelle, et al. "Olaparib plus bevacizumab as first-line maintenance in ovarian cancer." New England Journal of Medicine 381.25 (2019): 2416-2428.</a:t>
            </a:r>
          </a:p>
        </p:txBody>
      </p:sp>
      <p:sp>
        <p:nvSpPr>
          <p:cNvPr id="3" name="TextBox 2">
            <a:extLst>
              <a:ext uri="{FF2B5EF4-FFF2-40B4-BE49-F238E27FC236}">
                <a16:creationId xmlns:a16="http://schemas.microsoft.com/office/drawing/2014/main" id="{FDF1DEDB-E4E6-6558-E33C-3F679BC95F5A}"/>
              </a:ext>
            </a:extLst>
          </p:cNvPr>
          <p:cNvSpPr txBox="1"/>
          <p:nvPr/>
        </p:nvSpPr>
        <p:spPr>
          <a:xfrm>
            <a:off x="338575" y="2131866"/>
            <a:ext cx="8653025" cy="1023165"/>
          </a:xfrm>
          <a:prstGeom prst="rect">
            <a:avLst/>
          </a:prstGeom>
          <a:noFill/>
        </p:spPr>
        <p:txBody>
          <a:bodyPr wrap="square">
            <a:spAutoFit/>
          </a:bodyPr>
          <a:lstStyle/>
          <a:p>
            <a:pPr>
              <a:lnSpc>
                <a:spcPct val="150000"/>
              </a:lnSpc>
            </a:pPr>
            <a:r>
              <a:rPr lang="en-US" sz="1400" dirty="0">
                <a:latin typeface="Times New Roman" panose="02020603050405020304" pitchFamily="18" charset="0"/>
                <a:cs typeface="Times New Roman" panose="02020603050405020304" pitchFamily="18" charset="0"/>
              </a:rPr>
              <a:t>   If there are too few events available for a meaningful analysis of a particular subgroup (</a:t>
            </a:r>
            <a:r>
              <a:rPr lang="en-US" sz="1400" b="1" dirty="0">
                <a:solidFill>
                  <a:srgbClr val="BF1733"/>
                </a:solidFill>
                <a:latin typeface="Times New Roman" panose="02020603050405020304" pitchFamily="18" charset="0"/>
                <a:cs typeface="Times New Roman" panose="02020603050405020304" pitchFamily="18" charset="0"/>
              </a:rPr>
              <a:t>it is not considered appropriate to present analyses where there are less than 20 events in a subgroup</a:t>
            </a:r>
            <a:r>
              <a:rPr lang="en-US" sz="1400" dirty="0">
                <a:latin typeface="Times New Roman" panose="02020603050405020304" pitchFamily="18" charset="0"/>
                <a:cs typeface="Times New Roman" panose="02020603050405020304" pitchFamily="18" charset="0"/>
              </a:rPr>
              <a:t>), the relationship between that subgroup and PFS will not be formally </a:t>
            </a:r>
            <a:r>
              <a:rPr lang="en-US" sz="1400" dirty="0" err="1">
                <a:latin typeface="Times New Roman" panose="02020603050405020304" pitchFamily="18" charset="0"/>
                <a:cs typeface="Times New Roman" panose="02020603050405020304" pitchFamily="18" charset="0"/>
              </a:rPr>
              <a:t>analysed</a:t>
            </a:r>
            <a:r>
              <a:rPr lang="en-US" sz="1400" dirty="0">
                <a:latin typeface="Times New Roman" panose="02020603050405020304" pitchFamily="18" charset="0"/>
                <a:cs typeface="Times New Roman" panose="02020603050405020304" pitchFamily="18" charset="0"/>
              </a:rPr>
              <a:t>. In this case, only descriptive summaries will be provided. </a:t>
            </a:r>
          </a:p>
        </p:txBody>
      </p:sp>
      <p:sp>
        <p:nvSpPr>
          <p:cNvPr id="8" name="TextBox 7">
            <a:extLst>
              <a:ext uri="{FF2B5EF4-FFF2-40B4-BE49-F238E27FC236}">
                <a16:creationId xmlns:a16="http://schemas.microsoft.com/office/drawing/2014/main" id="{12052B5F-8910-3EF0-0139-603ED55D610A}"/>
              </a:ext>
            </a:extLst>
          </p:cNvPr>
          <p:cNvSpPr txBox="1"/>
          <p:nvPr/>
        </p:nvSpPr>
        <p:spPr>
          <a:xfrm>
            <a:off x="290675" y="1930017"/>
            <a:ext cx="4572000" cy="307777"/>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2. SOLO1 Trial </a:t>
            </a:r>
            <a:r>
              <a:rPr lang="en-US" sz="1400" dirty="0">
                <a:latin typeface="Times New Roman" panose="02020603050405020304" pitchFamily="18" charset="0"/>
                <a:cs typeface="Times New Roman" panose="02020603050405020304" pitchFamily="18" charset="0"/>
              </a:rPr>
              <a:t>SAP </a:t>
            </a:r>
            <a:r>
              <a:rPr lang="zh-CN" altLang="en-US" sz="1400" dirty="0">
                <a:latin typeface="Times New Roman" panose="02020603050405020304" pitchFamily="18" charset="0"/>
                <a:cs typeface="Times New Roman" panose="02020603050405020304" pitchFamily="18" charset="0"/>
              </a:rPr>
              <a:t>针对亚组事件数规定：</a:t>
            </a:r>
            <a:endParaRPr lang="en-US" altLang="zh-CN" sz="14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7FE95825-2ACA-7264-8691-4EEC73BE97FD}"/>
              </a:ext>
            </a:extLst>
          </p:cNvPr>
          <p:cNvSpPr txBox="1"/>
          <p:nvPr/>
        </p:nvSpPr>
        <p:spPr>
          <a:xfrm>
            <a:off x="469762" y="3585785"/>
            <a:ext cx="8390650" cy="1023165"/>
          </a:xfrm>
          <a:prstGeom prst="rect">
            <a:avLst/>
          </a:prstGeom>
          <a:noFill/>
        </p:spPr>
        <p:txBody>
          <a:bodyPr wrap="square">
            <a:spAutoFit/>
          </a:bodyPr>
          <a:lstStyle/>
          <a:p>
            <a:pPr>
              <a:lnSpc>
                <a:spcPct val="150000"/>
              </a:lnSpc>
            </a:pPr>
            <a:r>
              <a:rPr lang="en-US" sz="1400" dirty="0">
                <a:latin typeface="Times New Roman" panose="02020603050405020304" pitchFamily="18" charset="0"/>
                <a:cs typeface="Times New Roman" panose="02020603050405020304" pitchFamily="18" charset="0"/>
              </a:rPr>
              <a:t>Subgroup analyses will be performed to assess the consistency of treatment effect across potential or expected prognostic factors. If there are too few events in a particular subgroup</a:t>
            </a:r>
            <a:r>
              <a:rPr lang="en-US" sz="1400" b="1" dirty="0">
                <a:solidFill>
                  <a:srgbClr val="BF1733"/>
                </a:solidFill>
                <a:latin typeface="Times New Roman" panose="02020603050405020304" pitchFamily="18" charset="0"/>
                <a:cs typeface="Times New Roman" panose="02020603050405020304" pitchFamily="18" charset="0"/>
              </a:rPr>
              <a:t>, i.e. &lt;20 events per subgroup level</a:t>
            </a:r>
            <a:r>
              <a:rPr lang="en-US" sz="1400" dirty="0">
                <a:latin typeface="Times New Roman" panose="02020603050405020304" pitchFamily="18" charset="0"/>
                <a:cs typeface="Times New Roman" panose="02020603050405020304" pitchFamily="18" charset="0"/>
              </a:rPr>
              <a:t>, only descriptive summaries will be provided. Combining relevant subgroup levels may be considered if necessary.</a:t>
            </a:r>
          </a:p>
        </p:txBody>
      </p:sp>
      <p:sp>
        <p:nvSpPr>
          <p:cNvPr id="29" name="TextBox 28">
            <a:extLst>
              <a:ext uri="{FF2B5EF4-FFF2-40B4-BE49-F238E27FC236}">
                <a16:creationId xmlns:a16="http://schemas.microsoft.com/office/drawing/2014/main" id="{9A201B3A-A9F6-DDE7-B696-8AAA8E788E4C}"/>
              </a:ext>
            </a:extLst>
          </p:cNvPr>
          <p:cNvSpPr txBox="1"/>
          <p:nvPr/>
        </p:nvSpPr>
        <p:spPr>
          <a:xfrm>
            <a:off x="283588" y="3391984"/>
            <a:ext cx="4572000" cy="584775"/>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3. PRIME Trial </a:t>
            </a:r>
            <a:r>
              <a:rPr lang="en-US" sz="1400" dirty="0">
                <a:latin typeface="Times New Roman" panose="02020603050405020304" pitchFamily="18" charset="0"/>
                <a:cs typeface="Times New Roman" panose="02020603050405020304" pitchFamily="18" charset="0"/>
              </a:rPr>
              <a:t>SAP </a:t>
            </a:r>
            <a:r>
              <a:rPr lang="zh-CN" altLang="en-US" sz="1400" dirty="0">
                <a:latin typeface="Times New Roman" panose="02020603050405020304" pitchFamily="18" charset="0"/>
                <a:cs typeface="Times New Roman" panose="02020603050405020304" pitchFamily="18" charset="0"/>
              </a:rPr>
              <a:t>针对亚组事件数规定：</a:t>
            </a:r>
            <a:endParaRPr lang="en-US" altLang="zh-CN" sz="1400" dirty="0">
              <a:latin typeface="Times New Roman" panose="02020603050405020304" pitchFamily="18" charset="0"/>
              <a:cs typeface="Times New Roman" panose="02020603050405020304" pitchFamily="18" charset="0"/>
            </a:endParaRPr>
          </a:p>
          <a:p>
            <a:r>
              <a:rPr lang="en-US" dirty="0"/>
              <a:t> </a:t>
            </a:r>
          </a:p>
        </p:txBody>
      </p:sp>
    </p:spTree>
    <p:extLst>
      <p:ext uri="{BB962C8B-B14F-4D97-AF65-F5344CB8AC3E}">
        <p14:creationId xmlns:p14="http://schemas.microsoft.com/office/powerpoint/2010/main" val="120855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FBA988D-CD3A-1424-4023-E9A5B836C186}"/>
              </a:ext>
            </a:extLst>
          </p:cNvPr>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03 </a:t>
            </a:r>
            <a:r>
              <a:rPr lang="zh-CN" altLang="en-US" dirty="0">
                <a:latin typeface="微软雅黑" panose="020B0503020204020204" pitchFamily="34" charset="-122"/>
                <a:ea typeface="微软雅黑" panose="020B0503020204020204" pitchFamily="34" charset="-122"/>
              </a:rPr>
              <a:t>总结</a:t>
            </a:r>
            <a:endParaRPr lang="en-US" dirty="0">
              <a:latin typeface="微软雅黑" panose="020B0503020204020204" pitchFamily="34" charset="-122"/>
              <a:ea typeface="微软雅黑" panose="020B0503020204020204" pitchFamily="34" charset="-122"/>
            </a:endParaRPr>
          </a:p>
        </p:txBody>
      </p:sp>
      <p:sp>
        <p:nvSpPr>
          <p:cNvPr id="23" name="Text Placeholder 22">
            <a:extLst>
              <a:ext uri="{FF2B5EF4-FFF2-40B4-BE49-F238E27FC236}">
                <a16:creationId xmlns:a16="http://schemas.microsoft.com/office/drawing/2014/main" id="{17C3F1E2-8B07-F44C-4DF5-FA06C6E65395}"/>
              </a:ext>
            </a:extLst>
          </p:cNvPr>
          <p:cNvSpPr>
            <a:spLocks noGrp="1"/>
          </p:cNvSpPr>
          <p:nvPr>
            <p:ph type="body" sz="quarter" idx="11"/>
          </p:nvPr>
        </p:nvSpPr>
        <p:spPr/>
        <p:txBody>
          <a:bodyPr/>
          <a:lstStyle/>
          <a:p>
            <a:endParaRPr lang="en-US" dirty="0"/>
          </a:p>
        </p:txBody>
      </p:sp>
      <p:sp>
        <p:nvSpPr>
          <p:cNvPr id="18" name="Slide Number Placeholder 17">
            <a:extLst>
              <a:ext uri="{FF2B5EF4-FFF2-40B4-BE49-F238E27FC236}">
                <a16:creationId xmlns:a16="http://schemas.microsoft.com/office/drawing/2014/main" id="{8F0DA6BA-E7A7-C97D-53CC-C203180AE0DF}"/>
              </a:ext>
            </a:extLst>
          </p:cNvPr>
          <p:cNvSpPr>
            <a:spLocks noGrp="1"/>
          </p:cNvSpPr>
          <p:nvPr>
            <p:ph type="sldNum" sz="quarter" idx="4"/>
          </p:nvPr>
        </p:nvSpPr>
        <p:spPr/>
        <p:txBody>
          <a:bodyPr/>
          <a:lstStyle/>
          <a:p>
            <a:fld id="{3C4F54F3-C349-4609-AFEE-01462D5C7942}" type="slidenum">
              <a:rPr lang="en-GB" smtClean="0"/>
              <a:pPr/>
              <a:t>24</a:t>
            </a:fld>
            <a:endParaRPr lang="en-GB" dirty="0"/>
          </a:p>
        </p:txBody>
      </p:sp>
    </p:spTree>
    <p:extLst>
      <p:ext uri="{BB962C8B-B14F-4D97-AF65-F5344CB8AC3E}">
        <p14:creationId xmlns:p14="http://schemas.microsoft.com/office/powerpoint/2010/main" val="1102451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TRAZENECA" val="TEMPLATE04"/>
</p:tagLst>
</file>

<file path=ppt/theme/theme1.xml><?xml version="1.0" encoding="utf-8"?>
<a:theme xmlns:a="http://schemas.openxmlformats.org/drawingml/2006/main" name="Dizal Pharma">
  <a:themeElements>
    <a:clrScheme name="Custom 239">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B0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8699F9DD-9907-423D-96A9-AE5D5E16FFCC}"/>
    </a:ext>
  </a:extLst>
</a:theme>
</file>

<file path=ppt/theme/theme2.xml><?xml version="1.0" encoding="utf-8"?>
<a:theme xmlns:a="http://schemas.openxmlformats.org/drawingml/2006/main" name="Dizal Pharma-2">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B1A54921-5A00-4204-9AFC-7E6A4CCAD931}"/>
    </a:ext>
  </a:extLst>
</a:theme>
</file>

<file path=ppt/theme/theme3.xml><?xml version="1.0" encoding="utf-8"?>
<a:theme xmlns:a="http://schemas.openxmlformats.org/drawingml/2006/main" name="confidential not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D1B9CB7-35E4-4294-95D0-902A7B6E409D}" vid="{FEE6FFFD-E9CF-475E-AF3C-1B851B58F13B}"/>
    </a:ext>
  </a:extLst>
</a:theme>
</file>

<file path=ppt/theme/theme4.xml><?xml version="1.0" encoding="utf-8"?>
<a:theme xmlns:a="http://schemas.openxmlformats.org/drawingml/2006/main" name="confidentiality statemen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D1B9CB7-35E4-4294-95D0-902A7B6E409D}" vid="{B4B82862-4E56-486B-BCEB-7F12B3F6A664}"/>
    </a:ext>
  </a:extLst>
</a:theme>
</file>

<file path=ppt/theme/theme5.xml><?xml version="1.0" encoding="utf-8"?>
<a:theme xmlns:a="http://schemas.openxmlformats.org/drawingml/2006/main" name="Dizal Pharma-3">
  <a:themeElements>
    <a:clrScheme name="Custom 203">
      <a:dk1>
        <a:srgbClr val="000000"/>
      </a:dk1>
      <a:lt1>
        <a:srgbClr val="FFFFFF"/>
      </a:lt1>
      <a:dk2>
        <a:srgbClr val="830051"/>
      </a:dk2>
      <a:lt2>
        <a:srgbClr val="F0AB00"/>
      </a:lt2>
      <a:accent1>
        <a:srgbClr val="830051"/>
      </a:accent1>
      <a:accent2>
        <a:srgbClr val="003865"/>
      </a:accent2>
      <a:accent3>
        <a:srgbClr val="68D2DF"/>
      </a:accent3>
      <a:accent4>
        <a:srgbClr val="3C1053"/>
      </a:accent4>
      <a:accent5>
        <a:srgbClr val="C4D600"/>
      </a:accent5>
      <a:accent6>
        <a:srgbClr val="3F4444"/>
      </a:accent6>
      <a:hlink>
        <a:srgbClr val="003865"/>
      </a:hlink>
      <a:folHlink>
        <a:srgbClr val="9DA7A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121CFE94-CF52-4E64-9CFB-65AE9510852D}"/>
    </a:ext>
  </a:extLst>
</a:theme>
</file>

<file path=ppt/theme/theme6.xml><?xml version="1.0" encoding="utf-8"?>
<a:theme xmlns:a="http://schemas.openxmlformats.org/drawingml/2006/main" name="Dizal Pharma-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B2F828B2-2E5B-4811-BC6F-1759DB25C5AC}"/>
    </a:ext>
  </a:extLst>
</a:theme>
</file>

<file path=ppt/theme/theme7.xml><?xml version="1.0" encoding="utf-8"?>
<a:theme xmlns:a="http://schemas.openxmlformats.org/drawingml/2006/main" name="1_Dizal Pharma-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722DE979-8522-4880-99F6-4A9729FEA94D}"/>
    </a:ext>
  </a:extLst>
</a:theme>
</file>

<file path=ppt/theme/theme8.xml><?xml version="1.0" encoding="utf-8"?>
<a:theme xmlns:a="http://schemas.openxmlformats.org/drawingml/2006/main" name="1_Dizal Pharma-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D1B9CB7-35E4-4294-95D0-902A7B6E409D}" vid="{E1D0D2C1-25B5-4D99-9C36-EAB647440BE4}"/>
    </a:ext>
  </a:extLst>
</a:theme>
</file>

<file path=ppt/theme/theme9.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Dizal</Template>
  <TotalTime>22378</TotalTime>
  <Words>3622</Words>
  <Application>Microsoft Office PowerPoint</Application>
  <PresentationFormat>On-screen Show (16:9)</PresentationFormat>
  <Paragraphs>554</Paragraphs>
  <Slides>24</Slides>
  <Notes>15</Notes>
  <HiddenSlides>0</HiddenSlides>
  <MMClips>0</MMClips>
  <ScaleCrop>false</ScaleCrop>
  <HeadingPairs>
    <vt:vector size="6" baseType="variant">
      <vt:variant>
        <vt:lpstr>Fonts Used</vt:lpstr>
      </vt:variant>
      <vt:variant>
        <vt:i4>10</vt:i4>
      </vt:variant>
      <vt:variant>
        <vt:lpstr>Theme</vt:lpstr>
      </vt:variant>
      <vt:variant>
        <vt:i4>9</vt:i4>
      </vt:variant>
      <vt:variant>
        <vt:lpstr>Slide Titles</vt:lpstr>
      </vt:variant>
      <vt:variant>
        <vt:i4>24</vt:i4>
      </vt:variant>
    </vt:vector>
  </HeadingPairs>
  <TitlesOfParts>
    <vt:vector size="43" baseType="lpstr">
      <vt:lpstr>Liter</vt:lpstr>
      <vt:lpstr>MiSans</vt:lpstr>
      <vt:lpstr>QuattrocentoSans</vt:lpstr>
      <vt:lpstr>微软雅黑</vt:lpstr>
      <vt:lpstr>Aptos</vt:lpstr>
      <vt:lpstr>Arial</vt:lpstr>
      <vt:lpstr>Calibri</vt:lpstr>
      <vt:lpstr>Calibri Light</vt:lpstr>
      <vt:lpstr>Quattrocento Sans</vt:lpstr>
      <vt:lpstr>Times New Roman</vt:lpstr>
      <vt:lpstr>Dizal Pharma</vt:lpstr>
      <vt:lpstr>Dizal Pharma-2</vt:lpstr>
      <vt:lpstr>confidential notice</vt:lpstr>
      <vt:lpstr>confidentiality statement</vt:lpstr>
      <vt:lpstr>Dizal Pharma-3</vt:lpstr>
      <vt:lpstr>Dizal Pharma-4</vt:lpstr>
      <vt:lpstr>1_Dizal Pharma-4</vt:lpstr>
      <vt:lpstr>1_Dizal Pharma-5</vt:lpstr>
      <vt:lpstr>Custom Theme</vt:lpstr>
      <vt:lpstr>亚组分析&amp;分层因素考量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02.3 TTE终点亚组分析样本量考量 </vt:lpstr>
      <vt:lpstr>PowerPoint Presentation</vt:lpstr>
      <vt:lpstr>PowerPoint Presentation</vt:lpstr>
      <vt:lpstr>03 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Yuting</dc:creator>
  <cp:keywords>16:9</cp:keywords>
  <dc:description>v1.0</dc:description>
  <cp:lastModifiedBy>Chen, Yuting</cp:lastModifiedBy>
  <cp:revision>285</cp:revision>
  <cp:lastPrinted>2015-02-23T14:12:16Z</cp:lastPrinted>
  <dcterms:created xsi:type="dcterms:W3CDTF">2026-05-21T09:20:18Z</dcterms:created>
  <dcterms:modified xsi:type="dcterms:W3CDTF">2026-06-10T09:11:47Z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ient">
    <vt:lpwstr>AstraZeneca</vt:lpwstr>
  </property>
  <property fmtid="{D5CDD505-2E9C-101B-9397-08002B2CF9AE}" pid="3" name="Language">
    <vt:lpwstr>English (UK)</vt:lpwstr>
  </property>
  <property fmtid="{D5CDD505-2E9C-101B-9397-08002B2CF9AE}" pid="4" name="Owner">
    <vt:lpwstr>P L Kessler</vt:lpwstr>
  </property>
  <property fmtid="{D5CDD505-2E9C-101B-9397-08002B2CF9AE}" pid="5" name="Project">
    <vt:lpwstr>The Chase</vt:lpwstr>
  </property>
  <property fmtid="{D5CDD505-2E9C-101B-9397-08002B2CF9AE}" pid="6" name="Publisher">
    <vt:lpwstr>Kessler Associates</vt:lpwstr>
  </property>
</Properties>
</file>